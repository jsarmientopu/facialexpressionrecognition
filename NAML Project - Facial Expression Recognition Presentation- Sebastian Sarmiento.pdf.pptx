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sldIdLst>
    <p:sldId id="256" r:id="rId5"/>
    <p:sldId id="257" r:id="rId6"/>
    <p:sldId id="258" r:id="rId7"/>
    <p:sldId id="271" r:id="rId8"/>
    <p:sldId id="260" r:id="rId9"/>
    <p:sldId id="261" r:id="rId10"/>
    <p:sldId id="262" r:id="rId11"/>
    <p:sldId id="263" r:id="rId12"/>
    <p:sldId id="264" r:id="rId13"/>
    <p:sldId id="265" r:id="rId14"/>
    <p:sldId id="266" r:id="rId15"/>
    <p:sldId id="273" r:id="rId16"/>
    <p:sldId id="267" r:id="rId17"/>
    <p:sldId id="268" r:id="rId18"/>
    <p:sldId id="269" r:id="rId19"/>
    <p:sldId id="270"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99" userDrawn="1">
          <p15:clr>
            <a:srgbClr val="A4A3A4"/>
          </p15:clr>
        </p15:guide>
        <p15:guide id="2" pos="5500" userDrawn="1">
          <p15:clr>
            <a:srgbClr val="A4A3A4"/>
          </p15:clr>
        </p15:guide>
        <p15:guide id="3" orient="horz" pos="7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C9DD"/>
    <a:srgbClr val="1E88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77" autoAdjust="0"/>
    <p:restoredTop sz="94660"/>
  </p:normalViewPr>
  <p:slideViewPr>
    <p:cSldViewPr snapToGrid="0" showGuides="1">
      <p:cViewPr varScale="1">
        <p:scale>
          <a:sx n="66" d="100"/>
          <a:sy n="66" d="100"/>
        </p:scale>
        <p:origin x="62" y="792"/>
      </p:cViewPr>
      <p:guideLst>
        <p:guide orient="horz" pos="599"/>
        <p:guide pos="5500"/>
        <p:guide orient="horz" pos="75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Accuracy</c:v>
                </c:pt>
              </c:strCache>
            </c:strRef>
          </c:tx>
          <c:spPr>
            <a:solidFill>
              <a:srgbClr val="1A4D80"/>
            </a:solidFill>
            <a:effectLst/>
          </c:spPr>
          <c:invertIfNegative val="0"/>
          <c:dLbls>
            <c:numFmt formatCode="#,##0" sourceLinked="0"/>
            <c:spPr>
              <a:noFill/>
              <a:ln>
                <a:noFill/>
              </a:ln>
              <a:effectLst/>
            </c:spPr>
            <c:txPr>
              <a:bodyPr/>
              <a:lstStyle/>
              <a:p>
                <a:pPr>
                  <a:defRPr sz="800" b="0" i="0" u="none" strike="noStrike">
                    <a:solidFill>
                      <a:srgbClr val="2D3748"/>
                    </a:solidFill>
                    <a:latin typeface="Arial"/>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SVM + PCA</c:v>
                </c:pt>
                <c:pt idx="1">
                  <c:v>VGG19-like CNN</c:v>
                </c:pt>
                <c:pt idx="2">
                  <c:v>Seq. CNN</c:v>
                </c:pt>
              </c:strCache>
            </c:strRef>
          </c:cat>
          <c:val>
            <c:numRef>
              <c:f>Sheet1!$B$2:$B$4</c:f>
              <c:numCache>
                <c:formatCode>General</c:formatCode>
                <c:ptCount val="3"/>
                <c:pt idx="0">
                  <c:v>51.07</c:v>
                </c:pt>
                <c:pt idx="1">
                  <c:v>63.8</c:v>
                </c:pt>
                <c:pt idx="2">
                  <c:v>51</c:v>
                </c:pt>
              </c:numCache>
            </c:numRef>
          </c:val>
          <c:extLst>
            <c:ext xmlns:c16="http://schemas.microsoft.com/office/drawing/2014/chart" uri="{C3380CC4-5D6E-409C-BE32-E72D297353CC}">
              <c16:uniqueId val="{00000000-559A-4713-9016-252F35C219A4}"/>
            </c:ext>
          </c:extLst>
        </c:ser>
        <c:ser>
          <c:idx val="1"/>
          <c:order val="1"/>
          <c:tx>
            <c:strRef>
              <c:f>Sheet1!$C$1</c:f>
              <c:strCache>
                <c:ptCount val="1"/>
                <c:pt idx="0">
                  <c:v>Macro F1</c:v>
                </c:pt>
              </c:strCache>
            </c:strRef>
          </c:tx>
          <c:spPr>
            <a:solidFill>
              <a:srgbClr val="059669"/>
            </a:solidFill>
            <a:effectLst/>
          </c:spPr>
          <c:invertIfNegative val="0"/>
          <c:dLbls>
            <c:numFmt formatCode="#,##0" sourceLinked="0"/>
            <c:spPr>
              <a:noFill/>
              <a:ln>
                <a:noFill/>
              </a:ln>
              <a:effectLst/>
            </c:spPr>
            <c:txPr>
              <a:bodyPr/>
              <a:lstStyle/>
              <a:p>
                <a:pPr>
                  <a:defRPr sz="800" b="0" i="0" u="none" strike="noStrike">
                    <a:solidFill>
                      <a:srgbClr val="2D3748"/>
                    </a:solidFill>
                    <a:latin typeface="Arial"/>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SVM + PCA</c:v>
                </c:pt>
                <c:pt idx="1">
                  <c:v>VGG19-like CNN</c:v>
                </c:pt>
                <c:pt idx="2">
                  <c:v>Seq. CNN</c:v>
                </c:pt>
              </c:strCache>
            </c:strRef>
          </c:cat>
          <c:val>
            <c:numRef>
              <c:f>Sheet1!$C$2:$C$4</c:f>
              <c:numCache>
                <c:formatCode>General</c:formatCode>
                <c:ptCount val="3"/>
                <c:pt idx="0">
                  <c:v>51.09</c:v>
                </c:pt>
                <c:pt idx="1">
                  <c:v>69</c:v>
                </c:pt>
                <c:pt idx="2">
                  <c:v>48</c:v>
                </c:pt>
              </c:numCache>
            </c:numRef>
          </c:val>
          <c:extLst>
            <c:ext xmlns:c16="http://schemas.microsoft.com/office/drawing/2014/chart" uri="{C3380CC4-5D6E-409C-BE32-E72D297353CC}">
              <c16:uniqueId val="{00000001-559A-4713-9016-252F35C219A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D3748"/>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8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1135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4294967295"/>
          </p:nvPr>
        </p:nvSpPr>
        <p:spPr/>
        <p:txBody>
          <a:bodyPr/>
          <a:lstStyle/>
          <a:p>
            <a:r>
              <a:rPr lang="en-US" dirty="0"/>
              <a:t>Welcome everyone. Today I'll present my project on Facial Expression Recognition, where I implemented and compared several models with the reference paper 'Facial Image Expression Recognition and Prediction System'. This work was done for the Numerical Analysis for Machine Learning course at Politecnico di Milano.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4294967295"/>
          </p:nvPr>
        </p:nvSpPr>
        <p:spPr/>
        <p:txBody>
          <a:bodyPr/>
          <a:lstStyle/>
          <a:p>
            <a:r>
              <a:rPr lang="en-US" dirty="0"/>
              <a:t>Facial expression recognition aims to classify facial images into seven basic emotions. The task is challenging due to noisy images, class imbalance (e.g., Happy is overrepresented while Disgust is underrepresented), similar-looking expressions, and variations in illumination, pose, and individual differences.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4294967295"/>
          </p:nvPr>
        </p:nvSpPr>
        <p:spPr/>
        <p:txBody>
          <a:bodyPr/>
          <a:lstStyle/>
          <a:p>
            <a:r>
              <a:rPr lang="en-US" dirty="0"/>
              <a:t>The reference paper follows a pipeline of data preprocessing, PCA, SVM, VGG/CNN, and sequential CNN with hypothesis testing, evaluated using standard classification metrics. Our project replicates this pipeline, refines it with more explicit data cleaning and hyperparameter tuning, and compares the three model families on the FER-2013 dataset.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5AACB-2280-7A45-AC78-A47DD8EC1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83FA02-163E-A2BD-6E06-CBA422DB8B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F2A5FA-7A8F-0FEC-B5F1-F39DDCC57D7D}"/>
              </a:ext>
            </a:extLst>
          </p:cNvPr>
          <p:cNvSpPr>
            <a:spLocks noGrp="1"/>
          </p:cNvSpPr>
          <p:nvPr>
            <p:ph type="body" idx="4294967295"/>
          </p:nvPr>
        </p:nvSpPr>
        <p:spPr/>
        <p:txBody>
          <a:bodyPr/>
          <a:lstStyle/>
          <a:p>
            <a:r>
              <a:rPr lang="en-US" dirty="0"/>
              <a:t>The FER-2013 dataset contains 35,887 grayscale 48x48 images across seven emotion classes. There is significant class imbalance: Happy has nearly 9,000 samples while Disgust has only 547. This imbalance affects model training and particularly impacts macro-averaged performance metrics.</a:t>
            </a:r>
          </a:p>
        </p:txBody>
      </p:sp>
      <p:sp>
        <p:nvSpPr>
          <p:cNvPr id="4" name="Slide Number Placeholder 3">
            <a:extLst>
              <a:ext uri="{FF2B5EF4-FFF2-40B4-BE49-F238E27FC236}">
                <a16:creationId xmlns:a16="http://schemas.microsoft.com/office/drawing/2014/main" id="{C66661EB-070D-F668-B574-8718B3D65DB4}"/>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50940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4294967295"/>
          </p:nvPr>
        </p:nvSpPr>
        <p:spPr/>
        <p:txBody>
          <a:bodyPr/>
          <a:lstStyle/>
          <a:p>
            <a:r>
              <a:rPr lang="en-US" dirty="0"/>
              <a:t>The preprocessing pipeline starts with loading raw FER-2013 images, then resizing and normalizing pixel values to [0,1]. Labels are encoded using label encoding and one-hot encoding. We use a stratified train/validation/test split. Noisy and blank images are cleaned, and features are prepared either via PCA for SVM or as direct inputs for CNN models.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4294967295"/>
          </p:nvPr>
        </p:nvSpPr>
        <p:spPr/>
        <p:txBody>
          <a:bodyPr/>
          <a:lstStyle/>
          <a:p>
            <a:r>
              <a:rPr lang="en-US" dirty="0"/>
              <a:t>We cleaned the dataset by combining automated pixel-based metrics (mean intensity, black/white pixel counts) with manual inspection. 53 noisy images were removed, including blank images, over-exposed samples, non-face images, and heavily occluded faces. This step improves dataset reliability for model training.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4294967295"/>
          </p:nvPr>
        </p:nvSpPr>
        <p:spPr/>
        <p:txBody>
          <a:bodyPr/>
          <a:lstStyle/>
          <a:p>
            <a:r>
              <a:rPr lang="en-US" dirty="0"/>
              <a:t>PCA reduces the 2304-dimensional flattened images to a lower-dimensional space. Around 200-300 components retain 85-91% of variance. However, the flattening step destroys spatial relationships, which is why CNNs that preserve this information tend to perform better.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4294967295"/>
          </p:nvPr>
        </p:nvSpPr>
        <p:spPr/>
        <p:txBody>
          <a:bodyPr/>
          <a:lstStyle/>
          <a:p>
            <a:r>
              <a:rPr lang="en-US" dirty="0"/>
              <a:t>All three models follow the same evaluation methodology: train on the cleaned training set, tune using validation performance, evaluate on the test set, and compare using accuracy, macro precision, macro recall, macro F1-score, confusion matrices, and learning curves.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4294967295"/>
          </p:nvPr>
        </p:nvSpPr>
        <p:spPr/>
        <p:txBody>
          <a:bodyPr/>
          <a:lstStyle/>
          <a:p>
            <a:r>
              <a:rPr lang="en-US" dirty="0"/>
              <a:t>The SVM with PCA features follows the reference paper's classical ML baseline. We project images using PCA, then train an SVC with a Gaussian/RBF kernel, tuning C and gamma using validation F1-score. Happy and Surprise are easier to classify, but visually similar or underrepresented classes remain challenging.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4294967295"/>
          </p:nvPr>
        </p:nvSpPr>
        <p:spPr/>
        <p:txBody>
          <a:bodyPr/>
          <a:lstStyle/>
          <a:p>
            <a:r>
              <a:rPr lang="en-US" dirty="0"/>
              <a:t>The VGG19-like CNN preserves spatial information and automatically learns hierarchical visual features. It was implemented from scratch without pretrained weights. This model achieved the strongest predictive performance and best generalization among all implemented models.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4294967295"/>
          </p:nvPr>
        </p:nvSpPr>
        <p:spPr/>
        <p:txBody>
          <a:bodyPr/>
          <a:lstStyle/>
          <a:p>
            <a:r>
              <a:rPr lang="en-US" dirty="0"/>
              <a:t>The Sequential CNN follows the reference paper's hypothesis-testing idea. Results showed stronger overfitting and no improvement over the VGG19-like CNN, so H1 was not supported. However, the model was useful for analyzing class confusion patterns.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7B33C-A905-A96C-770A-5DFAC2FA91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F64335-7173-5E88-F10B-4DE9DEAEEF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2BAF50-197B-BD0F-180A-723B65BCB38D}"/>
              </a:ext>
            </a:extLst>
          </p:cNvPr>
          <p:cNvSpPr>
            <a:spLocks noGrp="1"/>
          </p:cNvSpPr>
          <p:nvPr>
            <p:ph type="body" idx="4294967295"/>
          </p:nvPr>
        </p:nvSpPr>
        <p:spPr/>
        <p:txBody>
          <a:bodyPr/>
          <a:lstStyle/>
          <a:p>
            <a:r>
              <a:rPr lang="en-US" dirty="0"/>
              <a:t>The Sequential CNN follows the reference paper's hypothesis-testing idea. Results showed stronger overfitting and no improvement over the VGG19-like CNN, so H1 was not supported. However, the model was useful for analyzing class confusion patterns.</a:t>
            </a:r>
          </a:p>
        </p:txBody>
      </p:sp>
      <p:sp>
        <p:nvSpPr>
          <p:cNvPr id="4" name="Slide Number Placeholder 3">
            <a:extLst>
              <a:ext uri="{FF2B5EF4-FFF2-40B4-BE49-F238E27FC236}">
                <a16:creationId xmlns:a16="http://schemas.microsoft.com/office/drawing/2014/main" id="{C08DEB57-804B-573C-B818-1CD149F08ACD}"/>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735426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4294967295"/>
          </p:nvPr>
        </p:nvSpPr>
        <p:spPr/>
        <p:txBody>
          <a:bodyPr/>
          <a:lstStyle/>
          <a:p>
            <a:r>
              <a:rPr lang="en-US" dirty="0"/>
              <a:t>Comparing all three models: SVM+PCA provides a limited baseline. The VGG19-like CNN achieves the best accuracy and F1-score. The Sequential CNN didn't outperform VGG19 but was useful for analysis.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4294967295"/>
          </p:nvPr>
        </p:nvSpPr>
        <p:spPr/>
        <p:txBody>
          <a:bodyPr/>
          <a:lstStyle/>
          <a:p>
            <a:r>
              <a:rPr lang="en-US" dirty="0"/>
              <a:t>Both our project and the reference paper share the same general pipeline and reach the same conclusion: convolutional architectures outperform classical PCA-based methods.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4294967295"/>
          </p:nvPr>
        </p:nvSpPr>
        <p:spPr/>
        <p:txBody>
          <a:bodyPr/>
          <a:lstStyle/>
          <a:p>
            <a:r>
              <a:rPr lang="en-US" dirty="0"/>
              <a:t>Key limitations include dataset noise, class imbalance, expression ambiguity, compute constraints, the disconnect between expressions and emotions, and generalization gaps from posed to real-world data.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4294967295"/>
          </p:nvPr>
        </p:nvSpPr>
        <p:spPr/>
        <p:txBody>
          <a:bodyPr/>
          <a:lstStyle/>
          <a:p>
            <a:r>
              <a:rPr lang="en-US" dirty="0"/>
              <a:t>To conclude: preprocessing is critical for FER-2013. PCA helps with SVM but loses spatial information. The VGG19-like CNN is the best model. Future work should focus on better data curation, class balancing, transfer learning, and facial landmark features.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emf"/><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emf"/></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emf"/><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8.emf"/></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940"/>
        </a:solidFill>
        <a:effectLst/>
      </p:bgPr>
    </p:bg>
    <p:spTree>
      <p:nvGrpSpPr>
        <p:cNvPr id="1" name=""/>
        <p:cNvGrpSpPr/>
        <p:nvPr/>
      </p:nvGrpSpPr>
      <p:grpSpPr>
        <a:xfrm>
          <a:off x="0" y="0"/>
          <a:ext cx="0" cy="0"/>
          <a:chOff x="0" y="0"/>
          <a:chExt cx="0" cy="0"/>
        </a:xfrm>
      </p:grpSpPr>
      <p:sp>
        <p:nvSpPr>
          <p:cNvPr id="40" name="AccentPanel"/>
          <p:cNvSpPr/>
          <p:nvPr/>
        </p:nvSpPr>
        <p:spPr>
          <a:xfrm>
            <a:off x="0" y="0"/>
            <a:ext cx="91440" cy="5143500"/>
          </a:xfrm>
          <a:prstGeom prst="rect">
            <a:avLst/>
          </a:prstGeom>
          <a:solidFill>
            <a:srgbClr val="5BA3E6"/>
          </a:solidFill>
          <a:ln>
            <a:noFill/>
          </a:ln>
        </p:spPr>
        <p:txBody>
          <a:bodyPr/>
          <a:lstStyle/>
          <a:p>
            <a:endParaRPr lang="en-US"/>
          </a:p>
        </p:txBody>
      </p:sp>
      <p:pic>
        <p:nvPicPr>
          <p:cNvPr id="8" name="PoliMi Logo"/>
          <p:cNvPicPr>
            <a:picLocks noChangeAspect="1"/>
          </p:cNvPicPr>
          <p:nvPr/>
        </p:nvPicPr>
        <p:blipFill>
          <a:blip r:embed="rId3"/>
          <a:stretch>
            <a:fillRect/>
          </a:stretch>
        </p:blipFill>
        <p:spPr>
          <a:xfrm>
            <a:off x="457200" y="274320"/>
            <a:ext cx="2200000" cy="709677"/>
          </a:xfrm>
          <a:prstGeom prst="rect">
            <a:avLst/>
          </a:prstGeom>
        </p:spPr>
      </p:pic>
      <p:sp>
        <p:nvSpPr>
          <p:cNvPr id="4" name="Title"/>
          <p:cNvSpPr/>
          <p:nvPr/>
        </p:nvSpPr>
        <p:spPr>
          <a:xfrm>
            <a:off x="457200" y="1371600"/>
            <a:ext cx="7772400" cy="1143000"/>
          </a:xfrm>
          <a:prstGeom prst="rect">
            <a:avLst/>
          </a:prstGeom>
          <a:noFill/>
          <a:ln>
            <a:noFill/>
          </a:ln>
        </p:spPr>
        <p:txBody>
          <a:bodyPr wrap="square" lIns="0" tIns="0" rIns="0" bIns="0" rtlCol="0" anchor="b"/>
          <a:lstStyle/>
          <a:p>
            <a:pPr marL="0" indent="0" algn="l">
              <a:buNone/>
            </a:pPr>
            <a:r>
              <a:rPr lang="en-US" sz="3600" b="1" kern="0" spc="50" dirty="0">
                <a:solidFill>
                  <a:srgbClr val="FFFFFF"/>
                </a:solidFill>
                <a:latin typeface="Manrope" pitchFamily="2" charset="0"/>
                <a:ea typeface="Georgia"/>
                <a:cs typeface="Georgia"/>
              </a:rPr>
              <a:t>Facial </a:t>
            </a:r>
            <a:r>
              <a:rPr lang="en-US" sz="3600" b="1" kern="0" spc="50" dirty="0">
                <a:solidFill>
                  <a:srgbClr val="FFFFFF"/>
                </a:solidFill>
                <a:latin typeface="Manrope" pitchFamily="2" charset="0"/>
                <a:ea typeface="Georgia"/>
                <a:cs typeface="Mangal" panose="020B0502040204020203" pitchFamily="18" charset="0"/>
              </a:rPr>
              <a:t>Expression</a:t>
            </a:r>
            <a:endParaRPr lang="en-US" sz="3600" b="1" dirty="0">
              <a:latin typeface="Manrope" pitchFamily="2" charset="0"/>
              <a:cs typeface="Mangal" panose="020B0502040204020203" pitchFamily="18" charset="0"/>
            </a:endParaRPr>
          </a:p>
          <a:p>
            <a:pPr marL="0" indent="0" algn="l">
              <a:buNone/>
            </a:pPr>
            <a:r>
              <a:rPr lang="en-US" sz="3600" b="1" kern="0" spc="50" dirty="0">
                <a:solidFill>
                  <a:srgbClr val="FFFFFF"/>
                </a:solidFill>
                <a:latin typeface="Manrope" pitchFamily="2" charset="0"/>
                <a:ea typeface="Georgia"/>
                <a:cs typeface="Georgia"/>
              </a:rPr>
              <a:t>Recognition</a:t>
            </a:r>
            <a:endParaRPr lang="en-US" sz="3600" b="1" dirty="0">
              <a:latin typeface="Manrope" pitchFamily="2" charset="0"/>
            </a:endParaRPr>
          </a:p>
        </p:txBody>
      </p:sp>
      <p:sp>
        <p:nvSpPr>
          <p:cNvPr id="5" name="Subtitle"/>
          <p:cNvSpPr/>
          <p:nvPr/>
        </p:nvSpPr>
        <p:spPr>
          <a:xfrm>
            <a:off x="457200" y="2735462"/>
            <a:ext cx="6858000" cy="496554"/>
          </a:xfrm>
          <a:prstGeom prst="rect">
            <a:avLst/>
          </a:prstGeom>
          <a:noFill/>
          <a:ln>
            <a:noFill/>
          </a:ln>
        </p:spPr>
        <p:txBody>
          <a:bodyPr wrap="square" lIns="0" tIns="0" rIns="0" bIns="0" rtlCol="0" anchor="t"/>
          <a:lstStyle/>
          <a:p>
            <a:pPr marL="0" indent="0" algn="l">
              <a:buNone/>
            </a:pPr>
            <a:r>
              <a:rPr lang="en-US" sz="1300" i="1" dirty="0">
                <a:solidFill>
                  <a:srgbClr val="B7C9DD"/>
                </a:solidFill>
                <a:latin typeface="Georgia" panose="02040502050405020303" pitchFamily="18" charset="0"/>
                <a:ea typeface="Georgia"/>
                <a:cs typeface="Georgia"/>
              </a:rPr>
              <a:t>Implementation and Comparison with the Paper</a:t>
            </a:r>
            <a:endParaRPr lang="en-US" sz="1300" dirty="0">
              <a:solidFill>
                <a:srgbClr val="B7C9DD"/>
              </a:solidFill>
              <a:latin typeface="Georgia" panose="02040502050405020303" pitchFamily="18" charset="0"/>
            </a:endParaRPr>
          </a:p>
          <a:p>
            <a:pPr marL="0" indent="0" algn="l">
              <a:buNone/>
            </a:pPr>
            <a:r>
              <a:rPr lang="en-US" sz="1300" i="1" dirty="0">
                <a:solidFill>
                  <a:srgbClr val="B7C9DD"/>
                </a:solidFill>
                <a:latin typeface="Georgia" panose="02040502050405020303" pitchFamily="18" charset="0"/>
                <a:ea typeface="Georgia"/>
                <a:cs typeface="Georgia"/>
              </a:rPr>
              <a:t>“Facial Image Expression Recognition and Prediction System”</a:t>
            </a:r>
            <a:endParaRPr lang="en-US" sz="1300" dirty="0">
              <a:solidFill>
                <a:srgbClr val="B7C9DD"/>
              </a:solidFill>
              <a:latin typeface="Georgia" panose="02040502050405020303" pitchFamily="18" charset="0"/>
            </a:endParaRPr>
          </a:p>
        </p:txBody>
      </p:sp>
      <p:sp>
        <p:nvSpPr>
          <p:cNvPr id="7" name="StudentInfo"/>
          <p:cNvSpPr/>
          <p:nvPr/>
        </p:nvSpPr>
        <p:spPr>
          <a:xfrm>
            <a:off x="457200" y="3886200"/>
            <a:ext cx="5486400" cy="640080"/>
          </a:xfrm>
          <a:prstGeom prst="rect">
            <a:avLst/>
          </a:prstGeom>
          <a:noFill/>
          <a:ln>
            <a:noFill/>
          </a:ln>
        </p:spPr>
        <p:txBody>
          <a:bodyPr wrap="square" lIns="0" tIns="0" rIns="0" bIns="0" rtlCol="0" anchor="t"/>
          <a:lstStyle/>
          <a:p>
            <a:pPr marL="0" indent="0" algn="l">
              <a:lnSpc>
                <a:spcPct val="170000"/>
              </a:lnSpc>
              <a:buNone/>
            </a:pPr>
            <a:r>
              <a:rPr lang="en-US" sz="1200" dirty="0">
                <a:solidFill>
                  <a:schemeClr val="bg1">
                    <a:lumMod val="95000"/>
                  </a:schemeClr>
                </a:solidFill>
                <a:latin typeface="Manrope Medium" pitchFamily="2" charset="0"/>
                <a:ea typeface="Calibri" pitchFamily="34" charset="-122"/>
                <a:cs typeface="Arial" panose="020B0604020202020204" pitchFamily="34" charset="0"/>
              </a:rPr>
              <a:t>Juan Sebastian Sarmiento Pulido</a:t>
            </a:r>
            <a:endParaRPr lang="en-US" sz="1200" dirty="0">
              <a:solidFill>
                <a:schemeClr val="bg1">
                  <a:lumMod val="95000"/>
                </a:schemeClr>
              </a:solidFill>
              <a:latin typeface="Manrope Medium" pitchFamily="2" charset="0"/>
              <a:cs typeface="Arial" panose="020B0604020202020204" pitchFamily="34" charset="0"/>
            </a:endParaRPr>
          </a:p>
          <a:p>
            <a:pPr marL="0" indent="0" algn="l">
              <a:lnSpc>
                <a:spcPct val="170000"/>
              </a:lnSpc>
              <a:buNone/>
            </a:pPr>
            <a:r>
              <a:rPr lang="en-US" sz="1100" dirty="0">
                <a:solidFill>
                  <a:srgbClr val="B7C9DD"/>
                </a:solidFill>
                <a:latin typeface="Manrope Medium" pitchFamily="2" charset="0"/>
                <a:ea typeface="Calibri" pitchFamily="34" charset="-122"/>
                <a:cs typeface="Calibri" pitchFamily="34" charset="-120"/>
              </a:rPr>
              <a:t>Numerical Analysis for Machine Learning  •  May 2026</a:t>
            </a:r>
            <a:endParaRPr lang="en-US" sz="1100" dirty="0">
              <a:solidFill>
                <a:srgbClr val="B7C9DD"/>
              </a:solidFill>
              <a:latin typeface="Manrope Medium" pitchFamily="2" charset="0"/>
            </a:endParaRPr>
          </a:p>
        </p:txBody>
      </p:sp>
      <p:sp>
        <p:nvSpPr>
          <p:cNvPr id="41" name="BottomBar"/>
          <p:cNvSpPr/>
          <p:nvPr/>
        </p:nvSpPr>
        <p:spPr>
          <a:xfrm>
            <a:off x="0" y="4983480"/>
            <a:ext cx="9144000" cy="160020"/>
          </a:xfrm>
          <a:prstGeom prst="rect">
            <a:avLst/>
          </a:prstGeom>
          <a:solidFill>
            <a:srgbClr val="5BA3E6">
              <a:alpha val="25000"/>
            </a:srgbClr>
          </a:solidFill>
          <a:ln>
            <a:no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buNone/>
            </a:pPr>
            <a:r>
              <a:rPr lang="en-US" sz="2800" b="1" kern="0" spc="100" dirty="0">
                <a:solidFill>
                  <a:srgbClr val="001940"/>
                </a:solidFill>
                <a:latin typeface="Manrope ExtraBold" pitchFamily="2" charset="0"/>
                <a:ea typeface="Georgia" pitchFamily="34" charset="-122"/>
                <a:cs typeface="Georgia" pitchFamily="34" charset="-120"/>
              </a:rPr>
              <a:t>MOTIVATION &amp; PROBLEM STATEMENT</a:t>
            </a:r>
            <a:endParaRPr lang="en-US" sz="2800" b="1" dirty="0">
              <a:latin typeface="Manrope ExtraBold" pitchFamily="2" charset="0"/>
            </a:endParaRPr>
          </a:p>
        </p:txBody>
      </p:sp>
      <p:sp>
        <p:nvSpPr>
          <p:cNvPr id="3" name="Shape 1"/>
          <p:cNvSpPr/>
          <p:nvPr/>
        </p:nvSpPr>
        <p:spPr>
          <a:xfrm>
            <a:off x="457201" y="960120"/>
            <a:ext cx="3931920" cy="1920240"/>
          </a:xfrm>
          <a:prstGeom prst="roundRect">
            <a:avLst>
              <a:gd name="adj" fmla="val 4762"/>
            </a:avLst>
          </a:prstGeom>
          <a:solidFill>
            <a:srgbClr val="E8F0FA"/>
          </a:solidFill>
          <a:ln/>
        </p:spPr>
        <p:txBody>
          <a:bodyPr/>
          <a:lstStyle/>
          <a:p>
            <a:endParaRPr lang="es-CO"/>
          </a:p>
        </p:txBody>
      </p:sp>
      <p:sp>
        <p:nvSpPr>
          <p:cNvPr id="4" name="Text 2"/>
          <p:cNvSpPr/>
          <p:nvPr/>
        </p:nvSpPr>
        <p:spPr>
          <a:xfrm>
            <a:off x="685800" y="1051560"/>
            <a:ext cx="3474720" cy="320040"/>
          </a:xfrm>
          <a:prstGeom prst="rect">
            <a:avLst/>
          </a:prstGeom>
          <a:noFill/>
          <a:ln/>
        </p:spPr>
        <p:txBody>
          <a:bodyPr wrap="square" lIns="0" tIns="0" rIns="0" bIns="0" rtlCol="0" anchor="ctr"/>
          <a:lstStyle/>
          <a:p>
            <a:pPr marL="0" indent="0">
              <a:buNone/>
            </a:pPr>
            <a:r>
              <a:rPr lang="en-US" sz="1500" b="1" dirty="0">
                <a:solidFill>
                  <a:srgbClr val="1A4D80"/>
                </a:solidFill>
                <a:latin typeface="Arial" pitchFamily="34" charset="0"/>
                <a:ea typeface="Arial" pitchFamily="34" charset="-122"/>
                <a:cs typeface="Arial" pitchFamily="34" charset="-120"/>
              </a:rPr>
              <a:t>Goal</a:t>
            </a:r>
            <a:endParaRPr lang="en-US" sz="1500" dirty="0"/>
          </a:p>
        </p:txBody>
      </p:sp>
      <p:sp>
        <p:nvSpPr>
          <p:cNvPr id="5" name="Text 3"/>
          <p:cNvSpPr/>
          <p:nvPr/>
        </p:nvSpPr>
        <p:spPr>
          <a:xfrm>
            <a:off x="685800" y="1371600"/>
            <a:ext cx="3474720" cy="274320"/>
          </a:xfrm>
          <a:prstGeom prst="rect">
            <a:avLst/>
          </a:prstGeom>
          <a:noFill/>
          <a:ln/>
        </p:spPr>
        <p:txBody>
          <a:bodyPr wrap="square" lIns="0" tIns="0" rIns="0" bIns="0" rtlCol="0" anchor="ctr"/>
          <a:lstStyle/>
          <a:p>
            <a:pPr marL="0" indent="0">
              <a:buNone/>
            </a:pPr>
            <a:r>
              <a:rPr lang="en-US" sz="1150" dirty="0">
                <a:solidFill>
                  <a:srgbClr val="2D3748"/>
                </a:solidFill>
                <a:latin typeface="Arial" pitchFamily="34" charset="0"/>
                <a:ea typeface="Arial" pitchFamily="34" charset="-122"/>
                <a:cs typeface="Arial" pitchFamily="34" charset="-120"/>
              </a:rPr>
              <a:t>Classify facial images into 7 basic emotions:</a:t>
            </a:r>
            <a:endParaRPr lang="en-US" sz="1150" dirty="0"/>
          </a:p>
        </p:txBody>
      </p:sp>
      <p:sp>
        <p:nvSpPr>
          <p:cNvPr id="6" name="Shape 4"/>
          <p:cNvSpPr/>
          <p:nvPr/>
        </p:nvSpPr>
        <p:spPr>
          <a:xfrm>
            <a:off x="685800" y="1737360"/>
            <a:ext cx="868680" cy="274320"/>
          </a:xfrm>
          <a:prstGeom prst="roundRect">
            <a:avLst>
              <a:gd name="adj" fmla="val 26667"/>
            </a:avLst>
          </a:prstGeom>
          <a:solidFill>
            <a:srgbClr val="DC2626"/>
          </a:solidFill>
          <a:ln/>
        </p:spPr>
        <p:txBody>
          <a:bodyPr/>
          <a:lstStyle/>
          <a:p>
            <a:endParaRPr lang="es-CO"/>
          </a:p>
        </p:txBody>
      </p:sp>
      <p:sp>
        <p:nvSpPr>
          <p:cNvPr id="7" name="Text 5"/>
          <p:cNvSpPr/>
          <p:nvPr/>
        </p:nvSpPr>
        <p:spPr>
          <a:xfrm>
            <a:off x="685800" y="1737360"/>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Anger</a:t>
            </a:r>
            <a:endParaRPr lang="en-US" sz="900" dirty="0"/>
          </a:p>
        </p:txBody>
      </p:sp>
      <p:sp>
        <p:nvSpPr>
          <p:cNvPr id="8" name="Shape 6"/>
          <p:cNvSpPr/>
          <p:nvPr/>
        </p:nvSpPr>
        <p:spPr>
          <a:xfrm>
            <a:off x="1600200" y="1737360"/>
            <a:ext cx="868680" cy="274320"/>
          </a:xfrm>
          <a:prstGeom prst="roundRect">
            <a:avLst>
              <a:gd name="adj" fmla="val 26667"/>
            </a:avLst>
          </a:prstGeom>
          <a:solidFill>
            <a:srgbClr val="D97706"/>
          </a:solidFill>
          <a:ln/>
        </p:spPr>
        <p:txBody>
          <a:bodyPr/>
          <a:lstStyle/>
          <a:p>
            <a:endParaRPr lang="es-CO"/>
          </a:p>
        </p:txBody>
      </p:sp>
      <p:sp>
        <p:nvSpPr>
          <p:cNvPr id="9" name="Text 7"/>
          <p:cNvSpPr/>
          <p:nvPr/>
        </p:nvSpPr>
        <p:spPr>
          <a:xfrm>
            <a:off x="1600200" y="1737360"/>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Disgust</a:t>
            </a:r>
            <a:endParaRPr lang="en-US" sz="900" dirty="0"/>
          </a:p>
        </p:txBody>
      </p:sp>
      <p:sp>
        <p:nvSpPr>
          <p:cNvPr id="10" name="Shape 8"/>
          <p:cNvSpPr/>
          <p:nvPr/>
        </p:nvSpPr>
        <p:spPr>
          <a:xfrm>
            <a:off x="2514600" y="1737360"/>
            <a:ext cx="868680" cy="274320"/>
          </a:xfrm>
          <a:prstGeom prst="roundRect">
            <a:avLst>
              <a:gd name="adj" fmla="val 26667"/>
            </a:avLst>
          </a:prstGeom>
          <a:solidFill>
            <a:srgbClr val="7C3AED"/>
          </a:solidFill>
          <a:ln/>
        </p:spPr>
        <p:txBody>
          <a:bodyPr/>
          <a:lstStyle/>
          <a:p>
            <a:endParaRPr lang="es-CO"/>
          </a:p>
        </p:txBody>
      </p:sp>
      <p:sp>
        <p:nvSpPr>
          <p:cNvPr id="11" name="Text 9"/>
          <p:cNvSpPr/>
          <p:nvPr/>
        </p:nvSpPr>
        <p:spPr>
          <a:xfrm>
            <a:off x="2514600" y="1737360"/>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Fear</a:t>
            </a:r>
            <a:endParaRPr lang="en-US" sz="900" dirty="0"/>
          </a:p>
        </p:txBody>
      </p:sp>
      <p:sp>
        <p:nvSpPr>
          <p:cNvPr id="12" name="Shape 10"/>
          <p:cNvSpPr/>
          <p:nvPr/>
        </p:nvSpPr>
        <p:spPr>
          <a:xfrm>
            <a:off x="3429000" y="1737360"/>
            <a:ext cx="868680" cy="274320"/>
          </a:xfrm>
          <a:prstGeom prst="roundRect">
            <a:avLst>
              <a:gd name="adj" fmla="val 26667"/>
            </a:avLst>
          </a:prstGeom>
          <a:solidFill>
            <a:srgbClr val="059669"/>
          </a:solidFill>
          <a:ln/>
        </p:spPr>
        <p:txBody>
          <a:bodyPr/>
          <a:lstStyle/>
          <a:p>
            <a:endParaRPr lang="es-CO"/>
          </a:p>
        </p:txBody>
      </p:sp>
      <p:sp>
        <p:nvSpPr>
          <p:cNvPr id="13" name="Text 11"/>
          <p:cNvSpPr/>
          <p:nvPr/>
        </p:nvSpPr>
        <p:spPr>
          <a:xfrm>
            <a:off x="3429000" y="1737360"/>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Happy</a:t>
            </a:r>
            <a:endParaRPr lang="en-US" sz="900" dirty="0"/>
          </a:p>
        </p:txBody>
      </p:sp>
      <p:sp>
        <p:nvSpPr>
          <p:cNvPr id="14" name="Shape 12"/>
          <p:cNvSpPr/>
          <p:nvPr/>
        </p:nvSpPr>
        <p:spPr>
          <a:xfrm>
            <a:off x="685800" y="2103120"/>
            <a:ext cx="868680" cy="274320"/>
          </a:xfrm>
          <a:prstGeom prst="roundRect">
            <a:avLst>
              <a:gd name="adj" fmla="val 26667"/>
            </a:avLst>
          </a:prstGeom>
          <a:solidFill>
            <a:srgbClr val="1A4D80"/>
          </a:solidFill>
          <a:ln/>
        </p:spPr>
        <p:txBody>
          <a:bodyPr/>
          <a:lstStyle/>
          <a:p>
            <a:endParaRPr lang="es-CO"/>
          </a:p>
        </p:txBody>
      </p:sp>
      <p:sp>
        <p:nvSpPr>
          <p:cNvPr id="15" name="Text 13"/>
          <p:cNvSpPr/>
          <p:nvPr/>
        </p:nvSpPr>
        <p:spPr>
          <a:xfrm>
            <a:off x="685800" y="2103120"/>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Sad</a:t>
            </a:r>
            <a:endParaRPr lang="en-US" sz="900" dirty="0"/>
          </a:p>
        </p:txBody>
      </p:sp>
      <p:sp>
        <p:nvSpPr>
          <p:cNvPr id="16" name="Shape 14"/>
          <p:cNvSpPr/>
          <p:nvPr/>
        </p:nvSpPr>
        <p:spPr>
          <a:xfrm>
            <a:off x="1600200" y="2103120"/>
            <a:ext cx="868680" cy="274320"/>
          </a:xfrm>
          <a:prstGeom prst="roundRect">
            <a:avLst>
              <a:gd name="adj" fmla="val 26667"/>
            </a:avLst>
          </a:prstGeom>
          <a:solidFill>
            <a:srgbClr val="CA8A04"/>
          </a:solidFill>
          <a:ln/>
        </p:spPr>
        <p:txBody>
          <a:bodyPr/>
          <a:lstStyle/>
          <a:p>
            <a:endParaRPr lang="es-CO"/>
          </a:p>
        </p:txBody>
      </p:sp>
      <p:sp>
        <p:nvSpPr>
          <p:cNvPr id="17" name="Text 15"/>
          <p:cNvSpPr/>
          <p:nvPr/>
        </p:nvSpPr>
        <p:spPr>
          <a:xfrm>
            <a:off x="1600200" y="2103120"/>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Surprise</a:t>
            </a:r>
            <a:endParaRPr lang="en-US" sz="900" dirty="0"/>
          </a:p>
        </p:txBody>
      </p:sp>
      <p:sp>
        <p:nvSpPr>
          <p:cNvPr id="18" name="Shape 16"/>
          <p:cNvSpPr/>
          <p:nvPr/>
        </p:nvSpPr>
        <p:spPr>
          <a:xfrm>
            <a:off x="2514600" y="2103120"/>
            <a:ext cx="868680" cy="274320"/>
          </a:xfrm>
          <a:prstGeom prst="roundRect">
            <a:avLst>
              <a:gd name="adj" fmla="val 26667"/>
            </a:avLst>
          </a:prstGeom>
          <a:solidFill>
            <a:srgbClr val="9CA3AF"/>
          </a:solidFill>
          <a:ln/>
        </p:spPr>
        <p:txBody>
          <a:bodyPr/>
          <a:lstStyle/>
          <a:p>
            <a:endParaRPr lang="es-CO"/>
          </a:p>
        </p:txBody>
      </p:sp>
      <p:sp>
        <p:nvSpPr>
          <p:cNvPr id="19" name="Text 17"/>
          <p:cNvSpPr/>
          <p:nvPr/>
        </p:nvSpPr>
        <p:spPr>
          <a:xfrm>
            <a:off x="2514600" y="2103120"/>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Neutral</a:t>
            </a:r>
            <a:endParaRPr lang="en-US" sz="900" dirty="0"/>
          </a:p>
        </p:txBody>
      </p:sp>
      <p:sp>
        <p:nvSpPr>
          <p:cNvPr id="20" name="Shape 18"/>
          <p:cNvSpPr/>
          <p:nvPr/>
        </p:nvSpPr>
        <p:spPr>
          <a:xfrm>
            <a:off x="4754880" y="960120"/>
            <a:ext cx="3931920" cy="1920240"/>
          </a:xfrm>
          <a:prstGeom prst="roundRect">
            <a:avLst>
              <a:gd name="adj" fmla="val 4762"/>
            </a:avLst>
          </a:prstGeom>
          <a:solidFill>
            <a:srgbClr val="FEF2F2"/>
          </a:solidFill>
          <a:ln/>
        </p:spPr>
        <p:txBody>
          <a:bodyPr/>
          <a:lstStyle/>
          <a:p>
            <a:endParaRPr lang="es-CO"/>
          </a:p>
        </p:txBody>
      </p:sp>
      <p:sp>
        <p:nvSpPr>
          <p:cNvPr id="21" name="Text 19"/>
          <p:cNvSpPr/>
          <p:nvPr/>
        </p:nvSpPr>
        <p:spPr>
          <a:xfrm>
            <a:off x="4983480" y="1051560"/>
            <a:ext cx="3474720" cy="320040"/>
          </a:xfrm>
          <a:prstGeom prst="rect">
            <a:avLst/>
          </a:prstGeom>
          <a:noFill/>
          <a:ln/>
        </p:spPr>
        <p:txBody>
          <a:bodyPr wrap="square" lIns="0" tIns="0" rIns="0" bIns="0" rtlCol="0" anchor="ctr"/>
          <a:lstStyle/>
          <a:p>
            <a:pPr marL="0" indent="0">
              <a:buNone/>
            </a:pPr>
            <a:r>
              <a:rPr lang="en-US" sz="1500" b="1" dirty="0">
                <a:solidFill>
                  <a:srgbClr val="DC2626"/>
                </a:solidFill>
                <a:latin typeface="Arial" pitchFamily="34" charset="0"/>
                <a:ea typeface="Arial" pitchFamily="34" charset="-122"/>
                <a:cs typeface="Arial" pitchFamily="34" charset="-120"/>
              </a:rPr>
              <a:t>Key Challenges</a:t>
            </a:r>
            <a:endParaRPr lang="en-US" sz="1500" dirty="0"/>
          </a:p>
        </p:txBody>
      </p:sp>
      <p:sp>
        <p:nvSpPr>
          <p:cNvPr id="22" name="Text 20"/>
          <p:cNvSpPr/>
          <p:nvPr/>
        </p:nvSpPr>
        <p:spPr>
          <a:xfrm>
            <a:off x="4983480" y="1417320"/>
            <a:ext cx="3474720" cy="128016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2D3748"/>
                </a:solidFill>
                <a:latin typeface="Arial" pitchFamily="34" charset="0"/>
                <a:ea typeface="Arial" pitchFamily="34" charset="-122"/>
                <a:cs typeface="Arial" pitchFamily="34" charset="-120"/>
              </a:rPr>
              <a:t>Noisy &amp; mislabeled images</a:t>
            </a:r>
            <a:endParaRPr lang="en-US" sz="1100" dirty="0"/>
          </a:p>
          <a:p>
            <a:pPr marL="342900" indent="-342900">
              <a:spcAft>
                <a:spcPts val="400"/>
              </a:spcAft>
              <a:buSzPct val="100000"/>
              <a:buChar char="•"/>
            </a:pPr>
            <a:r>
              <a:rPr lang="en-US" sz="1100" dirty="0">
                <a:solidFill>
                  <a:srgbClr val="2D3748"/>
                </a:solidFill>
                <a:latin typeface="Arial" pitchFamily="34" charset="0"/>
                <a:ea typeface="Arial" pitchFamily="34" charset="-122"/>
                <a:cs typeface="Arial" pitchFamily="34" charset="-120"/>
              </a:rPr>
              <a:t>Severe class imbalance</a:t>
            </a:r>
            <a:endParaRPr lang="en-US" sz="1100" dirty="0"/>
          </a:p>
          <a:p>
            <a:pPr marL="342900" indent="-342900">
              <a:spcAft>
                <a:spcPts val="400"/>
              </a:spcAft>
              <a:buSzPct val="100000"/>
              <a:buChar char="•"/>
            </a:pPr>
            <a:r>
              <a:rPr lang="en-US" sz="1100" dirty="0">
                <a:solidFill>
                  <a:srgbClr val="2D3748"/>
                </a:solidFill>
                <a:latin typeface="Arial" pitchFamily="34" charset="0"/>
                <a:ea typeface="Arial" pitchFamily="34" charset="-122"/>
                <a:cs typeface="Arial" pitchFamily="34" charset="-120"/>
              </a:rPr>
              <a:t>Similar facial expressions across emotions</a:t>
            </a:r>
            <a:endParaRPr lang="en-US" sz="1100" dirty="0"/>
          </a:p>
          <a:p>
            <a:pPr marL="342900" indent="-342900">
              <a:spcAft>
                <a:spcPts val="400"/>
              </a:spcAft>
              <a:buSzPct val="100000"/>
              <a:buChar char="•"/>
            </a:pPr>
            <a:r>
              <a:rPr lang="en-US" sz="1100" dirty="0">
                <a:solidFill>
                  <a:srgbClr val="2D3748"/>
                </a:solidFill>
                <a:latin typeface="Arial" pitchFamily="34" charset="0"/>
                <a:ea typeface="Arial" pitchFamily="34" charset="-122"/>
                <a:cs typeface="Arial" pitchFamily="34" charset="-120"/>
              </a:rPr>
              <a:t>Illumination, pose &amp; subject variation</a:t>
            </a:r>
            <a:endParaRPr lang="en-US" sz="1100" dirty="0"/>
          </a:p>
        </p:txBody>
      </p:sp>
      <p:sp>
        <p:nvSpPr>
          <p:cNvPr id="23" name="Shape 21"/>
          <p:cNvSpPr/>
          <p:nvPr/>
        </p:nvSpPr>
        <p:spPr>
          <a:xfrm>
            <a:off x="457200" y="3108960"/>
            <a:ext cx="8229600" cy="1280160"/>
          </a:xfrm>
          <a:prstGeom prst="roundRect">
            <a:avLst>
              <a:gd name="adj" fmla="val 7143"/>
            </a:avLst>
          </a:prstGeom>
          <a:solidFill>
            <a:srgbClr val="F5F7FA"/>
          </a:solidFill>
          <a:ln/>
        </p:spPr>
        <p:txBody>
          <a:bodyPr/>
          <a:lstStyle/>
          <a:p>
            <a:endParaRPr lang="es-CO"/>
          </a:p>
        </p:txBody>
      </p:sp>
      <p:sp>
        <p:nvSpPr>
          <p:cNvPr id="24" name="Text 22"/>
          <p:cNvSpPr/>
          <p:nvPr/>
        </p:nvSpPr>
        <p:spPr>
          <a:xfrm>
            <a:off x="685800" y="3200400"/>
            <a:ext cx="7772400" cy="274320"/>
          </a:xfrm>
          <a:prstGeom prst="rect">
            <a:avLst/>
          </a:prstGeom>
          <a:noFill/>
          <a:ln/>
        </p:spPr>
        <p:txBody>
          <a:bodyPr wrap="square" lIns="0" tIns="0" rIns="0" bIns="0" rtlCol="0" anchor="ctr"/>
          <a:lstStyle/>
          <a:p>
            <a:pPr marL="0" indent="0">
              <a:buNone/>
            </a:pPr>
            <a:r>
              <a:rPr lang="en-US" sz="1400" b="1" dirty="0">
                <a:solidFill>
                  <a:srgbClr val="001940"/>
                </a:solidFill>
                <a:latin typeface="Arial" pitchFamily="34" charset="0"/>
                <a:ea typeface="Arial" pitchFamily="34" charset="-122"/>
                <a:cs typeface="Arial" pitchFamily="34" charset="-120"/>
              </a:rPr>
              <a:t>Why is this hard?</a:t>
            </a:r>
            <a:endParaRPr lang="en-US" sz="1400" dirty="0"/>
          </a:p>
        </p:txBody>
      </p:sp>
      <p:sp>
        <p:nvSpPr>
          <p:cNvPr id="25" name="Text 23"/>
          <p:cNvSpPr/>
          <p:nvPr/>
        </p:nvSpPr>
        <p:spPr>
          <a:xfrm>
            <a:off x="685800" y="3520440"/>
            <a:ext cx="7772400" cy="731520"/>
          </a:xfrm>
          <a:prstGeom prst="rect">
            <a:avLst/>
          </a:prstGeom>
          <a:noFill/>
          <a:ln/>
        </p:spPr>
        <p:txBody>
          <a:bodyPr wrap="square" lIns="0" tIns="0" rIns="0" bIns="0" rtlCol="0" anchor="ctr"/>
          <a:lstStyle/>
          <a:p>
            <a:pPr marL="0" indent="0">
              <a:lnSpc>
                <a:spcPct val="120000"/>
              </a:lnSpc>
              <a:buNone/>
            </a:pPr>
            <a:r>
              <a:rPr lang="en-US" sz="1150" dirty="0">
                <a:solidFill>
                  <a:srgbClr val="2D3748"/>
                </a:solidFill>
                <a:latin typeface="Arial" pitchFamily="34" charset="0"/>
                <a:ea typeface="Arial" pitchFamily="34" charset="-122"/>
                <a:cs typeface="Arial" pitchFamily="34" charset="-120"/>
              </a:rPr>
              <a:t>Facial expressions are inherently ambiguous (subject-specific differences), the same emotion can look different across individuals, and different emotions can produce similar facial configurations. This makes automatic recognition a challenging classification problem (Almost an idealization).</a:t>
            </a:r>
            <a:endParaRPr lang="en-US" sz="1150" dirty="0"/>
          </a:p>
        </p:txBody>
      </p:sp>
      <p:sp>
        <p:nvSpPr>
          <p:cNvPr id="26" name="Shape 24"/>
          <p:cNvSpPr/>
          <p:nvPr/>
        </p:nvSpPr>
        <p:spPr>
          <a:xfrm>
            <a:off x="0" y="4709160"/>
            <a:ext cx="9144000" cy="434340"/>
          </a:xfrm>
          <a:prstGeom prst="rect">
            <a:avLst/>
          </a:prstGeom>
          <a:solidFill>
            <a:srgbClr val="001940"/>
          </a:solidFill>
          <a:ln/>
        </p:spPr>
        <p:txBody>
          <a:bodyPr/>
          <a:lstStyle/>
          <a:p>
            <a:endParaRPr lang="es-CO"/>
          </a:p>
        </p:txBody>
      </p:sp>
      <p:pic>
        <p:nvPicPr>
          <p:cNvPr id="27" name="Image 0" descr="/agent/turn3/workspace/polimi_logo_white.png"/>
          <p:cNvPicPr>
            <a:picLocks noChangeAspect="1"/>
          </p:cNvPicPr>
          <p:nvPr/>
        </p:nvPicPr>
        <p:blipFill>
          <a:blip r:embed="rId3"/>
          <a:stretch>
            <a:fillRect/>
          </a:stretch>
        </p:blipFill>
        <p:spPr>
          <a:xfrm>
            <a:off x="344167" y="4736592"/>
            <a:ext cx="1140465" cy="347472"/>
          </a:xfrm>
          <a:prstGeom prst="rect">
            <a:avLst/>
          </a:prstGeom>
        </p:spPr>
      </p:pic>
      <p:sp>
        <p:nvSpPr>
          <p:cNvPr id="28" name="Text 25"/>
          <p:cNvSpPr/>
          <p:nvPr/>
        </p:nvSpPr>
        <p:spPr>
          <a:xfrm>
            <a:off x="7772400" y="4736592"/>
            <a:ext cx="1097280" cy="347472"/>
          </a:xfrm>
          <a:prstGeom prst="rect">
            <a:avLst/>
          </a:prstGeom>
          <a:noFill/>
          <a:ln/>
        </p:spPr>
        <p:txBody>
          <a:bodyPr wrap="square" lIns="0" tIns="0" rIns="0" bIns="0" rtlCol="0" anchor="ctr"/>
          <a:lstStyle/>
          <a:p>
            <a:pPr marL="0" indent="0" algn="r">
              <a:buNone/>
            </a:pPr>
            <a:r>
              <a:rPr lang="en-US" sz="900" dirty="0">
                <a:solidFill>
                  <a:srgbClr val="FFFFFF"/>
                </a:solidFill>
                <a:latin typeface="Arial" pitchFamily="34" charset="0"/>
                <a:ea typeface="Arial" pitchFamily="34" charset="-122"/>
                <a:cs typeface="Arial"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buNone/>
            </a:pPr>
            <a:r>
              <a:rPr lang="en-US" sz="2800" b="1" kern="0" spc="100" dirty="0">
                <a:solidFill>
                  <a:srgbClr val="001940"/>
                </a:solidFill>
                <a:latin typeface="Manrope ExtraBold" pitchFamily="2" charset="0"/>
                <a:ea typeface="Georgia" pitchFamily="34" charset="-122"/>
                <a:cs typeface="Georgia" pitchFamily="34" charset="-120"/>
              </a:rPr>
              <a:t>REFERENCE PAPER &amp; PROJECT GOAL</a:t>
            </a:r>
            <a:endParaRPr lang="en-US" sz="2800" dirty="0">
              <a:latin typeface="Manrope ExtraBold" pitchFamily="2" charset="0"/>
            </a:endParaRPr>
          </a:p>
        </p:txBody>
      </p:sp>
      <p:sp>
        <p:nvSpPr>
          <p:cNvPr id="3" name="Shape 1"/>
          <p:cNvSpPr/>
          <p:nvPr/>
        </p:nvSpPr>
        <p:spPr>
          <a:xfrm>
            <a:off x="457200" y="960120"/>
            <a:ext cx="3931920" cy="3383280"/>
          </a:xfrm>
          <a:prstGeom prst="roundRect">
            <a:avLst>
              <a:gd name="adj" fmla="val 2703"/>
            </a:avLst>
          </a:prstGeom>
          <a:solidFill>
            <a:srgbClr val="E8F0FA"/>
          </a:solidFill>
          <a:ln/>
        </p:spPr>
        <p:txBody>
          <a:bodyPr/>
          <a:lstStyle/>
          <a:p>
            <a:endParaRPr lang="es-CO"/>
          </a:p>
        </p:txBody>
      </p:sp>
      <p:sp>
        <p:nvSpPr>
          <p:cNvPr id="4" name="Text 2"/>
          <p:cNvSpPr/>
          <p:nvPr/>
        </p:nvSpPr>
        <p:spPr>
          <a:xfrm>
            <a:off x="685800" y="1051560"/>
            <a:ext cx="3474720" cy="320040"/>
          </a:xfrm>
          <a:prstGeom prst="rect">
            <a:avLst/>
          </a:prstGeom>
          <a:noFill/>
          <a:ln/>
        </p:spPr>
        <p:txBody>
          <a:bodyPr wrap="square" lIns="0" tIns="0" rIns="0" bIns="0" rtlCol="0" anchor="ctr"/>
          <a:lstStyle/>
          <a:p>
            <a:pPr marL="0" indent="0">
              <a:buNone/>
            </a:pPr>
            <a:r>
              <a:rPr lang="en-US" sz="1400" b="1" dirty="0">
                <a:solidFill>
                  <a:srgbClr val="1A4D80"/>
                </a:solidFill>
                <a:latin typeface="Arial" pitchFamily="34" charset="0"/>
                <a:ea typeface="Arial" pitchFamily="34" charset="-122"/>
                <a:cs typeface="Arial" pitchFamily="34" charset="-120"/>
              </a:rPr>
              <a:t>Reference Paper Methodology</a:t>
            </a:r>
            <a:endParaRPr lang="en-US" sz="1400" dirty="0"/>
          </a:p>
        </p:txBody>
      </p:sp>
      <p:sp>
        <p:nvSpPr>
          <p:cNvPr id="5" name="Text 3"/>
          <p:cNvSpPr/>
          <p:nvPr/>
        </p:nvSpPr>
        <p:spPr>
          <a:xfrm>
            <a:off x="685800" y="1417320"/>
            <a:ext cx="3474720" cy="256032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2D3748"/>
                </a:solidFill>
                <a:latin typeface="Arial" pitchFamily="34" charset="0"/>
                <a:ea typeface="Arial" pitchFamily="34" charset="-122"/>
                <a:cs typeface="Arial" pitchFamily="34" charset="-120"/>
              </a:rPr>
              <a:t>Data preprocessing &amp; cleaning</a:t>
            </a:r>
            <a:endParaRPr lang="en-US" sz="1100" dirty="0"/>
          </a:p>
          <a:p>
            <a:pPr marL="342900" indent="-342900">
              <a:spcAft>
                <a:spcPts val="800"/>
              </a:spcAft>
              <a:buSzPct val="100000"/>
              <a:buChar char="•"/>
            </a:pPr>
            <a:r>
              <a:rPr lang="en-US" sz="1100" dirty="0">
                <a:solidFill>
                  <a:srgbClr val="2D3748"/>
                </a:solidFill>
                <a:latin typeface="Arial" pitchFamily="34" charset="0"/>
                <a:ea typeface="Arial" pitchFamily="34" charset="-122"/>
                <a:cs typeface="Arial" pitchFamily="34" charset="-120"/>
              </a:rPr>
              <a:t>PCA for dimensionality reduction</a:t>
            </a:r>
            <a:endParaRPr lang="en-US" sz="1100" dirty="0"/>
          </a:p>
          <a:p>
            <a:pPr marL="342900" indent="-342900">
              <a:spcAft>
                <a:spcPts val="800"/>
              </a:spcAft>
              <a:buSzPct val="100000"/>
              <a:buChar char="•"/>
            </a:pPr>
            <a:r>
              <a:rPr lang="en-US" sz="1100" dirty="0">
                <a:solidFill>
                  <a:srgbClr val="2D3748"/>
                </a:solidFill>
                <a:latin typeface="Arial" pitchFamily="34" charset="0"/>
                <a:ea typeface="Arial" pitchFamily="34" charset="-122"/>
                <a:cs typeface="Arial" pitchFamily="34" charset="-120"/>
              </a:rPr>
              <a:t>SVM classifier (baseline)</a:t>
            </a:r>
            <a:endParaRPr lang="en-US" sz="1100" dirty="0"/>
          </a:p>
          <a:p>
            <a:pPr marL="342900" indent="-342900">
              <a:spcAft>
                <a:spcPts val="800"/>
              </a:spcAft>
              <a:buSzPct val="100000"/>
              <a:buChar char="•"/>
            </a:pPr>
            <a:r>
              <a:rPr lang="en-US" sz="1100" dirty="0">
                <a:solidFill>
                  <a:srgbClr val="2D3748"/>
                </a:solidFill>
                <a:latin typeface="Arial" pitchFamily="34" charset="0"/>
                <a:ea typeface="Arial" pitchFamily="34" charset="-122"/>
                <a:cs typeface="Arial" pitchFamily="34" charset="-120"/>
              </a:rPr>
              <a:t>VGG / CNN model</a:t>
            </a:r>
            <a:endParaRPr lang="en-US" sz="1100" dirty="0"/>
          </a:p>
          <a:p>
            <a:pPr marL="342900" indent="-342900">
              <a:spcAft>
                <a:spcPts val="800"/>
              </a:spcAft>
              <a:buSzPct val="100000"/>
              <a:buChar char="•"/>
            </a:pPr>
            <a:r>
              <a:rPr lang="en-US" sz="1100" dirty="0">
                <a:solidFill>
                  <a:srgbClr val="2D3748"/>
                </a:solidFill>
                <a:latin typeface="Arial" pitchFamily="34" charset="0"/>
                <a:ea typeface="Arial" pitchFamily="34" charset="-122"/>
                <a:cs typeface="Arial" pitchFamily="34" charset="-120"/>
              </a:rPr>
              <a:t>Sequential CNN + hypothesis testing</a:t>
            </a:r>
            <a:endParaRPr lang="en-US" sz="1100" dirty="0"/>
          </a:p>
        </p:txBody>
      </p:sp>
      <p:sp>
        <p:nvSpPr>
          <p:cNvPr id="6" name="Shape 4"/>
          <p:cNvSpPr/>
          <p:nvPr/>
        </p:nvSpPr>
        <p:spPr>
          <a:xfrm>
            <a:off x="4754880" y="960120"/>
            <a:ext cx="3931920" cy="3383280"/>
          </a:xfrm>
          <a:prstGeom prst="roundRect">
            <a:avLst>
              <a:gd name="adj" fmla="val 2703"/>
            </a:avLst>
          </a:prstGeom>
          <a:solidFill>
            <a:srgbClr val="ECFDF5"/>
          </a:solidFill>
          <a:ln/>
        </p:spPr>
        <p:txBody>
          <a:bodyPr/>
          <a:lstStyle/>
          <a:p>
            <a:endParaRPr lang="es-CO"/>
          </a:p>
        </p:txBody>
      </p:sp>
      <p:sp>
        <p:nvSpPr>
          <p:cNvPr id="7" name="Text 5"/>
          <p:cNvSpPr/>
          <p:nvPr/>
        </p:nvSpPr>
        <p:spPr>
          <a:xfrm>
            <a:off x="4983480" y="1051560"/>
            <a:ext cx="3474720" cy="320040"/>
          </a:xfrm>
          <a:prstGeom prst="rect">
            <a:avLst/>
          </a:prstGeom>
          <a:noFill/>
          <a:ln/>
        </p:spPr>
        <p:txBody>
          <a:bodyPr wrap="square" lIns="0" tIns="0" rIns="0" bIns="0" rtlCol="0" anchor="ctr"/>
          <a:lstStyle/>
          <a:p>
            <a:pPr marL="0" indent="0">
              <a:buNone/>
            </a:pPr>
            <a:r>
              <a:rPr lang="en-US" sz="1400" b="1" dirty="0">
                <a:solidFill>
                  <a:srgbClr val="059669"/>
                </a:solidFill>
                <a:latin typeface="Arial" pitchFamily="34" charset="0"/>
                <a:ea typeface="Arial" pitchFamily="34" charset="-122"/>
                <a:cs typeface="Arial" pitchFamily="34" charset="-120"/>
              </a:rPr>
              <a:t>Our Project Goal</a:t>
            </a:r>
            <a:endParaRPr lang="en-US" sz="1400" dirty="0"/>
          </a:p>
        </p:txBody>
      </p:sp>
      <p:sp>
        <p:nvSpPr>
          <p:cNvPr id="8" name="Text 6"/>
          <p:cNvSpPr/>
          <p:nvPr/>
        </p:nvSpPr>
        <p:spPr>
          <a:xfrm>
            <a:off x="4983480" y="1463040"/>
            <a:ext cx="3474720" cy="2560320"/>
          </a:xfrm>
          <a:prstGeom prst="rect">
            <a:avLst/>
          </a:prstGeom>
          <a:noFill/>
          <a:ln/>
        </p:spPr>
        <p:txBody>
          <a:bodyPr wrap="square" lIns="0" tIns="0" rIns="0" bIns="0" rtlCol="0" anchor="ctr"/>
          <a:lstStyle/>
          <a:p>
            <a:pPr marL="0" indent="0">
              <a:lnSpc>
                <a:spcPct val="115000"/>
              </a:lnSpc>
              <a:buNone/>
            </a:pPr>
            <a:r>
              <a:rPr lang="en-US" sz="1100" b="1" dirty="0">
                <a:solidFill>
                  <a:srgbClr val="2D3748"/>
                </a:solidFill>
                <a:latin typeface="Arial" pitchFamily="34" charset="0"/>
                <a:ea typeface="Arial" pitchFamily="34" charset="-122"/>
                <a:cs typeface="Arial" pitchFamily="34" charset="-120"/>
              </a:rPr>
              <a:t>Replicate </a:t>
            </a:r>
            <a:r>
              <a:rPr lang="en-US" sz="1100" dirty="0">
                <a:solidFill>
                  <a:srgbClr val="2D3748"/>
                </a:solidFill>
                <a:latin typeface="Arial" pitchFamily="34" charset="0"/>
                <a:ea typeface="Arial" pitchFamily="34" charset="-122"/>
                <a:cs typeface="Arial" pitchFamily="34" charset="-120"/>
              </a:rPr>
              <a:t>the reference paper's pipeline</a:t>
            </a:r>
            <a:endParaRPr lang="en-US" sz="1100" dirty="0"/>
          </a:p>
          <a:p>
            <a:pPr marL="0" indent="0">
              <a:lnSpc>
                <a:spcPct val="115000"/>
              </a:lnSpc>
              <a:buNone/>
            </a:pPr>
            <a:endParaRPr lang="en-US" sz="1100" dirty="0"/>
          </a:p>
          <a:p>
            <a:pPr marL="0" indent="0">
              <a:lnSpc>
                <a:spcPct val="115000"/>
              </a:lnSpc>
              <a:buNone/>
            </a:pPr>
            <a:r>
              <a:rPr lang="en-US" sz="1100" b="1" dirty="0">
                <a:solidFill>
                  <a:srgbClr val="2D3748"/>
                </a:solidFill>
                <a:latin typeface="Arial" pitchFamily="34" charset="0"/>
                <a:ea typeface="Arial" pitchFamily="34" charset="-122"/>
                <a:cs typeface="Arial" pitchFamily="34" charset="-120"/>
              </a:rPr>
              <a:t>Refine </a:t>
            </a:r>
            <a:r>
              <a:rPr lang="en-US" sz="1100" dirty="0">
                <a:solidFill>
                  <a:srgbClr val="2D3748"/>
                </a:solidFill>
                <a:latin typeface="Arial" pitchFamily="34" charset="0"/>
                <a:ea typeface="Arial" pitchFamily="34" charset="-122"/>
                <a:cs typeface="Arial" pitchFamily="34" charset="-120"/>
              </a:rPr>
              <a:t>with explicit cleaning, tuning, and train/val/test split</a:t>
            </a:r>
            <a:endParaRPr lang="en-US" sz="1100" dirty="0"/>
          </a:p>
          <a:p>
            <a:pPr marL="0" indent="0">
              <a:lnSpc>
                <a:spcPct val="115000"/>
              </a:lnSpc>
              <a:buNone/>
            </a:pPr>
            <a:endParaRPr lang="en-US" sz="1100" dirty="0"/>
          </a:p>
          <a:p>
            <a:pPr marL="0" indent="0">
              <a:lnSpc>
                <a:spcPct val="115000"/>
              </a:lnSpc>
              <a:buNone/>
            </a:pPr>
            <a:r>
              <a:rPr lang="en-US" sz="1100" b="1" dirty="0">
                <a:solidFill>
                  <a:srgbClr val="2D3748"/>
                </a:solidFill>
                <a:latin typeface="Arial" pitchFamily="34" charset="0"/>
                <a:ea typeface="Arial" pitchFamily="34" charset="-122"/>
                <a:cs typeface="Arial" pitchFamily="34" charset="-120"/>
              </a:rPr>
              <a:t>Compare </a:t>
            </a:r>
            <a:r>
              <a:rPr lang="en-US" sz="1100" dirty="0">
                <a:solidFill>
                  <a:srgbClr val="2D3748"/>
                </a:solidFill>
                <a:latin typeface="Arial" pitchFamily="34" charset="0"/>
                <a:ea typeface="Arial" pitchFamily="34" charset="-122"/>
                <a:cs typeface="Arial" pitchFamily="34" charset="-120"/>
              </a:rPr>
              <a:t>three model families on FER-2013 dataset</a:t>
            </a:r>
            <a:endParaRPr lang="en-US" sz="1100" dirty="0"/>
          </a:p>
          <a:p>
            <a:pPr marL="0" indent="0">
              <a:lnSpc>
                <a:spcPct val="115000"/>
              </a:lnSpc>
              <a:buNone/>
            </a:pPr>
            <a:endParaRPr lang="en-US" sz="1100" dirty="0"/>
          </a:p>
          <a:p>
            <a:pPr marL="0" indent="0">
              <a:lnSpc>
                <a:spcPct val="115000"/>
              </a:lnSpc>
              <a:buNone/>
            </a:pPr>
            <a:r>
              <a:rPr lang="en-US" sz="1100" b="1" dirty="0">
                <a:solidFill>
                  <a:srgbClr val="2D3748"/>
                </a:solidFill>
                <a:latin typeface="Arial" pitchFamily="34" charset="0"/>
                <a:ea typeface="Arial" pitchFamily="34" charset="-122"/>
                <a:cs typeface="Arial" pitchFamily="34" charset="-120"/>
              </a:rPr>
              <a:t>Evaluate </a:t>
            </a:r>
            <a:r>
              <a:rPr lang="en-US" sz="1100" dirty="0">
                <a:solidFill>
                  <a:srgbClr val="2D3748"/>
                </a:solidFill>
                <a:latin typeface="Arial" pitchFamily="34" charset="0"/>
                <a:ea typeface="Arial" pitchFamily="34" charset="-122"/>
                <a:cs typeface="Arial" pitchFamily="34" charset="-120"/>
              </a:rPr>
              <a:t>using comprehensive metrics and learning curves</a:t>
            </a:r>
            <a:endParaRPr lang="en-US" sz="1100" dirty="0"/>
          </a:p>
        </p:txBody>
      </p:sp>
      <p:sp>
        <p:nvSpPr>
          <p:cNvPr id="9" name="Shape 7"/>
          <p:cNvSpPr/>
          <p:nvPr/>
        </p:nvSpPr>
        <p:spPr>
          <a:xfrm>
            <a:off x="0" y="4709160"/>
            <a:ext cx="9144000" cy="434340"/>
          </a:xfrm>
          <a:prstGeom prst="rect">
            <a:avLst/>
          </a:prstGeom>
          <a:solidFill>
            <a:srgbClr val="001940"/>
          </a:solidFill>
          <a:ln/>
        </p:spPr>
        <p:txBody>
          <a:bodyPr/>
          <a:lstStyle/>
          <a:p>
            <a:endParaRPr lang="es-CO"/>
          </a:p>
        </p:txBody>
      </p:sp>
      <p:pic>
        <p:nvPicPr>
          <p:cNvPr id="10" name="Image 0" descr="/agent/turn3/workspace/polimi_logo_white.png"/>
          <p:cNvPicPr>
            <a:picLocks noChangeAspect="1"/>
          </p:cNvPicPr>
          <p:nvPr/>
        </p:nvPicPr>
        <p:blipFill>
          <a:blip r:embed="rId3"/>
          <a:stretch>
            <a:fillRect/>
          </a:stretch>
        </p:blipFill>
        <p:spPr>
          <a:xfrm>
            <a:off x="344167" y="4736592"/>
            <a:ext cx="1140465" cy="347472"/>
          </a:xfrm>
          <a:prstGeom prst="rect">
            <a:avLst/>
          </a:prstGeom>
        </p:spPr>
      </p:pic>
      <p:sp>
        <p:nvSpPr>
          <p:cNvPr id="11" name="Text 8"/>
          <p:cNvSpPr/>
          <p:nvPr/>
        </p:nvSpPr>
        <p:spPr>
          <a:xfrm>
            <a:off x="7772400" y="4736592"/>
            <a:ext cx="1097280" cy="347472"/>
          </a:xfrm>
          <a:prstGeom prst="rect">
            <a:avLst/>
          </a:prstGeom>
          <a:noFill/>
          <a:ln/>
        </p:spPr>
        <p:txBody>
          <a:bodyPr wrap="square" lIns="0" tIns="0" rIns="0" bIns="0" rtlCol="0" anchor="ctr"/>
          <a:lstStyle/>
          <a:p>
            <a:pPr marL="0" indent="0" algn="r">
              <a:buNone/>
            </a:pPr>
            <a:r>
              <a:rPr lang="en-US" sz="900" dirty="0">
                <a:solidFill>
                  <a:srgbClr val="FFFFFF"/>
                </a:solidFill>
                <a:latin typeface="Arial" pitchFamily="34" charset="0"/>
                <a:ea typeface="Arial" pitchFamily="34" charset="-122"/>
                <a:cs typeface="Arial"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364FF-CC2A-44E4-A335-CDCF3293BCD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1235247-1D22-B93A-D20A-ED28AEF0F694}"/>
              </a:ext>
            </a:extLst>
          </p:cNvPr>
          <p:cNvSpPr/>
          <p:nvPr/>
        </p:nvSpPr>
        <p:spPr>
          <a:xfrm>
            <a:off x="457200" y="274320"/>
            <a:ext cx="8229600" cy="502920"/>
          </a:xfrm>
          <a:prstGeom prst="rect">
            <a:avLst/>
          </a:prstGeom>
          <a:noFill/>
          <a:ln/>
        </p:spPr>
        <p:txBody>
          <a:bodyPr wrap="square" lIns="0" tIns="0" rIns="0" bIns="0" rtlCol="0" anchor="ctr"/>
          <a:lstStyle/>
          <a:p>
            <a:pPr marL="0" indent="0">
              <a:buNone/>
            </a:pPr>
            <a:r>
              <a:rPr lang="en-US" sz="2800" b="1" kern="0" spc="100" dirty="0">
                <a:solidFill>
                  <a:srgbClr val="001940"/>
                </a:solidFill>
                <a:latin typeface="Manrope ExtraBold" pitchFamily="2" charset="0"/>
                <a:ea typeface="Georgia" pitchFamily="34" charset="-122"/>
                <a:cs typeface="Georgia" pitchFamily="34" charset="-120"/>
              </a:rPr>
              <a:t>FER-2013 DATASET</a:t>
            </a:r>
            <a:endParaRPr lang="en-US" sz="2800" dirty="0">
              <a:latin typeface="Manrope ExtraBold" pitchFamily="2" charset="0"/>
            </a:endParaRPr>
          </a:p>
        </p:txBody>
      </p:sp>
      <p:sp>
        <p:nvSpPr>
          <p:cNvPr id="3" name="Shape 1">
            <a:extLst>
              <a:ext uri="{FF2B5EF4-FFF2-40B4-BE49-F238E27FC236}">
                <a16:creationId xmlns:a16="http://schemas.microsoft.com/office/drawing/2014/main" id="{EEF7AF47-A23E-81CF-4C16-D2B6A2AF186A}"/>
              </a:ext>
            </a:extLst>
          </p:cNvPr>
          <p:cNvSpPr/>
          <p:nvPr/>
        </p:nvSpPr>
        <p:spPr>
          <a:xfrm>
            <a:off x="457200" y="914400"/>
            <a:ext cx="1920240" cy="777240"/>
          </a:xfrm>
          <a:prstGeom prst="roundRect">
            <a:avLst>
              <a:gd name="adj" fmla="val 9412"/>
            </a:avLst>
          </a:prstGeom>
          <a:solidFill>
            <a:srgbClr val="E8F0FA"/>
          </a:solidFill>
          <a:ln/>
        </p:spPr>
        <p:txBody>
          <a:bodyPr/>
          <a:lstStyle/>
          <a:p>
            <a:endParaRPr lang="es-CO"/>
          </a:p>
        </p:txBody>
      </p:sp>
      <p:sp>
        <p:nvSpPr>
          <p:cNvPr id="4" name="Text 2">
            <a:extLst>
              <a:ext uri="{FF2B5EF4-FFF2-40B4-BE49-F238E27FC236}">
                <a16:creationId xmlns:a16="http://schemas.microsoft.com/office/drawing/2014/main" id="{F5A97C7A-FBCC-7986-065B-376BB291FA88}"/>
              </a:ext>
            </a:extLst>
          </p:cNvPr>
          <p:cNvSpPr/>
          <p:nvPr/>
        </p:nvSpPr>
        <p:spPr>
          <a:xfrm>
            <a:off x="457200" y="914400"/>
            <a:ext cx="1920240" cy="475488"/>
          </a:xfrm>
          <a:prstGeom prst="rect">
            <a:avLst/>
          </a:prstGeom>
          <a:noFill/>
          <a:ln/>
        </p:spPr>
        <p:txBody>
          <a:bodyPr wrap="square" lIns="0" tIns="0" rIns="0" bIns="0" rtlCol="0" anchor="ctr"/>
          <a:lstStyle/>
          <a:p>
            <a:pPr marL="0" indent="0" algn="ctr">
              <a:buNone/>
            </a:pPr>
            <a:r>
              <a:rPr lang="en-US" sz="2000" b="1" dirty="0">
                <a:solidFill>
                  <a:srgbClr val="1A4D80"/>
                </a:solidFill>
                <a:latin typeface="Arial" pitchFamily="34" charset="0"/>
                <a:cs typeface="Arial" pitchFamily="34" charset="-120"/>
              </a:rPr>
              <a:t>35,904</a:t>
            </a:r>
            <a:endParaRPr lang="en-US" sz="2000" dirty="0"/>
          </a:p>
        </p:txBody>
      </p:sp>
      <p:sp>
        <p:nvSpPr>
          <p:cNvPr id="5" name="Text 3">
            <a:extLst>
              <a:ext uri="{FF2B5EF4-FFF2-40B4-BE49-F238E27FC236}">
                <a16:creationId xmlns:a16="http://schemas.microsoft.com/office/drawing/2014/main" id="{96F68E6B-9B8A-B2D6-23E9-7E1DDB57324D}"/>
              </a:ext>
            </a:extLst>
          </p:cNvPr>
          <p:cNvSpPr/>
          <p:nvPr/>
        </p:nvSpPr>
        <p:spPr>
          <a:xfrm>
            <a:off x="457200" y="1353312"/>
            <a:ext cx="1920240" cy="292608"/>
          </a:xfrm>
          <a:prstGeom prst="rect">
            <a:avLst/>
          </a:prstGeom>
          <a:noFill/>
          <a:ln/>
        </p:spPr>
        <p:txBody>
          <a:bodyPr wrap="square" lIns="0" tIns="0" rIns="0" bIns="0" rtlCol="0" anchor="ctr"/>
          <a:lstStyle/>
          <a:p>
            <a:pPr marL="0" indent="0" algn="ctr">
              <a:buNone/>
            </a:pPr>
            <a:r>
              <a:rPr lang="en-US" sz="950" dirty="0">
                <a:solidFill>
                  <a:srgbClr val="6B7280"/>
                </a:solidFill>
                <a:latin typeface="Arial" pitchFamily="34" charset="0"/>
                <a:ea typeface="Arial" pitchFamily="34" charset="-122"/>
                <a:cs typeface="Arial" pitchFamily="34" charset="-120"/>
              </a:rPr>
              <a:t>Total Images</a:t>
            </a:r>
            <a:endParaRPr lang="en-US" sz="950" dirty="0"/>
          </a:p>
        </p:txBody>
      </p:sp>
      <p:sp>
        <p:nvSpPr>
          <p:cNvPr id="6" name="Shape 4">
            <a:extLst>
              <a:ext uri="{FF2B5EF4-FFF2-40B4-BE49-F238E27FC236}">
                <a16:creationId xmlns:a16="http://schemas.microsoft.com/office/drawing/2014/main" id="{44BE152B-04FD-FDB4-F262-2CC556AFF097}"/>
              </a:ext>
            </a:extLst>
          </p:cNvPr>
          <p:cNvSpPr/>
          <p:nvPr/>
        </p:nvSpPr>
        <p:spPr>
          <a:xfrm>
            <a:off x="2606040" y="914400"/>
            <a:ext cx="1920240" cy="777240"/>
          </a:xfrm>
          <a:prstGeom prst="roundRect">
            <a:avLst>
              <a:gd name="adj" fmla="val 9412"/>
            </a:avLst>
          </a:prstGeom>
          <a:solidFill>
            <a:srgbClr val="E8F0FA"/>
          </a:solidFill>
          <a:ln/>
        </p:spPr>
        <p:txBody>
          <a:bodyPr/>
          <a:lstStyle/>
          <a:p>
            <a:endParaRPr lang="es-CO"/>
          </a:p>
        </p:txBody>
      </p:sp>
      <p:sp>
        <p:nvSpPr>
          <p:cNvPr id="7" name="Text 5">
            <a:extLst>
              <a:ext uri="{FF2B5EF4-FFF2-40B4-BE49-F238E27FC236}">
                <a16:creationId xmlns:a16="http://schemas.microsoft.com/office/drawing/2014/main" id="{A3E8396D-7192-105E-EF8C-433791A98FDB}"/>
              </a:ext>
            </a:extLst>
          </p:cNvPr>
          <p:cNvSpPr/>
          <p:nvPr/>
        </p:nvSpPr>
        <p:spPr>
          <a:xfrm>
            <a:off x="2606040" y="914400"/>
            <a:ext cx="1920240" cy="475488"/>
          </a:xfrm>
          <a:prstGeom prst="rect">
            <a:avLst/>
          </a:prstGeom>
          <a:noFill/>
          <a:ln/>
        </p:spPr>
        <p:txBody>
          <a:bodyPr wrap="square" lIns="0" tIns="0" rIns="0" bIns="0" rtlCol="0" anchor="ctr"/>
          <a:lstStyle/>
          <a:p>
            <a:pPr marL="0" indent="0" algn="ctr">
              <a:buNone/>
            </a:pPr>
            <a:r>
              <a:rPr lang="en-US" sz="2000" b="1" dirty="0">
                <a:solidFill>
                  <a:srgbClr val="001940"/>
                </a:solidFill>
                <a:latin typeface="Arial" pitchFamily="34" charset="0"/>
                <a:ea typeface="Arial" pitchFamily="34" charset="-122"/>
                <a:cs typeface="Arial" pitchFamily="34" charset="-120"/>
              </a:rPr>
              <a:t>48×48 px</a:t>
            </a:r>
            <a:endParaRPr lang="en-US" sz="2000" dirty="0"/>
          </a:p>
        </p:txBody>
      </p:sp>
      <p:sp>
        <p:nvSpPr>
          <p:cNvPr id="8" name="Text 6">
            <a:extLst>
              <a:ext uri="{FF2B5EF4-FFF2-40B4-BE49-F238E27FC236}">
                <a16:creationId xmlns:a16="http://schemas.microsoft.com/office/drawing/2014/main" id="{F5B15369-6B9D-967F-EECF-FC88ED40A236}"/>
              </a:ext>
            </a:extLst>
          </p:cNvPr>
          <p:cNvSpPr/>
          <p:nvPr/>
        </p:nvSpPr>
        <p:spPr>
          <a:xfrm>
            <a:off x="2606040" y="1353312"/>
            <a:ext cx="1920240" cy="292608"/>
          </a:xfrm>
          <a:prstGeom prst="rect">
            <a:avLst/>
          </a:prstGeom>
          <a:noFill/>
          <a:ln/>
        </p:spPr>
        <p:txBody>
          <a:bodyPr wrap="square" lIns="0" tIns="0" rIns="0" bIns="0" rtlCol="0" anchor="ctr"/>
          <a:lstStyle/>
          <a:p>
            <a:pPr marL="0" indent="0" algn="ctr">
              <a:buNone/>
            </a:pPr>
            <a:r>
              <a:rPr lang="en-US" sz="950" dirty="0">
                <a:solidFill>
                  <a:srgbClr val="6B7280"/>
                </a:solidFill>
                <a:latin typeface="Arial" pitchFamily="34" charset="0"/>
                <a:ea typeface="Arial" pitchFamily="34" charset="-122"/>
                <a:cs typeface="Arial" pitchFamily="34" charset="-120"/>
              </a:rPr>
              <a:t>Resolution</a:t>
            </a:r>
            <a:endParaRPr lang="en-US" sz="950" dirty="0"/>
          </a:p>
        </p:txBody>
      </p:sp>
      <p:sp>
        <p:nvSpPr>
          <p:cNvPr id="9" name="Shape 7">
            <a:extLst>
              <a:ext uri="{FF2B5EF4-FFF2-40B4-BE49-F238E27FC236}">
                <a16:creationId xmlns:a16="http://schemas.microsoft.com/office/drawing/2014/main" id="{497A9CD9-1FFE-A35D-E249-9B2652011B6E}"/>
              </a:ext>
            </a:extLst>
          </p:cNvPr>
          <p:cNvSpPr/>
          <p:nvPr/>
        </p:nvSpPr>
        <p:spPr>
          <a:xfrm>
            <a:off x="4754880" y="914400"/>
            <a:ext cx="1920240" cy="777240"/>
          </a:xfrm>
          <a:prstGeom prst="roundRect">
            <a:avLst>
              <a:gd name="adj" fmla="val 9412"/>
            </a:avLst>
          </a:prstGeom>
          <a:solidFill>
            <a:srgbClr val="E8F0FA"/>
          </a:solidFill>
          <a:ln/>
        </p:spPr>
        <p:txBody>
          <a:bodyPr/>
          <a:lstStyle/>
          <a:p>
            <a:endParaRPr lang="es-CO"/>
          </a:p>
        </p:txBody>
      </p:sp>
      <p:sp>
        <p:nvSpPr>
          <p:cNvPr id="10" name="Text 8">
            <a:extLst>
              <a:ext uri="{FF2B5EF4-FFF2-40B4-BE49-F238E27FC236}">
                <a16:creationId xmlns:a16="http://schemas.microsoft.com/office/drawing/2014/main" id="{5E0961BE-6D5A-DC0E-9989-0B8B33D4B718}"/>
              </a:ext>
            </a:extLst>
          </p:cNvPr>
          <p:cNvSpPr/>
          <p:nvPr/>
        </p:nvSpPr>
        <p:spPr>
          <a:xfrm>
            <a:off x="4754880" y="914400"/>
            <a:ext cx="1920240" cy="475488"/>
          </a:xfrm>
          <a:prstGeom prst="rect">
            <a:avLst/>
          </a:prstGeom>
          <a:noFill/>
          <a:ln/>
        </p:spPr>
        <p:txBody>
          <a:bodyPr wrap="square" lIns="0" tIns="0" rIns="0" bIns="0" rtlCol="0" anchor="ctr"/>
          <a:lstStyle/>
          <a:p>
            <a:pPr marL="0" indent="0" algn="ctr">
              <a:buNone/>
            </a:pPr>
            <a:r>
              <a:rPr lang="en-US" sz="2000" b="1" dirty="0">
                <a:solidFill>
                  <a:srgbClr val="6B7280"/>
                </a:solidFill>
                <a:latin typeface="Arial" pitchFamily="34" charset="0"/>
                <a:ea typeface="Arial" pitchFamily="34" charset="-122"/>
                <a:cs typeface="Arial" pitchFamily="34" charset="-120"/>
              </a:rPr>
              <a:t>Grayscale</a:t>
            </a:r>
            <a:endParaRPr lang="en-US" sz="2000" dirty="0"/>
          </a:p>
        </p:txBody>
      </p:sp>
      <p:sp>
        <p:nvSpPr>
          <p:cNvPr id="11" name="Text 9">
            <a:extLst>
              <a:ext uri="{FF2B5EF4-FFF2-40B4-BE49-F238E27FC236}">
                <a16:creationId xmlns:a16="http://schemas.microsoft.com/office/drawing/2014/main" id="{2AC00D01-AF11-CB73-4FB5-9E0EC484E2D1}"/>
              </a:ext>
            </a:extLst>
          </p:cNvPr>
          <p:cNvSpPr/>
          <p:nvPr/>
        </p:nvSpPr>
        <p:spPr>
          <a:xfrm>
            <a:off x="4754880" y="1353312"/>
            <a:ext cx="1920240" cy="292608"/>
          </a:xfrm>
          <a:prstGeom prst="rect">
            <a:avLst/>
          </a:prstGeom>
          <a:noFill/>
          <a:ln/>
        </p:spPr>
        <p:txBody>
          <a:bodyPr wrap="square" lIns="0" tIns="0" rIns="0" bIns="0" rtlCol="0" anchor="ctr"/>
          <a:lstStyle/>
          <a:p>
            <a:pPr marL="0" indent="0" algn="ctr">
              <a:buNone/>
            </a:pPr>
            <a:r>
              <a:rPr lang="en-US" sz="950" dirty="0">
                <a:solidFill>
                  <a:srgbClr val="6B7280"/>
                </a:solidFill>
                <a:latin typeface="Arial" pitchFamily="34" charset="0"/>
                <a:ea typeface="Arial" pitchFamily="34" charset="-122"/>
                <a:cs typeface="Arial" pitchFamily="34" charset="-120"/>
              </a:rPr>
              <a:t>Color Space</a:t>
            </a:r>
            <a:endParaRPr lang="en-US" sz="950" dirty="0"/>
          </a:p>
        </p:txBody>
      </p:sp>
      <p:sp>
        <p:nvSpPr>
          <p:cNvPr id="12" name="Shape 10">
            <a:extLst>
              <a:ext uri="{FF2B5EF4-FFF2-40B4-BE49-F238E27FC236}">
                <a16:creationId xmlns:a16="http://schemas.microsoft.com/office/drawing/2014/main" id="{346CC43F-7E4D-F118-9AAA-05CB8BFE8DE8}"/>
              </a:ext>
            </a:extLst>
          </p:cNvPr>
          <p:cNvSpPr/>
          <p:nvPr/>
        </p:nvSpPr>
        <p:spPr>
          <a:xfrm>
            <a:off x="6903720" y="914400"/>
            <a:ext cx="1920240" cy="777240"/>
          </a:xfrm>
          <a:prstGeom prst="roundRect">
            <a:avLst>
              <a:gd name="adj" fmla="val 9412"/>
            </a:avLst>
          </a:prstGeom>
          <a:solidFill>
            <a:srgbClr val="E8F0FA"/>
          </a:solidFill>
          <a:ln/>
        </p:spPr>
        <p:txBody>
          <a:bodyPr/>
          <a:lstStyle/>
          <a:p>
            <a:endParaRPr lang="es-CO"/>
          </a:p>
        </p:txBody>
      </p:sp>
      <p:sp>
        <p:nvSpPr>
          <p:cNvPr id="13" name="Text 11">
            <a:extLst>
              <a:ext uri="{FF2B5EF4-FFF2-40B4-BE49-F238E27FC236}">
                <a16:creationId xmlns:a16="http://schemas.microsoft.com/office/drawing/2014/main" id="{87907BBB-7F79-0373-BE34-61FB60D8BD2E}"/>
              </a:ext>
            </a:extLst>
          </p:cNvPr>
          <p:cNvSpPr/>
          <p:nvPr/>
        </p:nvSpPr>
        <p:spPr>
          <a:xfrm>
            <a:off x="6903720" y="914400"/>
            <a:ext cx="1920240" cy="475488"/>
          </a:xfrm>
          <a:prstGeom prst="rect">
            <a:avLst/>
          </a:prstGeom>
          <a:noFill/>
          <a:ln/>
        </p:spPr>
        <p:txBody>
          <a:bodyPr wrap="square" lIns="0" tIns="0" rIns="0" bIns="0" rtlCol="0" anchor="ctr"/>
          <a:lstStyle/>
          <a:p>
            <a:pPr marL="0" indent="0" algn="ctr">
              <a:buNone/>
            </a:pPr>
            <a:r>
              <a:rPr lang="en-US" sz="2000" b="1" dirty="0">
                <a:solidFill>
                  <a:srgbClr val="059669"/>
                </a:solidFill>
                <a:latin typeface="Arial" pitchFamily="34" charset="0"/>
                <a:ea typeface="Arial" pitchFamily="34" charset="-122"/>
                <a:cs typeface="Arial" pitchFamily="34" charset="-120"/>
              </a:rPr>
              <a:t>7</a:t>
            </a:r>
            <a:endParaRPr lang="en-US" sz="2000" dirty="0"/>
          </a:p>
        </p:txBody>
      </p:sp>
      <p:sp>
        <p:nvSpPr>
          <p:cNvPr id="14" name="Text 12">
            <a:extLst>
              <a:ext uri="{FF2B5EF4-FFF2-40B4-BE49-F238E27FC236}">
                <a16:creationId xmlns:a16="http://schemas.microsoft.com/office/drawing/2014/main" id="{A684DABC-01F6-86AF-17FE-00D433CC30BD}"/>
              </a:ext>
            </a:extLst>
          </p:cNvPr>
          <p:cNvSpPr/>
          <p:nvPr/>
        </p:nvSpPr>
        <p:spPr>
          <a:xfrm>
            <a:off x="6903720" y="1353312"/>
            <a:ext cx="1920240" cy="292608"/>
          </a:xfrm>
          <a:prstGeom prst="rect">
            <a:avLst/>
          </a:prstGeom>
          <a:noFill/>
          <a:ln/>
        </p:spPr>
        <p:txBody>
          <a:bodyPr wrap="square" lIns="0" tIns="0" rIns="0" bIns="0" rtlCol="0" anchor="ctr"/>
          <a:lstStyle/>
          <a:p>
            <a:pPr marL="0" indent="0" algn="ctr">
              <a:buNone/>
            </a:pPr>
            <a:r>
              <a:rPr lang="en-US" sz="950" dirty="0">
                <a:solidFill>
                  <a:srgbClr val="6B7280"/>
                </a:solidFill>
                <a:latin typeface="Arial" pitchFamily="34" charset="0"/>
                <a:ea typeface="Arial" pitchFamily="34" charset="-122"/>
                <a:cs typeface="Arial" pitchFamily="34" charset="-120"/>
              </a:rPr>
              <a:t>Classes</a:t>
            </a:r>
            <a:endParaRPr lang="en-US" sz="950" dirty="0"/>
          </a:p>
        </p:txBody>
      </p:sp>
      <p:sp>
        <p:nvSpPr>
          <p:cNvPr id="16" name="Shape 13">
            <a:extLst>
              <a:ext uri="{FF2B5EF4-FFF2-40B4-BE49-F238E27FC236}">
                <a16:creationId xmlns:a16="http://schemas.microsoft.com/office/drawing/2014/main" id="{933D44B9-7AA8-907A-3C4B-5E214A8E7554}"/>
              </a:ext>
            </a:extLst>
          </p:cNvPr>
          <p:cNvSpPr/>
          <p:nvPr/>
        </p:nvSpPr>
        <p:spPr>
          <a:xfrm>
            <a:off x="5465618" y="1938528"/>
            <a:ext cx="2743200" cy="2468880"/>
          </a:xfrm>
          <a:prstGeom prst="roundRect">
            <a:avLst>
              <a:gd name="adj" fmla="val 3704"/>
            </a:avLst>
          </a:prstGeom>
          <a:solidFill>
            <a:srgbClr val="FEF9F3"/>
          </a:solidFill>
          <a:ln/>
        </p:spPr>
        <p:txBody>
          <a:bodyPr/>
          <a:lstStyle/>
          <a:p>
            <a:endParaRPr lang="es-CO"/>
          </a:p>
        </p:txBody>
      </p:sp>
      <p:sp>
        <p:nvSpPr>
          <p:cNvPr id="17" name="Text 14">
            <a:extLst>
              <a:ext uri="{FF2B5EF4-FFF2-40B4-BE49-F238E27FC236}">
                <a16:creationId xmlns:a16="http://schemas.microsoft.com/office/drawing/2014/main" id="{9DF7C265-ACF9-5F80-2324-27374D526660}"/>
              </a:ext>
            </a:extLst>
          </p:cNvPr>
          <p:cNvSpPr/>
          <p:nvPr/>
        </p:nvSpPr>
        <p:spPr>
          <a:xfrm>
            <a:off x="5648498" y="2075688"/>
            <a:ext cx="2377440" cy="274320"/>
          </a:xfrm>
          <a:prstGeom prst="rect">
            <a:avLst/>
          </a:prstGeom>
          <a:noFill/>
          <a:ln/>
        </p:spPr>
        <p:txBody>
          <a:bodyPr wrap="square" lIns="0" tIns="0" rIns="0" bIns="0" rtlCol="0" anchor="ctr"/>
          <a:lstStyle/>
          <a:p>
            <a:pPr marL="0" indent="0">
              <a:buNone/>
            </a:pPr>
            <a:r>
              <a:rPr lang="en-US" sz="1300" b="1" dirty="0">
                <a:solidFill>
                  <a:srgbClr val="D97706"/>
                </a:solidFill>
                <a:latin typeface="Arial" pitchFamily="34" charset="0"/>
                <a:ea typeface="Arial" pitchFamily="34" charset="-122"/>
                <a:cs typeface="Arial" pitchFamily="34" charset="-120"/>
              </a:rPr>
              <a:t>Class Imbalance</a:t>
            </a:r>
            <a:endParaRPr lang="en-US" sz="1300" dirty="0"/>
          </a:p>
        </p:txBody>
      </p:sp>
      <p:sp>
        <p:nvSpPr>
          <p:cNvPr id="18" name="Text 15">
            <a:extLst>
              <a:ext uri="{FF2B5EF4-FFF2-40B4-BE49-F238E27FC236}">
                <a16:creationId xmlns:a16="http://schemas.microsoft.com/office/drawing/2014/main" id="{1591BDC3-3AAF-6ABF-AB2C-623EBFA45D9E}"/>
              </a:ext>
            </a:extLst>
          </p:cNvPr>
          <p:cNvSpPr/>
          <p:nvPr/>
        </p:nvSpPr>
        <p:spPr>
          <a:xfrm>
            <a:off x="5648498" y="2395728"/>
            <a:ext cx="2377440" cy="1828800"/>
          </a:xfrm>
          <a:prstGeom prst="rect">
            <a:avLst/>
          </a:prstGeom>
          <a:noFill/>
          <a:ln/>
        </p:spPr>
        <p:txBody>
          <a:bodyPr wrap="square" lIns="0" tIns="0" rIns="0" bIns="0" rtlCol="0" anchor="ctr"/>
          <a:lstStyle/>
          <a:p>
            <a:pPr marL="0" indent="0">
              <a:lnSpc>
                <a:spcPct val="120000"/>
              </a:lnSpc>
              <a:buNone/>
            </a:pPr>
            <a:r>
              <a:rPr lang="en-US" sz="1050" b="1" dirty="0">
                <a:solidFill>
                  <a:srgbClr val="059669"/>
                </a:solidFill>
                <a:latin typeface="Arial" pitchFamily="34" charset="0"/>
                <a:ea typeface="Arial" pitchFamily="34" charset="-122"/>
                <a:cs typeface="Arial" pitchFamily="34" charset="-120"/>
              </a:rPr>
              <a:t>Happy</a:t>
            </a:r>
            <a:r>
              <a:rPr lang="en-US" sz="1050" dirty="0">
                <a:solidFill>
                  <a:srgbClr val="2D3748"/>
                </a:solidFill>
                <a:latin typeface="Arial" pitchFamily="34" charset="0"/>
                <a:ea typeface="Arial" pitchFamily="34" charset="-122"/>
                <a:cs typeface="Arial" pitchFamily="34" charset="-120"/>
              </a:rPr>
              <a:t> is heavily overrepresented (8,990 samples)</a:t>
            </a:r>
            <a:endParaRPr lang="en-US" sz="1050" dirty="0"/>
          </a:p>
          <a:p>
            <a:pPr marL="0" indent="0">
              <a:lnSpc>
                <a:spcPct val="120000"/>
              </a:lnSpc>
              <a:buNone/>
            </a:pPr>
            <a:endParaRPr lang="en-US" sz="1050" dirty="0"/>
          </a:p>
          <a:p>
            <a:pPr marL="0" indent="0">
              <a:lnSpc>
                <a:spcPct val="120000"/>
              </a:lnSpc>
              <a:buNone/>
            </a:pPr>
            <a:r>
              <a:rPr lang="en-US" sz="1050" b="1" dirty="0">
                <a:solidFill>
                  <a:srgbClr val="DC2626"/>
                </a:solidFill>
                <a:latin typeface="Arial" pitchFamily="34" charset="0"/>
                <a:ea typeface="Arial" pitchFamily="34" charset="-122"/>
                <a:cs typeface="Arial" pitchFamily="34" charset="-120"/>
              </a:rPr>
              <a:t>Disgust</a:t>
            </a:r>
            <a:r>
              <a:rPr lang="en-US" sz="1050" dirty="0">
                <a:solidFill>
                  <a:srgbClr val="2D3748"/>
                </a:solidFill>
                <a:latin typeface="Arial" pitchFamily="34" charset="0"/>
                <a:ea typeface="Arial" pitchFamily="34" charset="-122"/>
                <a:cs typeface="Arial" pitchFamily="34" charset="-120"/>
              </a:rPr>
              <a:t> is severely underrepresented (547 samples)</a:t>
            </a:r>
            <a:endParaRPr lang="en-US" sz="1050" dirty="0"/>
          </a:p>
          <a:p>
            <a:pPr marL="0" indent="0">
              <a:lnSpc>
                <a:spcPct val="120000"/>
              </a:lnSpc>
              <a:buNone/>
            </a:pPr>
            <a:endParaRPr lang="en-US" sz="1050" dirty="0"/>
          </a:p>
          <a:p>
            <a:pPr marL="0" indent="0">
              <a:lnSpc>
                <a:spcPct val="120000"/>
              </a:lnSpc>
              <a:buNone/>
            </a:pPr>
            <a:r>
              <a:rPr lang="en-US" sz="1050" dirty="0">
                <a:solidFill>
                  <a:srgbClr val="2D3748"/>
                </a:solidFill>
                <a:latin typeface="Arial" pitchFamily="34" charset="0"/>
                <a:ea typeface="Arial" pitchFamily="34" charset="-122"/>
                <a:cs typeface="Arial" pitchFamily="34" charset="-120"/>
              </a:rPr>
              <a:t>This imbalance affects model training and evaluation</a:t>
            </a:r>
            <a:endParaRPr lang="en-US" sz="1050" dirty="0"/>
          </a:p>
        </p:txBody>
      </p:sp>
      <p:sp>
        <p:nvSpPr>
          <p:cNvPr id="19" name="Shape 16">
            <a:extLst>
              <a:ext uri="{FF2B5EF4-FFF2-40B4-BE49-F238E27FC236}">
                <a16:creationId xmlns:a16="http://schemas.microsoft.com/office/drawing/2014/main" id="{57F9764B-98E7-27DB-1F4C-1C5A63624FF2}"/>
              </a:ext>
            </a:extLst>
          </p:cNvPr>
          <p:cNvSpPr/>
          <p:nvPr/>
        </p:nvSpPr>
        <p:spPr>
          <a:xfrm>
            <a:off x="0" y="4709160"/>
            <a:ext cx="9144000" cy="434340"/>
          </a:xfrm>
          <a:prstGeom prst="rect">
            <a:avLst/>
          </a:prstGeom>
          <a:solidFill>
            <a:srgbClr val="001940"/>
          </a:solidFill>
          <a:ln/>
        </p:spPr>
        <p:txBody>
          <a:bodyPr/>
          <a:lstStyle/>
          <a:p>
            <a:endParaRPr lang="es-CO"/>
          </a:p>
        </p:txBody>
      </p:sp>
      <p:pic>
        <p:nvPicPr>
          <p:cNvPr id="20" name="Image 0" descr="/agent/turn3/workspace/polimi_logo_white.png">
            <a:extLst>
              <a:ext uri="{FF2B5EF4-FFF2-40B4-BE49-F238E27FC236}">
                <a16:creationId xmlns:a16="http://schemas.microsoft.com/office/drawing/2014/main" id="{D8A27575-41E0-CEA0-4358-14A0FCD36BF5}"/>
              </a:ext>
            </a:extLst>
          </p:cNvPr>
          <p:cNvPicPr>
            <a:picLocks noChangeAspect="1"/>
          </p:cNvPicPr>
          <p:nvPr/>
        </p:nvPicPr>
        <p:blipFill>
          <a:blip r:embed="rId3"/>
          <a:stretch>
            <a:fillRect/>
          </a:stretch>
        </p:blipFill>
        <p:spPr>
          <a:xfrm>
            <a:off x="344167" y="4736592"/>
            <a:ext cx="1140465" cy="347472"/>
          </a:xfrm>
          <a:prstGeom prst="rect">
            <a:avLst/>
          </a:prstGeom>
        </p:spPr>
      </p:pic>
      <p:sp>
        <p:nvSpPr>
          <p:cNvPr id="21" name="Text 17">
            <a:extLst>
              <a:ext uri="{FF2B5EF4-FFF2-40B4-BE49-F238E27FC236}">
                <a16:creationId xmlns:a16="http://schemas.microsoft.com/office/drawing/2014/main" id="{C4646013-7BAD-E31E-EA8E-7541A626405D}"/>
              </a:ext>
            </a:extLst>
          </p:cNvPr>
          <p:cNvSpPr/>
          <p:nvPr/>
        </p:nvSpPr>
        <p:spPr>
          <a:xfrm>
            <a:off x="7772400" y="4736592"/>
            <a:ext cx="1097280" cy="347472"/>
          </a:xfrm>
          <a:prstGeom prst="rect">
            <a:avLst/>
          </a:prstGeom>
          <a:noFill/>
          <a:ln/>
        </p:spPr>
        <p:txBody>
          <a:bodyPr wrap="square" lIns="0" tIns="0" rIns="0" bIns="0" rtlCol="0" anchor="ctr"/>
          <a:lstStyle/>
          <a:p>
            <a:pPr marL="0" indent="0" algn="r">
              <a:buNone/>
            </a:pPr>
            <a:r>
              <a:rPr lang="en-US" sz="900" dirty="0">
                <a:solidFill>
                  <a:srgbClr val="FFFFFF"/>
                </a:solidFill>
                <a:latin typeface="Arial" pitchFamily="34" charset="0"/>
                <a:ea typeface="Arial" pitchFamily="34" charset="-122"/>
                <a:cs typeface="Arial" pitchFamily="34" charset="-120"/>
              </a:rPr>
              <a:t>4 / 15</a:t>
            </a:r>
            <a:endParaRPr lang="en-US" sz="900" dirty="0"/>
          </a:p>
        </p:txBody>
      </p:sp>
      <p:pic>
        <p:nvPicPr>
          <p:cNvPr id="25" name="Imagen 24">
            <a:extLst>
              <a:ext uri="{FF2B5EF4-FFF2-40B4-BE49-F238E27FC236}">
                <a16:creationId xmlns:a16="http://schemas.microsoft.com/office/drawing/2014/main" id="{F98F8E35-1ADC-EF70-DA19-E1689BBE4277}"/>
              </a:ext>
            </a:extLst>
          </p:cNvPr>
          <p:cNvPicPr>
            <a:picLocks noChangeAspect="1"/>
          </p:cNvPicPr>
          <p:nvPr/>
        </p:nvPicPr>
        <p:blipFill>
          <a:blip r:embed="rId4"/>
          <a:stretch>
            <a:fillRect/>
          </a:stretch>
        </p:blipFill>
        <p:spPr>
          <a:xfrm>
            <a:off x="855110" y="1858695"/>
            <a:ext cx="3716890" cy="2774850"/>
          </a:xfrm>
          <a:prstGeom prst="rect">
            <a:avLst/>
          </a:prstGeom>
        </p:spPr>
      </p:pic>
    </p:spTree>
    <p:extLst>
      <p:ext uri="{BB962C8B-B14F-4D97-AF65-F5344CB8AC3E}">
        <p14:creationId xmlns:p14="http://schemas.microsoft.com/office/powerpoint/2010/main" val="2025366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274320"/>
            <a:ext cx="8229600" cy="502920"/>
          </a:xfrm>
          <a:prstGeom prst="rect">
            <a:avLst/>
          </a:prstGeom>
          <a:noFill/>
          <a:ln/>
        </p:spPr>
        <p:txBody>
          <a:bodyPr wrap="square" lIns="0" tIns="0" rIns="0" bIns="0" rtlCol="0" anchor="ctr"/>
          <a:lstStyle/>
          <a:p>
            <a:pPr marL="0" indent="0">
              <a:buNone/>
            </a:pPr>
            <a:r>
              <a:rPr lang="en-US" sz="2800" b="1" kern="0" spc="100" dirty="0">
                <a:solidFill>
                  <a:srgbClr val="001940"/>
                </a:solidFill>
                <a:latin typeface="Manrope ExtraBold" pitchFamily="2" charset="0"/>
                <a:ea typeface="Georgia" pitchFamily="34" charset="-122"/>
                <a:cs typeface="Georgia" pitchFamily="34" charset="-120"/>
              </a:rPr>
              <a:t>DATA PREPROCESSING PIPELINE</a:t>
            </a:r>
            <a:endParaRPr lang="en-US" sz="2800" dirty="0">
              <a:latin typeface="Manrope ExtraBold" pitchFamily="2" charset="0"/>
            </a:endParaRPr>
          </a:p>
        </p:txBody>
      </p:sp>
      <p:sp>
        <p:nvSpPr>
          <p:cNvPr id="3" name="Circle Load"/>
          <p:cNvSpPr/>
          <p:nvPr/>
        </p:nvSpPr>
        <p:spPr>
          <a:xfrm>
            <a:off x="777240" y="2098548"/>
            <a:ext cx="347472" cy="347472"/>
          </a:xfrm>
          <a:prstGeom prst="ellipse">
            <a:avLst/>
          </a:prstGeom>
          <a:solidFill>
            <a:srgbClr val="1A4D80"/>
          </a:solidFill>
          <a:ln/>
        </p:spPr>
        <p:txBody>
          <a:bodyPr/>
          <a:lstStyle/>
          <a:p>
            <a:endParaRPr lang="es-CO"/>
          </a:p>
        </p:txBody>
      </p:sp>
      <p:sp>
        <p:nvSpPr>
          <p:cNvPr id="4" name="Num 1"/>
          <p:cNvSpPr/>
          <p:nvPr/>
        </p:nvSpPr>
        <p:spPr>
          <a:xfrm>
            <a:off x="777240" y="2098548"/>
            <a:ext cx="347472" cy="347472"/>
          </a:xfrm>
          <a:prstGeom prst="rect">
            <a:avLst/>
          </a:prstGeom>
          <a:noFill/>
          <a:ln/>
        </p:spPr>
        <p:txBody>
          <a:bodyPr wrap="square" lIns="0" tIns="0" rIns="0" bIns="0" rtlCol="0" anchor="ctr"/>
          <a:lstStyle/>
          <a:p>
            <a:pPr marL="0" indent="0" algn="ctr">
              <a:buNone/>
            </a:pPr>
            <a:r>
              <a:rPr lang="en-US" sz="1200" b="1">
                <a:solidFill>
                  <a:srgbClr val="FFFFFF"/>
                </a:solidFill>
                <a:latin typeface="Arial" pitchFamily="34" charset="0"/>
                <a:ea typeface="Arial" pitchFamily="34" charset="-122"/>
                <a:cs typeface="Arial" pitchFamily="34" charset="-120"/>
              </a:rPr>
              <a:t>1</a:t>
            </a:r>
            <a:endParaRPr lang="en-US" sz="1200"/>
          </a:p>
        </p:txBody>
      </p:sp>
      <p:sp>
        <p:nvSpPr>
          <p:cNvPr id="5" name="Label Load"/>
          <p:cNvSpPr/>
          <p:nvPr/>
        </p:nvSpPr>
        <p:spPr>
          <a:xfrm>
            <a:off x="457200" y="2491740"/>
            <a:ext cx="1005840" cy="256032"/>
          </a:xfrm>
          <a:prstGeom prst="rect">
            <a:avLst/>
          </a:prstGeom>
          <a:noFill/>
          <a:ln/>
        </p:spPr>
        <p:txBody>
          <a:bodyPr wrap="square" lIns="0" tIns="0" rIns="0" bIns="0" rtlCol="0" anchor="ctr"/>
          <a:lstStyle/>
          <a:p>
            <a:pPr marL="0" indent="0" algn="ctr">
              <a:buNone/>
            </a:pPr>
            <a:r>
              <a:rPr lang="en-US" sz="1150" b="1">
                <a:solidFill>
                  <a:srgbClr val="001940"/>
                </a:solidFill>
                <a:latin typeface="Arial" pitchFamily="34" charset="0"/>
                <a:ea typeface="Arial" pitchFamily="34" charset="-122"/>
                <a:cs typeface="Arial" pitchFamily="34" charset="-120"/>
              </a:rPr>
              <a:t>Load</a:t>
            </a:r>
            <a:endParaRPr lang="en-US" sz="1150"/>
          </a:p>
        </p:txBody>
      </p:sp>
      <p:sp>
        <p:nvSpPr>
          <p:cNvPr id="6" name="Desc Load"/>
          <p:cNvSpPr/>
          <p:nvPr/>
        </p:nvSpPr>
        <p:spPr>
          <a:xfrm>
            <a:off x="457200" y="2747772"/>
            <a:ext cx="1005840" cy="640080"/>
          </a:xfrm>
          <a:prstGeom prst="rect">
            <a:avLst/>
          </a:prstGeom>
          <a:noFill/>
          <a:ln/>
        </p:spPr>
        <p:txBody>
          <a:bodyPr wrap="square" lIns="0" tIns="0" rIns="0" bIns="0" rtlCol="0" anchor="ctr"/>
          <a:lstStyle/>
          <a:p>
            <a:pPr marL="0" indent="0" algn="ctr">
              <a:lnSpc>
                <a:spcPct val="110000"/>
              </a:lnSpc>
              <a:buNone/>
            </a:pPr>
            <a:r>
              <a:rPr lang="en-US" sz="900" dirty="0">
                <a:solidFill>
                  <a:srgbClr val="6B7280"/>
                </a:solidFill>
                <a:latin typeface="Arial" pitchFamily="34" charset="0"/>
                <a:ea typeface="Arial" pitchFamily="34" charset="-122"/>
                <a:cs typeface="Arial" pitchFamily="34" charset="-120"/>
              </a:rPr>
              <a:t>Raw FER-2013</a:t>
            </a:r>
            <a:endParaRPr lang="en-US" sz="900" dirty="0"/>
          </a:p>
          <a:p>
            <a:pPr marL="0" indent="0" algn="ctr">
              <a:lnSpc>
                <a:spcPct val="110000"/>
              </a:lnSpc>
              <a:buNone/>
            </a:pPr>
            <a:r>
              <a:rPr lang="en-US" sz="900" dirty="0">
                <a:solidFill>
                  <a:srgbClr val="6B7280"/>
                </a:solidFill>
                <a:latin typeface="Arial" pitchFamily="34" charset="0"/>
                <a:ea typeface="Arial" pitchFamily="34" charset="-122"/>
                <a:cs typeface="Arial" pitchFamily="34" charset="-120"/>
              </a:rPr>
              <a:t>image folders</a:t>
            </a:r>
            <a:endParaRPr lang="en-US" sz="900" dirty="0"/>
          </a:p>
        </p:txBody>
      </p:sp>
      <p:sp>
        <p:nvSpPr>
          <p:cNvPr id="7" name="Accent Load"/>
          <p:cNvSpPr/>
          <p:nvPr/>
        </p:nvSpPr>
        <p:spPr>
          <a:xfrm>
            <a:off x="467200" y="3467852"/>
            <a:ext cx="36000" cy="560000"/>
          </a:xfrm>
          <a:prstGeom prst="roundRect">
            <a:avLst>
              <a:gd name="adj" fmla="val 50000"/>
            </a:avLst>
          </a:prstGeom>
          <a:solidFill>
            <a:srgbClr val="D97706"/>
          </a:solidFill>
          <a:ln w="0">
            <a:noFill/>
          </a:ln>
        </p:spPr>
        <p:txBody>
          <a:bodyPr/>
          <a:lstStyle/>
          <a:p>
            <a:endParaRPr lang="es-CO"/>
          </a:p>
        </p:txBody>
      </p:sp>
      <p:sp>
        <p:nvSpPr>
          <p:cNvPr id="8" name="NoteBg Load"/>
          <p:cNvSpPr/>
          <p:nvPr/>
        </p:nvSpPr>
        <p:spPr>
          <a:xfrm>
            <a:off x="499200" y="3467852"/>
            <a:ext cx="953840" cy="560000"/>
          </a:xfrm>
          <a:prstGeom prst="rect">
            <a:avLst/>
          </a:prstGeom>
          <a:solidFill>
            <a:srgbClr val="FEF9F3"/>
          </a:solidFill>
          <a:ln w="0">
            <a:noFill/>
          </a:ln>
        </p:spPr>
        <p:txBody>
          <a:bodyPr/>
          <a:lstStyle/>
          <a:p>
            <a:endParaRPr lang="es-CO" dirty="0"/>
          </a:p>
        </p:txBody>
      </p:sp>
      <p:sp>
        <p:nvSpPr>
          <p:cNvPr id="9" name="Note Load"/>
          <p:cNvSpPr/>
          <p:nvPr/>
        </p:nvSpPr>
        <p:spPr>
          <a:xfrm>
            <a:off x="539200" y="3497852"/>
            <a:ext cx="903840" cy="500000"/>
          </a:xfrm>
          <a:prstGeom prst="rect">
            <a:avLst/>
          </a:prstGeom>
          <a:noFill/>
          <a:ln/>
        </p:spPr>
        <p:txBody>
          <a:bodyPr wrap="square" lIns="0" tIns="0" rIns="0" bIns="0" rtlCol="0" anchor="ctr"/>
          <a:lstStyle/>
          <a:p>
            <a:pPr marL="0" indent="0" algn="l">
              <a:lnSpc>
                <a:spcPct val="115000"/>
              </a:lnSpc>
              <a:buNone/>
            </a:pPr>
            <a:r>
              <a:rPr lang="en-US" sz="800" i="1">
                <a:solidFill>
                  <a:srgbClr val="2D3748"/>
                </a:solidFill>
                <a:latin typeface="Arial" pitchFamily="34" charset="0"/>
                <a:ea typeface="Arial" pitchFamily="34" charset="-122"/>
                <a:cs typeface="Arial" pitchFamily="34" charset="-120"/>
              </a:rPr>
              <a:t>FER-2013 Folder structure and File Lecture</a:t>
            </a:r>
            <a:endParaRPr lang="en-US" sz="800"/>
          </a:p>
        </p:txBody>
      </p:sp>
      <p:sp>
        <p:nvSpPr>
          <p:cNvPr id="10" name="Arrow 1"/>
          <p:cNvSpPr/>
          <p:nvPr/>
        </p:nvSpPr>
        <p:spPr>
          <a:xfrm>
            <a:off x="1463040" y="2098548"/>
            <a:ext cx="365760" cy="347472"/>
          </a:xfrm>
          <a:prstGeom prst="rect">
            <a:avLst/>
          </a:prstGeom>
          <a:noFill/>
          <a:ln/>
        </p:spPr>
        <p:txBody>
          <a:bodyPr wrap="square" lIns="0" tIns="0" rIns="0" bIns="0" rtlCol="0" anchor="ctr"/>
          <a:lstStyle/>
          <a:p>
            <a:pPr marL="0" indent="0" algn="ctr">
              <a:buNone/>
            </a:pPr>
            <a:r>
              <a:rPr lang="en-US" sz="1600">
                <a:solidFill>
                  <a:srgbClr val="5BA3E6"/>
                </a:solidFill>
                <a:latin typeface="Arial" pitchFamily="34" charset="0"/>
                <a:ea typeface="Arial" pitchFamily="34" charset="-122"/>
                <a:cs typeface="Arial" pitchFamily="34" charset="-120"/>
              </a:rPr>
              <a:t>→</a:t>
            </a:r>
            <a:endParaRPr lang="en-US" sz="1600"/>
          </a:p>
        </p:txBody>
      </p:sp>
      <p:sp>
        <p:nvSpPr>
          <p:cNvPr id="11" name="Circle Resize"/>
          <p:cNvSpPr/>
          <p:nvPr/>
        </p:nvSpPr>
        <p:spPr>
          <a:xfrm>
            <a:off x="2194560" y="2098548"/>
            <a:ext cx="347472" cy="347472"/>
          </a:xfrm>
          <a:prstGeom prst="ellipse">
            <a:avLst/>
          </a:prstGeom>
          <a:solidFill>
            <a:srgbClr val="1A4D80"/>
          </a:solidFill>
          <a:ln/>
        </p:spPr>
        <p:txBody>
          <a:bodyPr/>
          <a:lstStyle/>
          <a:p>
            <a:endParaRPr lang="es-CO"/>
          </a:p>
        </p:txBody>
      </p:sp>
      <p:sp>
        <p:nvSpPr>
          <p:cNvPr id="12" name="Num 2"/>
          <p:cNvSpPr/>
          <p:nvPr/>
        </p:nvSpPr>
        <p:spPr>
          <a:xfrm>
            <a:off x="2194560" y="2098548"/>
            <a:ext cx="347472" cy="347472"/>
          </a:xfrm>
          <a:prstGeom prst="rect">
            <a:avLst/>
          </a:prstGeom>
          <a:noFill/>
          <a:ln/>
        </p:spPr>
        <p:txBody>
          <a:bodyPr wrap="square" lIns="0" tIns="0" rIns="0" bIns="0" rtlCol="0" anchor="ctr"/>
          <a:lstStyle/>
          <a:p>
            <a:pPr marL="0" indent="0" algn="ctr">
              <a:buNone/>
            </a:pPr>
            <a:r>
              <a:rPr lang="en-US" sz="1200" b="1">
                <a:solidFill>
                  <a:srgbClr val="FFFFFF"/>
                </a:solidFill>
                <a:latin typeface="Arial" pitchFamily="34" charset="0"/>
                <a:ea typeface="Arial" pitchFamily="34" charset="-122"/>
                <a:cs typeface="Arial" pitchFamily="34" charset="-120"/>
              </a:rPr>
              <a:t>2</a:t>
            </a:r>
            <a:endParaRPr lang="en-US" sz="1200"/>
          </a:p>
        </p:txBody>
      </p:sp>
      <p:sp>
        <p:nvSpPr>
          <p:cNvPr id="13" name="Label Resize"/>
          <p:cNvSpPr/>
          <p:nvPr/>
        </p:nvSpPr>
        <p:spPr>
          <a:xfrm>
            <a:off x="1874520" y="2491740"/>
            <a:ext cx="1005840" cy="256032"/>
          </a:xfrm>
          <a:prstGeom prst="rect">
            <a:avLst/>
          </a:prstGeom>
          <a:noFill/>
          <a:ln/>
        </p:spPr>
        <p:txBody>
          <a:bodyPr wrap="square" lIns="0" tIns="0" rIns="0" bIns="0" rtlCol="0" anchor="ctr"/>
          <a:lstStyle/>
          <a:p>
            <a:pPr marL="0" indent="0" algn="ctr">
              <a:buNone/>
            </a:pPr>
            <a:r>
              <a:rPr lang="en-US" sz="1150" b="1">
                <a:solidFill>
                  <a:srgbClr val="001940"/>
                </a:solidFill>
                <a:latin typeface="Arial" pitchFamily="34" charset="0"/>
                <a:ea typeface="Arial" pitchFamily="34" charset="-122"/>
                <a:cs typeface="Arial" pitchFamily="34" charset="-120"/>
              </a:rPr>
              <a:t>Resize</a:t>
            </a:r>
            <a:endParaRPr lang="en-US" sz="1150"/>
          </a:p>
        </p:txBody>
      </p:sp>
      <p:sp>
        <p:nvSpPr>
          <p:cNvPr id="14" name="Desc Resize"/>
          <p:cNvSpPr/>
          <p:nvPr/>
        </p:nvSpPr>
        <p:spPr>
          <a:xfrm>
            <a:off x="1874520" y="2747772"/>
            <a:ext cx="1005840" cy="640080"/>
          </a:xfrm>
          <a:prstGeom prst="rect">
            <a:avLst/>
          </a:prstGeom>
          <a:noFill/>
          <a:ln/>
        </p:spPr>
        <p:txBody>
          <a:bodyPr wrap="square" lIns="0" tIns="0" rIns="0" bIns="0" rtlCol="0" anchor="ctr"/>
          <a:lstStyle/>
          <a:p>
            <a:pPr marL="0" indent="0" algn="ctr">
              <a:lnSpc>
                <a:spcPct val="110000"/>
              </a:lnSpc>
              <a:buNone/>
            </a:pPr>
            <a:r>
              <a:rPr lang="en-US" sz="900">
                <a:solidFill>
                  <a:srgbClr val="6B7280"/>
                </a:solidFill>
                <a:latin typeface="Arial" pitchFamily="34" charset="0"/>
                <a:ea typeface="Arial" pitchFamily="34" charset="-122"/>
                <a:cs typeface="Arial" pitchFamily="34" charset="-120"/>
              </a:rPr>
              <a:t>Normalize to</a:t>
            </a:r>
            <a:endParaRPr lang="en-US" sz="900"/>
          </a:p>
          <a:p>
            <a:pPr marL="0" indent="0" algn="ctr">
              <a:lnSpc>
                <a:spcPct val="110000"/>
              </a:lnSpc>
              <a:buNone/>
            </a:pPr>
            <a:r>
              <a:rPr lang="en-US" sz="900">
                <a:solidFill>
                  <a:srgbClr val="6B7280"/>
                </a:solidFill>
                <a:latin typeface="Arial" pitchFamily="34" charset="0"/>
                <a:ea typeface="Arial" pitchFamily="34" charset="-122"/>
                <a:cs typeface="Arial" pitchFamily="34" charset="-120"/>
              </a:rPr>
              <a:t>[0, 1] range</a:t>
            </a:r>
            <a:endParaRPr lang="en-US" sz="900"/>
          </a:p>
        </p:txBody>
      </p:sp>
      <p:sp>
        <p:nvSpPr>
          <p:cNvPr id="15" name="Accent Resize"/>
          <p:cNvSpPr/>
          <p:nvPr/>
        </p:nvSpPr>
        <p:spPr>
          <a:xfrm>
            <a:off x="1884520" y="3467852"/>
            <a:ext cx="36000" cy="560000"/>
          </a:xfrm>
          <a:prstGeom prst="roundRect">
            <a:avLst>
              <a:gd name="adj" fmla="val 50000"/>
            </a:avLst>
          </a:prstGeom>
          <a:solidFill>
            <a:srgbClr val="D97706"/>
          </a:solidFill>
          <a:ln w="0">
            <a:noFill/>
          </a:ln>
        </p:spPr>
        <p:txBody>
          <a:bodyPr/>
          <a:lstStyle/>
          <a:p>
            <a:endParaRPr lang="es-CO"/>
          </a:p>
        </p:txBody>
      </p:sp>
      <p:sp>
        <p:nvSpPr>
          <p:cNvPr id="16" name="NoteBg Resize"/>
          <p:cNvSpPr/>
          <p:nvPr/>
        </p:nvSpPr>
        <p:spPr>
          <a:xfrm>
            <a:off x="1916520" y="3467852"/>
            <a:ext cx="953840" cy="560000"/>
          </a:xfrm>
          <a:prstGeom prst="rect">
            <a:avLst/>
          </a:prstGeom>
          <a:solidFill>
            <a:srgbClr val="FEF9F3"/>
          </a:solidFill>
          <a:ln w="0">
            <a:noFill/>
          </a:ln>
        </p:spPr>
        <p:txBody>
          <a:bodyPr/>
          <a:lstStyle/>
          <a:p>
            <a:endParaRPr lang="es-CO"/>
          </a:p>
        </p:txBody>
      </p:sp>
      <p:sp>
        <p:nvSpPr>
          <p:cNvPr id="17" name="Note Resize"/>
          <p:cNvSpPr/>
          <p:nvPr/>
        </p:nvSpPr>
        <p:spPr>
          <a:xfrm>
            <a:off x="1956520" y="3497852"/>
            <a:ext cx="903840" cy="500000"/>
          </a:xfrm>
          <a:prstGeom prst="rect">
            <a:avLst/>
          </a:prstGeom>
          <a:noFill/>
          <a:ln/>
        </p:spPr>
        <p:txBody>
          <a:bodyPr wrap="square" lIns="0" tIns="0" rIns="0" bIns="0" rtlCol="0" anchor="ctr"/>
          <a:lstStyle/>
          <a:p>
            <a:pPr marL="0" indent="0" algn="l">
              <a:lnSpc>
                <a:spcPct val="115000"/>
              </a:lnSpc>
              <a:buNone/>
            </a:pPr>
            <a:r>
              <a:rPr lang="en-US" sz="800" i="1">
                <a:solidFill>
                  <a:srgbClr val="2D3748"/>
                </a:solidFill>
                <a:latin typeface="Arial" pitchFamily="34" charset="0"/>
                <a:ea typeface="Arial" pitchFamily="34" charset="-122"/>
                <a:cs typeface="Arial" pitchFamily="34" charset="-120"/>
              </a:rPr>
              <a:t>Pixel value color normalize to improve model learning</a:t>
            </a:r>
            <a:endParaRPr lang="en-US" sz="800"/>
          </a:p>
        </p:txBody>
      </p:sp>
      <p:sp>
        <p:nvSpPr>
          <p:cNvPr id="18" name="Arrow 2"/>
          <p:cNvSpPr/>
          <p:nvPr/>
        </p:nvSpPr>
        <p:spPr>
          <a:xfrm>
            <a:off x="2880360" y="2098548"/>
            <a:ext cx="365760" cy="347472"/>
          </a:xfrm>
          <a:prstGeom prst="rect">
            <a:avLst/>
          </a:prstGeom>
          <a:noFill/>
          <a:ln/>
        </p:spPr>
        <p:txBody>
          <a:bodyPr wrap="square" lIns="0" tIns="0" rIns="0" bIns="0" rtlCol="0" anchor="ctr"/>
          <a:lstStyle/>
          <a:p>
            <a:pPr marL="0" indent="0" algn="ctr">
              <a:buNone/>
            </a:pPr>
            <a:r>
              <a:rPr lang="en-US" sz="1600">
                <a:solidFill>
                  <a:srgbClr val="5BA3E6"/>
                </a:solidFill>
                <a:latin typeface="Arial" pitchFamily="34" charset="0"/>
                <a:ea typeface="Arial" pitchFamily="34" charset="-122"/>
                <a:cs typeface="Arial" pitchFamily="34" charset="-120"/>
              </a:rPr>
              <a:t>→</a:t>
            </a:r>
            <a:endParaRPr lang="en-US" sz="1600"/>
          </a:p>
        </p:txBody>
      </p:sp>
      <p:sp>
        <p:nvSpPr>
          <p:cNvPr id="19" name="Circle Encode"/>
          <p:cNvSpPr/>
          <p:nvPr/>
        </p:nvSpPr>
        <p:spPr>
          <a:xfrm>
            <a:off x="3611880" y="2098548"/>
            <a:ext cx="347472" cy="347472"/>
          </a:xfrm>
          <a:prstGeom prst="ellipse">
            <a:avLst/>
          </a:prstGeom>
          <a:solidFill>
            <a:srgbClr val="1A4D80"/>
          </a:solidFill>
          <a:ln/>
        </p:spPr>
        <p:txBody>
          <a:bodyPr/>
          <a:lstStyle/>
          <a:p>
            <a:endParaRPr lang="es-CO"/>
          </a:p>
        </p:txBody>
      </p:sp>
      <p:sp>
        <p:nvSpPr>
          <p:cNvPr id="20" name="Num 3"/>
          <p:cNvSpPr/>
          <p:nvPr/>
        </p:nvSpPr>
        <p:spPr>
          <a:xfrm>
            <a:off x="3611880" y="2098548"/>
            <a:ext cx="347472" cy="347472"/>
          </a:xfrm>
          <a:prstGeom prst="rect">
            <a:avLst/>
          </a:prstGeom>
          <a:noFill/>
          <a:ln/>
        </p:spPr>
        <p:txBody>
          <a:bodyPr wrap="square" lIns="0" tIns="0" rIns="0" bIns="0" rtlCol="0" anchor="ctr"/>
          <a:lstStyle/>
          <a:p>
            <a:pPr marL="0" indent="0" algn="ctr">
              <a:buNone/>
            </a:pPr>
            <a:r>
              <a:rPr lang="en-US" sz="1200" b="1">
                <a:solidFill>
                  <a:srgbClr val="FFFFFF"/>
                </a:solidFill>
                <a:latin typeface="Arial" pitchFamily="34" charset="0"/>
                <a:ea typeface="Arial" pitchFamily="34" charset="-122"/>
                <a:cs typeface="Arial" pitchFamily="34" charset="-120"/>
              </a:rPr>
              <a:t>3</a:t>
            </a:r>
            <a:endParaRPr lang="en-US" sz="1200"/>
          </a:p>
        </p:txBody>
      </p:sp>
      <p:sp>
        <p:nvSpPr>
          <p:cNvPr id="21" name="Label Encode"/>
          <p:cNvSpPr/>
          <p:nvPr/>
        </p:nvSpPr>
        <p:spPr>
          <a:xfrm>
            <a:off x="3291840" y="2491740"/>
            <a:ext cx="1005840" cy="256032"/>
          </a:xfrm>
          <a:prstGeom prst="rect">
            <a:avLst/>
          </a:prstGeom>
          <a:noFill/>
          <a:ln/>
        </p:spPr>
        <p:txBody>
          <a:bodyPr wrap="square" lIns="0" tIns="0" rIns="0" bIns="0" rtlCol="0" anchor="ctr"/>
          <a:lstStyle/>
          <a:p>
            <a:pPr marL="0" indent="0" algn="ctr">
              <a:buNone/>
            </a:pPr>
            <a:r>
              <a:rPr lang="en-US" sz="1150" b="1">
                <a:solidFill>
                  <a:srgbClr val="001940"/>
                </a:solidFill>
                <a:latin typeface="Arial" pitchFamily="34" charset="0"/>
                <a:ea typeface="Arial" pitchFamily="34" charset="-122"/>
                <a:cs typeface="Arial" pitchFamily="34" charset="-120"/>
              </a:rPr>
              <a:t>Encode</a:t>
            </a:r>
            <a:endParaRPr lang="en-US" sz="1150"/>
          </a:p>
        </p:txBody>
      </p:sp>
      <p:sp>
        <p:nvSpPr>
          <p:cNvPr id="22" name="Desc Encode"/>
          <p:cNvSpPr/>
          <p:nvPr/>
        </p:nvSpPr>
        <p:spPr>
          <a:xfrm>
            <a:off x="3291840" y="2747772"/>
            <a:ext cx="1005840" cy="640080"/>
          </a:xfrm>
          <a:prstGeom prst="rect">
            <a:avLst/>
          </a:prstGeom>
          <a:noFill/>
          <a:ln/>
        </p:spPr>
        <p:txBody>
          <a:bodyPr wrap="square" lIns="0" tIns="0" rIns="0" bIns="0" rtlCol="0" anchor="ctr"/>
          <a:lstStyle/>
          <a:p>
            <a:pPr marL="0" indent="0" algn="ctr">
              <a:lnSpc>
                <a:spcPct val="110000"/>
              </a:lnSpc>
              <a:buNone/>
            </a:pPr>
            <a:r>
              <a:rPr lang="en-US" sz="900">
                <a:solidFill>
                  <a:srgbClr val="6B7280"/>
                </a:solidFill>
                <a:latin typeface="Arial" pitchFamily="34" charset="0"/>
                <a:ea typeface="Arial" pitchFamily="34" charset="-122"/>
                <a:cs typeface="Arial" pitchFamily="34" charset="-120"/>
              </a:rPr>
              <a:t>Label encoding</a:t>
            </a:r>
            <a:endParaRPr lang="en-US" sz="900"/>
          </a:p>
          <a:p>
            <a:pPr marL="0" indent="0" algn="ctr">
              <a:lnSpc>
                <a:spcPct val="110000"/>
              </a:lnSpc>
              <a:buNone/>
            </a:pPr>
            <a:r>
              <a:rPr lang="en-US" sz="900">
                <a:solidFill>
                  <a:srgbClr val="6B7280"/>
                </a:solidFill>
                <a:latin typeface="Arial" pitchFamily="34" charset="0"/>
                <a:ea typeface="Arial" pitchFamily="34" charset="-122"/>
                <a:cs typeface="Arial" pitchFamily="34" charset="-120"/>
              </a:rPr>
              <a:t>&amp; one-hot</a:t>
            </a:r>
            <a:endParaRPr lang="en-US" sz="900"/>
          </a:p>
        </p:txBody>
      </p:sp>
      <p:sp>
        <p:nvSpPr>
          <p:cNvPr id="23" name="Accent Encode"/>
          <p:cNvSpPr/>
          <p:nvPr/>
        </p:nvSpPr>
        <p:spPr>
          <a:xfrm>
            <a:off x="3301840" y="3467852"/>
            <a:ext cx="36000" cy="560000"/>
          </a:xfrm>
          <a:prstGeom prst="roundRect">
            <a:avLst>
              <a:gd name="adj" fmla="val 50000"/>
            </a:avLst>
          </a:prstGeom>
          <a:solidFill>
            <a:srgbClr val="D97706"/>
          </a:solidFill>
          <a:ln w="0">
            <a:noFill/>
          </a:ln>
        </p:spPr>
        <p:txBody>
          <a:bodyPr/>
          <a:lstStyle/>
          <a:p>
            <a:endParaRPr lang="es-CO"/>
          </a:p>
        </p:txBody>
      </p:sp>
      <p:sp>
        <p:nvSpPr>
          <p:cNvPr id="24" name="NoteBg Encode"/>
          <p:cNvSpPr/>
          <p:nvPr/>
        </p:nvSpPr>
        <p:spPr>
          <a:xfrm>
            <a:off x="3333840" y="3467852"/>
            <a:ext cx="953840" cy="560000"/>
          </a:xfrm>
          <a:prstGeom prst="rect">
            <a:avLst/>
          </a:prstGeom>
          <a:solidFill>
            <a:srgbClr val="FEF9F3"/>
          </a:solidFill>
          <a:ln w="0">
            <a:noFill/>
          </a:ln>
        </p:spPr>
        <p:txBody>
          <a:bodyPr/>
          <a:lstStyle/>
          <a:p>
            <a:endParaRPr lang="es-CO"/>
          </a:p>
        </p:txBody>
      </p:sp>
      <p:sp>
        <p:nvSpPr>
          <p:cNvPr id="25" name="Note Encode"/>
          <p:cNvSpPr/>
          <p:nvPr/>
        </p:nvSpPr>
        <p:spPr>
          <a:xfrm>
            <a:off x="3373840" y="3497852"/>
            <a:ext cx="903840" cy="500000"/>
          </a:xfrm>
          <a:prstGeom prst="rect">
            <a:avLst/>
          </a:prstGeom>
          <a:noFill/>
          <a:ln/>
        </p:spPr>
        <p:txBody>
          <a:bodyPr wrap="square" lIns="0" tIns="0" rIns="0" bIns="0" rtlCol="0" anchor="ctr"/>
          <a:lstStyle/>
          <a:p>
            <a:pPr marL="0" indent="0" algn="l">
              <a:lnSpc>
                <a:spcPct val="115000"/>
              </a:lnSpc>
              <a:buNone/>
            </a:pPr>
            <a:r>
              <a:rPr lang="en-US" sz="800" i="1" dirty="0">
                <a:solidFill>
                  <a:srgbClr val="2D3748"/>
                </a:solidFill>
                <a:latin typeface="Arial" pitchFamily="34" charset="0"/>
                <a:ea typeface="Arial" pitchFamily="34" charset="-122"/>
                <a:cs typeface="Arial" pitchFamily="34" charset="-120"/>
              </a:rPr>
              <a:t>Label identification and encoding to avoid expression hierarchy</a:t>
            </a:r>
            <a:endParaRPr lang="en-US" sz="800" dirty="0"/>
          </a:p>
        </p:txBody>
      </p:sp>
      <p:sp>
        <p:nvSpPr>
          <p:cNvPr id="26" name="Arrow 3"/>
          <p:cNvSpPr/>
          <p:nvPr/>
        </p:nvSpPr>
        <p:spPr>
          <a:xfrm>
            <a:off x="4297680" y="2098548"/>
            <a:ext cx="365760" cy="347472"/>
          </a:xfrm>
          <a:prstGeom prst="rect">
            <a:avLst/>
          </a:prstGeom>
          <a:noFill/>
          <a:ln/>
        </p:spPr>
        <p:txBody>
          <a:bodyPr wrap="square" lIns="0" tIns="0" rIns="0" bIns="0" rtlCol="0" anchor="ctr"/>
          <a:lstStyle/>
          <a:p>
            <a:pPr marL="0" indent="0" algn="ctr">
              <a:buNone/>
            </a:pPr>
            <a:r>
              <a:rPr lang="en-US" sz="1600">
                <a:solidFill>
                  <a:srgbClr val="5BA3E6"/>
                </a:solidFill>
                <a:latin typeface="Arial" pitchFamily="34" charset="0"/>
                <a:ea typeface="Arial" pitchFamily="34" charset="-122"/>
                <a:cs typeface="Arial" pitchFamily="34" charset="-120"/>
              </a:rPr>
              <a:t>→</a:t>
            </a:r>
            <a:endParaRPr lang="en-US" sz="1600"/>
          </a:p>
        </p:txBody>
      </p:sp>
      <p:sp>
        <p:nvSpPr>
          <p:cNvPr id="27" name="Circle Split"/>
          <p:cNvSpPr/>
          <p:nvPr/>
        </p:nvSpPr>
        <p:spPr>
          <a:xfrm>
            <a:off x="5029200" y="2098548"/>
            <a:ext cx="347472" cy="347472"/>
          </a:xfrm>
          <a:prstGeom prst="ellipse">
            <a:avLst/>
          </a:prstGeom>
          <a:solidFill>
            <a:srgbClr val="1A4D80"/>
          </a:solidFill>
          <a:ln/>
        </p:spPr>
        <p:txBody>
          <a:bodyPr/>
          <a:lstStyle/>
          <a:p>
            <a:endParaRPr lang="es-CO"/>
          </a:p>
        </p:txBody>
      </p:sp>
      <p:sp>
        <p:nvSpPr>
          <p:cNvPr id="28" name="Num 4"/>
          <p:cNvSpPr/>
          <p:nvPr/>
        </p:nvSpPr>
        <p:spPr>
          <a:xfrm>
            <a:off x="5029200" y="2098548"/>
            <a:ext cx="347472" cy="347472"/>
          </a:xfrm>
          <a:prstGeom prst="rect">
            <a:avLst/>
          </a:prstGeom>
          <a:noFill/>
          <a:ln/>
        </p:spPr>
        <p:txBody>
          <a:bodyPr wrap="square" lIns="0" tIns="0" rIns="0" bIns="0" rtlCol="0" anchor="ctr"/>
          <a:lstStyle/>
          <a:p>
            <a:pPr marL="0" indent="0" algn="ctr">
              <a:buNone/>
            </a:pPr>
            <a:r>
              <a:rPr lang="en-US" sz="1200" b="1">
                <a:solidFill>
                  <a:srgbClr val="FFFFFF"/>
                </a:solidFill>
                <a:latin typeface="Arial" pitchFamily="34" charset="0"/>
                <a:ea typeface="Arial" pitchFamily="34" charset="-122"/>
                <a:cs typeface="Arial" pitchFamily="34" charset="-120"/>
              </a:rPr>
              <a:t>4</a:t>
            </a:r>
            <a:endParaRPr lang="en-US" sz="1200"/>
          </a:p>
        </p:txBody>
      </p:sp>
      <p:sp>
        <p:nvSpPr>
          <p:cNvPr id="29" name="Label Split"/>
          <p:cNvSpPr/>
          <p:nvPr/>
        </p:nvSpPr>
        <p:spPr>
          <a:xfrm>
            <a:off x="4709160" y="2491740"/>
            <a:ext cx="1005840" cy="256032"/>
          </a:xfrm>
          <a:prstGeom prst="rect">
            <a:avLst/>
          </a:prstGeom>
          <a:noFill/>
          <a:ln/>
        </p:spPr>
        <p:txBody>
          <a:bodyPr wrap="square" lIns="0" tIns="0" rIns="0" bIns="0" rtlCol="0" anchor="ctr"/>
          <a:lstStyle/>
          <a:p>
            <a:pPr marL="0" indent="0" algn="ctr">
              <a:buNone/>
            </a:pPr>
            <a:r>
              <a:rPr lang="en-US" sz="1150" b="1">
                <a:solidFill>
                  <a:srgbClr val="001940"/>
                </a:solidFill>
                <a:latin typeface="Arial" pitchFamily="34" charset="0"/>
                <a:ea typeface="Arial" pitchFamily="34" charset="-122"/>
                <a:cs typeface="Arial" pitchFamily="34" charset="-120"/>
              </a:rPr>
              <a:t>Split</a:t>
            </a:r>
            <a:endParaRPr lang="en-US" sz="1150"/>
          </a:p>
        </p:txBody>
      </p:sp>
      <p:sp>
        <p:nvSpPr>
          <p:cNvPr id="30" name="Desc Split"/>
          <p:cNvSpPr/>
          <p:nvPr/>
        </p:nvSpPr>
        <p:spPr>
          <a:xfrm>
            <a:off x="4709160" y="2747772"/>
            <a:ext cx="1005840" cy="640080"/>
          </a:xfrm>
          <a:prstGeom prst="rect">
            <a:avLst/>
          </a:prstGeom>
          <a:noFill/>
          <a:ln/>
        </p:spPr>
        <p:txBody>
          <a:bodyPr wrap="square" lIns="0" tIns="0" rIns="0" bIns="0" rtlCol="0" anchor="ctr"/>
          <a:lstStyle/>
          <a:p>
            <a:pPr marL="0" indent="0" algn="ctr">
              <a:lnSpc>
                <a:spcPct val="110000"/>
              </a:lnSpc>
              <a:buNone/>
            </a:pPr>
            <a:r>
              <a:rPr lang="en-US" sz="900">
                <a:solidFill>
                  <a:srgbClr val="6B7280"/>
                </a:solidFill>
                <a:latin typeface="Arial" pitchFamily="34" charset="0"/>
                <a:ea typeface="Arial" pitchFamily="34" charset="-122"/>
                <a:cs typeface="Arial" pitchFamily="34" charset="-120"/>
              </a:rPr>
              <a:t>Stratified</a:t>
            </a:r>
            <a:endParaRPr lang="en-US" sz="900"/>
          </a:p>
          <a:p>
            <a:pPr marL="0" indent="0" algn="ctr">
              <a:lnSpc>
                <a:spcPct val="110000"/>
              </a:lnSpc>
              <a:buNone/>
            </a:pPr>
            <a:r>
              <a:rPr lang="en-US" sz="900">
                <a:solidFill>
                  <a:srgbClr val="6B7280"/>
                </a:solidFill>
                <a:latin typeface="Arial" pitchFamily="34" charset="0"/>
                <a:ea typeface="Arial" pitchFamily="34" charset="-122"/>
                <a:cs typeface="Arial" pitchFamily="34" charset="-120"/>
              </a:rPr>
              <a:t>train/val/test</a:t>
            </a:r>
            <a:endParaRPr lang="en-US" sz="900"/>
          </a:p>
        </p:txBody>
      </p:sp>
      <p:sp>
        <p:nvSpPr>
          <p:cNvPr id="31" name="Accent Split"/>
          <p:cNvSpPr/>
          <p:nvPr/>
        </p:nvSpPr>
        <p:spPr>
          <a:xfrm>
            <a:off x="4719160" y="3467852"/>
            <a:ext cx="36000" cy="560000"/>
          </a:xfrm>
          <a:prstGeom prst="roundRect">
            <a:avLst>
              <a:gd name="adj" fmla="val 50000"/>
            </a:avLst>
          </a:prstGeom>
          <a:solidFill>
            <a:srgbClr val="D97706"/>
          </a:solidFill>
          <a:ln w="0">
            <a:noFill/>
          </a:ln>
        </p:spPr>
        <p:txBody>
          <a:bodyPr/>
          <a:lstStyle/>
          <a:p>
            <a:endParaRPr lang="es-CO"/>
          </a:p>
        </p:txBody>
      </p:sp>
      <p:sp>
        <p:nvSpPr>
          <p:cNvPr id="32" name="NoteBg Split"/>
          <p:cNvSpPr/>
          <p:nvPr/>
        </p:nvSpPr>
        <p:spPr>
          <a:xfrm>
            <a:off x="4751160" y="3467852"/>
            <a:ext cx="953840" cy="560000"/>
          </a:xfrm>
          <a:prstGeom prst="rect">
            <a:avLst/>
          </a:prstGeom>
          <a:solidFill>
            <a:srgbClr val="FEF9F3"/>
          </a:solidFill>
          <a:ln w="0">
            <a:noFill/>
          </a:ln>
        </p:spPr>
        <p:txBody>
          <a:bodyPr/>
          <a:lstStyle/>
          <a:p>
            <a:endParaRPr lang="es-CO"/>
          </a:p>
        </p:txBody>
      </p:sp>
      <p:sp>
        <p:nvSpPr>
          <p:cNvPr id="33" name="Note Split"/>
          <p:cNvSpPr/>
          <p:nvPr/>
        </p:nvSpPr>
        <p:spPr>
          <a:xfrm>
            <a:off x="4791160" y="3497852"/>
            <a:ext cx="903840" cy="500000"/>
          </a:xfrm>
          <a:prstGeom prst="rect">
            <a:avLst/>
          </a:prstGeom>
          <a:noFill/>
          <a:ln/>
        </p:spPr>
        <p:txBody>
          <a:bodyPr wrap="square" lIns="0" tIns="0" rIns="0" bIns="0" rtlCol="0" anchor="ctr"/>
          <a:lstStyle/>
          <a:p>
            <a:pPr marL="0" indent="0" algn="l">
              <a:lnSpc>
                <a:spcPct val="115000"/>
              </a:lnSpc>
              <a:buNone/>
            </a:pPr>
            <a:r>
              <a:rPr lang="en-US" sz="800" i="1">
                <a:solidFill>
                  <a:srgbClr val="2D3748"/>
                </a:solidFill>
                <a:latin typeface="Arial" pitchFamily="34" charset="0"/>
                <a:ea typeface="Arial" pitchFamily="34" charset="-122"/>
                <a:cs typeface="Arial" pitchFamily="34" charset="-120"/>
              </a:rPr>
              <a:t>Split test set (FER 2013 structure) in a half stratified</a:t>
            </a:r>
            <a:endParaRPr lang="en-US" sz="800"/>
          </a:p>
        </p:txBody>
      </p:sp>
      <p:sp>
        <p:nvSpPr>
          <p:cNvPr id="34" name="Arrow 4"/>
          <p:cNvSpPr/>
          <p:nvPr/>
        </p:nvSpPr>
        <p:spPr>
          <a:xfrm>
            <a:off x="5715000" y="2098548"/>
            <a:ext cx="365760" cy="347472"/>
          </a:xfrm>
          <a:prstGeom prst="rect">
            <a:avLst/>
          </a:prstGeom>
          <a:noFill/>
          <a:ln/>
        </p:spPr>
        <p:txBody>
          <a:bodyPr wrap="square" lIns="0" tIns="0" rIns="0" bIns="0" rtlCol="0" anchor="ctr"/>
          <a:lstStyle/>
          <a:p>
            <a:pPr marL="0" indent="0" algn="ctr">
              <a:buNone/>
            </a:pPr>
            <a:r>
              <a:rPr lang="en-US" sz="1600">
                <a:solidFill>
                  <a:srgbClr val="5BA3E6"/>
                </a:solidFill>
                <a:latin typeface="Arial" pitchFamily="34" charset="0"/>
                <a:ea typeface="Arial" pitchFamily="34" charset="-122"/>
                <a:cs typeface="Arial" pitchFamily="34" charset="-120"/>
              </a:rPr>
              <a:t>→</a:t>
            </a:r>
            <a:endParaRPr lang="en-US" sz="1600"/>
          </a:p>
        </p:txBody>
      </p:sp>
      <p:sp>
        <p:nvSpPr>
          <p:cNvPr id="35" name="Circle Clean"/>
          <p:cNvSpPr/>
          <p:nvPr/>
        </p:nvSpPr>
        <p:spPr>
          <a:xfrm>
            <a:off x="6446520" y="2098548"/>
            <a:ext cx="347472" cy="347472"/>
          </a:xfrm>
          <a:prstGeom prst="ellipse">
            <a:avLst/>
          </a:prstGeom>
          <a:solidFill>
            <a:srgbClr val="1A4D80"/>
          </a:solidFill>
          <a:ln/>
        </p:spPr>
        <p:txBody>
          <a:bodyPr/>
          <a:lstStyle/>
          <a:p>
            <a:endParaRPr lang="es-CO"/>
          </a:p>
        </p:txBody>
      </p:sp>
      <p:sp>
        <p:nvSpPr>
          <p:cNvPr id="36" name="Num 5"/>
          <p:cNvSpPr/>
          <p:nvPr/>
        </p:nvSpPr>
        <p:spPr>
          <a:xfrm>
            <a:off x="6446520" y="2098548"/>
            <a:ext cx="347472" cy="347472"/>
          </a:xfrm>
          <a:prstGeom prst="rect">
            <a:avLst/>
          </a:prstGeom>
          <a:noFill/>
          <a:ln/>
        </p:spPr>
        <p:txBody>
          <a:bodyPr wrap="square" lIns="0" tIns="0" rIns="0" bIns="0" rtlCol="0" anchor="ctr"/>
          <a:lstStyle/>
          <a:p>
            <a:pPr marL="0" indent="0" algn="ctr">
              <a:buNone/>
            </a:pPr>
            <a:r>
              <a:rPr lang="en-US" sz="1200" b="1">
                <a:solidFill>
                  <a:srgbClr val="FFFFFF"/>
                </a:solidFill>
                <a:latin typeface="Arial" pitchFamily="34" charset="0"/>
                <a:ea typeface="Arial" pitchFamily="34" charset="-122"/>
                <a:cs typeface="Arial" pitchFamily="34" charset="-120"/>
              </a:rPr>
              <a:t>5</a:t>
            </a:r>
            <a:endParaRPr lang="en-US" sz="1200"/>
          </a:p>
        </p:txBody>
      </p:sp>
      <p:sp>
        <p:nvSpPr>
          <p:cNvPr id="37" name="Label Clean"/>
          <p:cNvSpPr/>
          <p:nvPr/>
        </p:nvSpPr>
        <p:spPr>
          <a:xfrm>
            <a:off x="6126480" y="2491740"/>
            <a:ext cx="1005840" cy="256032"/>
          </a:xfrm>
          <a:prstGeom prst="rect">
            <a:avLst/>
          </a:prstGeom>
          <a:noFill/>
          <a:ln/>
        </p:spPr>
        <p:txBody>
          <a:bodyPr wrap="square" lIns="0" tIns="0" rIns="0" bIns="0" rtlCol="0" anchor="ctr"/>
          <a:lstStyle/>
          <a:p>
            <a:pPr marL="0" indent="0" algn="ctr">
              <a:buNone/>
            </a:pPr>
            <a:r>
              <a:rPr lang="en-US" sz="1150" b="1">
                <a:solidFill>
                  <a:srgbClr val="001940"/>
                </a:solidFill>
                <a:latin typeface="Arial" pitchFamily="34" charset="0"/>
                <a:ea typeface="Arial" pitchFamily="34" charset="-122"/>
                <a:cs typeface="Arial" pitchFamily="34" charset="-120"/>
              </a:rPr>
              <a:t>Clean</a:t>
            </a:r>
            <a:endParaRPr lang="en-US" sz="1150"/>
          </a:p>
        </p:txBody>
      </p:sp>
      <p:sp>
        <p:nvSpPr>
          <p:cNvPr id="38" name="Desc Clean"/>
          <p:cNvSpPr/>
          <p:nvPr/>
        </p:nvSpPr>
        <p:spPr>
          <a:xfrm>
            <a:off x="6126480" y="2747772"/>
            <a:ext cx="1005840" cy="640080"/>
          </a:xfrm>
          <a:prstGeom prst="rect">
            <a:avLst/>
          </a:prstGeom>
          <a:noFill/>
          <a:ln/>
        </p:spPr>
        <p:txBody>
          <a:bodyPr wrap="square" lIns="0" tIns="0" rIns="0" bIns="0" rtlCol="0" anchor="ctr"/>
          <a:lstStyle/>
          <a:p>
            <a:pPr marL="0" indent="0" algn="ctr">
              <a:lnSpc>
                <a:spcPct val="110000"/>
              </a:lnSpc>
              <a:buNone/>
            </a:pPr>
            <a:r>
              <a:rPr lang="en-US" sz="900">
                <a:solidFill>
                  <a:srgbClr val="6B7280"/>
                </a:solidFill>
                <a:latin typeface="Arial" pitchFamily="34" charset="0"/>
                <a:ea typeface="Arial" pitchFamily="34" charset="-122"/>
                <a:cs typeface="Arial" pitchFamily="34" charset="-120"/>
              </a:rPr>
              <a:t>Remove noisy</a:t>
            </a:r>
            <a:endParaRPr lang="en-US" sz="900"/>
          </a:p>
          <a:p>
            <a:pPr marL="0" indent="0" algn="ctr">
              <a:lnSpc>
                <a:spcPct val="110000"/>
              </a:lnSpc>
              <a:buNone/>
            </a:pPr>
            <a:r>
              <a:rPr lang="en-US" sz="900">
                <a:solidFill>
                  <a:srgbClr val="6B7280"/>
                </a:solidFill>
                <a:latin typeface="Arial" pitchFamily="34" charset="0"/>
                <a:ea typeface="Arial" pitchFamily="34" charset="-122"/>
                <a:cs typeface="Arial" pitchFamily="34" charset="-120"/>
              </a:rPr>
              <a:t>&amp; blank images</a:t>
            </a:r>
            <a:endParaRPr lang="en-US" sz="900"/>
          </a:p>
        </p:txBody>
      </p:sp>
      <p:sp>
        <p:nvSpPr>
          <p:cNvPr id="39" name="Arrow 5"/>
          <p:cNvSpPr/>
          <p:nvPr/>
        </p:nvSpPr>
        <p:spPr>
          <a:xfrm>
            <a:off x="7132320" y="2098548"/>
            <a:ext cx="365760" cy="347472"/>
          </a:xfrm>
          <a:prstGeom prst="rect">
            <a:avLst/>
          </a:prstGeom>
          <a:noFill/>
          <a:ln/>
        </p:spPr>
        <p:txBody>
          <a:bodyPr wrap="square" lIns="0" tIns="0" rIns="0" bIns="0" rtlCol="0" anchor="ctr"/>
          <a:lstStyle/>
          <a:p>
            <a:pPr marL="0" indent="0" algn="ctr">
              <a:buNone/>
            </a:pPr>
            <a:r>
              <a:rPr lang="en-US" sz="1600">
                <a:solidFill>
                  <a:srgbClr val="5BA3E6"/>
                </a:solidFill>
                <a:latin typeface="Arial" pitchFamily="34" charset="0"/>
                <a:ea typeface="Arial" pitchFamily="34" charset="-122"/>
                <a:cs typeface="Arial" pitchFamily="34" charset="-120"/>
              </a:rPr>
              <a:t>→</a:t>
            </a:r>
            <a:endParaRPr lang="en-US" sz="1600"/>
          </a:p>
        </p:txBody>
      </p:sp>
      <p:sp>
        <p:nvSpPr>
          <p:cNvPr id="40" name="Circle Model"/>
          <p:cNvSpPr/>
          <p:nvPr/>
        </p:nvSpPr>
        <p:spPr>
          <a:xfrm>
            <a:off x="7863840" y="2098548"/>
            <a:ext cx="347472" cy="347472"/>
          </a:xfrm>
          <a:prstGeom prst="ellipse">
            <a:avLst/>
          </a:prstGeom>
          <a:solidFill>
            <a:srgbClr val="1A4D80"/>
          </a:solidFill>
          <a:ln/>
        </p:spPr>
        <p:txBody>
          <a:bodyPr/>
          <a:lstStyle/>
          <a:p>
            <a:endParaRPr lang="es-CO"/>
          </a:p>
        </p:txBody>
      </p:sp>
      <p:sp>
        <p:nvSpPr>
          <p:cNvPr id="41" name="Num 6"/>
          <p:cNvSpPr/>
          <p:nvPr/>
        </p:nvSpPr>
        <p:spPr>
          <a:xfrm>
            <a:off x="7863840" y="2098548"/>
            <a:ext cx="347472" cy="347472"/>
          </a:xfrm>
          <a:prstGeom prst="rect">
            <a:avLst/>
          </a:prstGeom>
          <a:noFill/>
          <a:ln/>
        </p:spPr>
        <p:txBody>
          <a:bodyPr wrap="square" lIns="0" tIns="0" rIns="0" bIns="0" rtlCol="0" anchor="ctr"/>
          <a:lstStyle/>
          <a:p>
            <a:pPr marL="0" indent="0" algn="ctr">
              <a:buNone/>
            </a:pPr>
            <a:r>
              <a:rPr lang="en-US" sz="1200" b="1">
                <a:solidFill>
                  <a:srgbClr val="FFFFFF"/>
                </a:solidFill>
                <a:latin typeface="Arial" pitchFamily="34" charset="0"/>
                <a:ea typeface="Arial" pitchFamily="34" charset="-122"/>
                <a:cs typeface="Arial" pitchFamily="34" charset="-120"/>
              </a:rPr>
              <a:t>6</a:t>
            </a:r>
            <a:endParaRPr lang="en-US" sz="1200"/>
          </a:p>
        </p:txBody>
      </p:sp>
      <p:sp>
        <p:nvSpPr>
          <p:cNvPr id="42" name="Label Model"/>
          <p:cNvSpPr/>
          <p:nvPr/>
        </p:nvSpPr>
        <p:spPr>
          <a:xfrm>
            <a:off x="7543800" y="2491740"/>
            <a:ext cx="1005840" cy="256032"/>
          </a:xfrm>
          <a:prstGeom prst="rect">
            <a:avLst/>
          </a:prstGeom>
          <a:noFill/>
          <a:ln/>
        </p:spPr>
        <p:txBody>
          <a:bodyPr wrap="square" lIns="0" tIns="0" rIns="0" bIns="0" rtlCol="0" anchor="ctr"/>
          <a:lstStyle/>
          <a:p>
            <a:pPr marL="0" indent="0" algn="ctr">
              <a:buNone/>
            </a:pPr>
            <a:r>
              <a:rPr lang="en-US" sz="1150" b="1">
                <a:solidFill>
                  <a:srgbClr val="001940"/>
                </a:solidFill>
                <a:latin typeface="Arial" pitchFamily="34" charset="0"/>
                <a:ea typeface="Arial" pitchFamily="34" charset="-122"/>
                <a:cs typeface="Arial" pitchFamily="34" charset="-120"/>
              </a:rPr>
              <a:t>Model</a:t>
            </a:r>
            <a:endParaRPr lang="en-US" sz="1150"/>
          </a:p>
        </p:txBody>
      </p:sp>
      <p:sp>
        <p:nvSpPr>
          <p:cNvPr id="43" name="Desc Model"/>
          <p:cNvSpPr/>
          <p:nvPr/>
        </p:nvSpPr>
        <p:spPr>
          <a:xfrm>
            <a:off x="7543800" y="2747772"/>
            <a:ext cx="1005840" cy="640080"/>
          </a:xfrm>
          <a:prstGeom prst="rect">
            <a:avLst/>
          </a:prstGeom>
          <a:noFill/>
          <a:ln/>
        </p:spPr>
        <p:txBody>
          <a:bodyPr wrap="square" lIns="0" tIns="0" rIns="0" bIns="0" rtlCol="0" anchor="ctr"/>
          <a:lstStyle/>
          <a:p>
            <a:pPr marL="0" indent="0" algn="ctr">
              <a:lnSpc>
                <a:spcPct val="110000"/>
              </a:lnSpc>
              <a:buNone/>
            </a:pPr>
            <a:r>
              <a:rPr lang="en-US" sz="900">
                <a:solidFill>
                  <a:srgbClr val="6B7280"/>
                </a:solidFill>
                <a:latin typeface="Arial" pitchFamily="34" charset="0"/>
                <a:ea typeface="Arial" pitchFamily="34" charset="-122"/>
                <a:cs typeface="Arial" pitchFamily="34" charset="-120"/>
              </a:rPr>
              <a:t>PCA→SVM or</a:t>
            </a:r>
            <a:endParaRPr lang="en-US" sz="900"/>
          </a:p>
          <a:p>
            <a:pPr marL="0" indent="0" algn="ctr">
              <a:lnSpc>
                <a:spcPct val="110000"/>
              </a:lnSpc>
              <a:buNone/>
            </a:pPr>
            <a:r>
              <a:rPr lang="en-US" sz="900">
                <a:solidFill>
                  <a:srgbClr val="6B7280"/>
                </a:solidFill>
                <a:latin typeface="Arial" pitchFamily="34" charset="0"/>
                <a:ea typeface="Arial" pitchFamily="34" charset="-122"/>
                <a:cs typeface="Arial" pitchFamily="34" charset="-120"/>
              </a:rPr>
              <a:t>CNN input</a:t>
            </a:r>
            <a:endParaRPr lang="en-US" sz="900"/>
          </a:p>
        </p:txBody>
      </p:sp>
      <p:sp>
        <p:nvSpPr>
          <p:cNvPr id="44" name="BottomBar"/>
          <p:cNvSpPr/>
          <p:nvPr/>
        </p:nvSpPr>
        <p:spPr>
          <a:xfrm>
            <a:off x="0" y="4709160"/>
            <a:ext cx="9144000" cy="434340"/>
          </a:xfrm>
          <a:prstGeom prst="rect">
            <a:avLst/>
          </a:prstGeom>
          <a:solidFill>
            <a:srgbClr val="001940"/>
          </a:solidFill>
          <a:ln/>
        </p:spPr>
        <p:txBody>
          <a:bodyPr/>
          <a:lstStyle/>
          <a:p>
            <a:endParaRPr lang="es-CO"/>
          </a:p>
        </p:txBody>
      </p:sp>
      <p:pic>
        <p:nvPicPr>
          <p:cNvPr id="45" name="Image 1" descr="polimi_logo_white.png"/>
          <p:cNvPicPr>
            <a:picLocks noChangeAspect="1"/>
          </p:cNvPicPr>
          <p:nvPr/>
        </p:nvPicPr>
        <p:blipFill>
          <a:blip r:embed="rId3"/>
          <a:stretch>
            <a:fillRect/>
          </a:stretch>
        </p:blipFill>
        <p:spPr>
          <a:xfrm>
            <a:off x="344167" y="4736592"/>
            <a:ext cx="1140465" cy="347472"/>
          </a:xfrm>
          <a:prstGeom prst="rect">
            <a:avLst/>
          </a:prstGeom>
        </p:spPr>
      </p:pic>
      <p:sp>
        <p:nvSpPr>
          <p:cNvPr id="46" name="PageNum"/>
          <p:cNvSpPr/>
          <p:nvPr/>
        </p:nvSpPr>
        <p:spPr>
          <a:xfrm>
            <a:off x="7772400" y="4736592"/>
            <a:ext cx="1097280" cy="347472"/>
          </a:xfrm>
          <a:prstGeom prst="rect">
            <a:avLst/>
          </a:prstGeom>
          <a:noFill/>
          <a:ln/>
        </p:spPr>
        <p:txBody>
          <a:bodyPr wrap="square" lIns="0" tIns="0" rIns="0" bIns="0" rtlCol="0" anchor="ctr"/>
          <a:lstStyle/>
          <a:p>
            <a:pPr marL="0" indent="0" algn="r">
              <a:buNone/>
            </a:pPr>
            <a:r>
              <a:rPr lang="en-US" sz="900">
                <a:solidFill>
                  <a:srgbClr val="FFFFFF"/>
                </a:solidFill>
                <a:latin typeface="Arial" pitchFamily="34" charset="0"/>
                <a:ea typeface="Arial" pitchFamily="34" charset="-122"/>
                <a:cs typeface="Arial" pitchFamily="34" charset="-120"/>
              </a:rPr>
              <a:t>5 / 15</a:t>
            </a:r>
            <a:endParaRPr lang="en-US" sz="900"/>
          </a:p>
        </p:txBody>
      </p:sp>
      <p:sp>
        <p:nvSpPr>
          <p:cNvPr id="64" name="Accent Split">
            <a:extLst>
              <a:ext uri="{FF2B5EF4-FFF2-40B4-BE49-F238E27FC236}">
                <a16:creationId xmlns:a16="http://schemas.microsoft.com/office/drawing/2014/main" id="{C1F01867-A45D-C4FD-3CD6-75C1234C96E2}"/>
              </a:ext>
            </a:extLst>
          </p:cNvPr>
          <p:cNvSpPr/>
          <p:nvPr/>
        </p:nvSpPr>
        <p:spPr>
          <a:xfrm>
            <a:off x="6133255" y="3467852"/>
            <a:ext cx="36000" cy="560000"/>
          </a:xfrm>
          <a:prstGeom prst="roundRect">
            <a:avLst>
              <a:gd name="adj" fmla="val 50000"/>
            </a:avLst>
          </a:prstGeom>
          <a:solidFill>
            <a:srgbClr val="D97706"/>
          </a:solidFill>
          <a:ln w="0">
            <a:noFill/>
          </a:ln>
        </p:spPr>
        <p:txBody>
          <a:bodyPr/>
          <a:lstStyle/>
          <a:p>
            <a:endParaRPr lang="es-CO"/>
          </a:p>
        </p:txBody>
      </p:sp>
      <p:sp>
        <p:nvSpPr>
          <p:cNvPr id="65" name="NoteBg Split">
            <a:extLst>
              <a:ext uri="{FF2B5EF4-FFF2-40B4-BE49-F238E27FC236}">
                <a16:creationId xmlns:a16="http://schemas.microsoft.com/office/drawing/2014/main" id="{C0286A92-3DC8-00C9-F0AD-F01E2C6AB2D7}"/>
              </a:ext>
            </a:extLst>
          </p:cNvPr>
          <p:cNvSpPr/>
          <p:nvPr/>
        </p:nvSpPr>
        <p:spPr>
          <a:xfrm>
            <a:off x="6165255" y="3467852"/>
            <a:ext cx="953840" cy="560000"/>
          </a:xfrm>
          <a:prstGeom prst="rect">
            <a:avLst/>
          </a:prstGeom>
          <a:solidFill>
            <a:srgbClr val="FEF9F3"/>
          </a:solidFill>
          <a:ln w="0">
            <a:noFill/>
          </a:ln>
        </p:spPr>
        <p:txBody>
          <a:bodyPr/>
          <a:lstStyle/>
          <a:p>
            <a:endParaRPr lang="es-CO"/>
          </a:p>
        </p:txBody>
      </p:sp>
      <p:sp>
        <p:nvSpPr>
          <p:cNvPr id="66" name="Note Split">
            <a:extLst>
              <a:ext uri="{FF2B5EF4-FFF2-40B4-BE49-F238E27FC236}">
                <a16:creationId xmlns:a16="http://schemas.microsoft.com/office/drawing/2014/main" id="{741AAF23-F4FA-424D-6BB9-11408CFF7F1F}"/>
              </a:ext>
            </a:extLst>
          </p:cNvPr>
          <p:cNvSpPr/>
          <p:nvPr/>
        </p:nvSpPr>
        <p:spPr>
          <a:xfrm>
            <a:off x="6205255" y="3497852"/>
            <a:ext cx="903840" cy="500000"/>
          </a:xfrm>
          <a:prstGeom prst="rect">
            <a:avLst/>
          </a:prstGeom>
          <a:noFill/>
          <a:ln/>
        </p:spPr>
        <p:txBody>
          <a:bodyPr wrap="square" lIns="0" tIns="0" rIns="0" bIns="0" rtlCol="0" anchor="ctr"/>
          <a:lstStyle/>
          <a:p>
            <a:pPr marL="0" indent="0" algn="l">
              <a:lnSpc>
                <a:spcPct val="115000"/>
              </a:lnSpc>
              <a:buNone/>
            </a:pPr>
            <a:r>
              <a:rPr lang="en-US" sz="800" i="1" dirty="0">
                <a:solidFill>
                  <a:srgbClr val="2D3748"/>
                </a:solidFill>
                <a:latin typeface="Arial" pitchFamily="34" charset="0"/>
                <a:ea typeface="Arial" pitchFamily="34" charset="-122"/>
                <a:cs typeface="Arial" pitchFamily="34" charset="-120"/>
              </a:rPr>
              <a:t>Image manipulation and “blank images” recognition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buNone/>
            </a:pPr>
            <a:r>
              <a:rPr lang="en-US" sz="2800" b="1" kern="0" spc="100" dirty="0">
                <a:solidFill>
                  <a:srgbClr val="001940"/>
                </a:solidFill>
                <a:latin typeface="Manrope ExtraBold" pitchFamily="2" charset="0"/>
                <a:ea typeface="Georgia" pitchFamily="34" charset="-122"/>
                <a:cs typeface="Georgia" pitchFamily="34" charset="-120"/>
              </a:rPr>
              <a:t>DATA CLEANING STRATEGY</a:t>
            </a:r>
            <a:endParaRPr lang="en-US" sz="2800" dirty="0">
              <a:latin typeface="Manrope ExtraBold" pitchFamily="2" charset="0"/>
            </a:endParaRPr>
          </a:p>
        </p:txBody>
      </p:sp>
      <p:sp>
        <p:nvSpPr>
          <p:cNvPr id="3" name="Shape 1"/>
          <p:cNvSpPr/>
          <p:nvPr/>
        </p:nvSpPr>
        <p:spPr>
          <a:xfrm>
            <a:off x="457200" y="960120"/>
            <a:ext cx="2648737" cy="2377440"/>
          </a:xfrm>
          <a:prstGeom prst="roundRect">
            <a:avLst>
              <a:gd name="adj" fmla="val 3846"/>
            </a:avLst>
          </a:prstGeom>
          <a:solidFill>
            <a:srgbClr val="E8F0FA"/>
          </a:solidFill>
          <a:ln/>
        </p:spPr>
        <p:txBody>
          <a:bodyPr/>
          <a:lstStyle/>
          <a:p>
            <a:endParaRPr lang="es-CO"/>
          </a:p>
        </p:txBody>
      </p:sp>
      <p:sp>
        <p:nvSpPr>
          <p:cNvPr id="4" name="Text 2"/>
          <p:cNvSpPr/>
          <p:nvPr/>
        </p:nvSpPr>
        <p:spPr>
          <a:xfrm>
            <a:off x="685800" y="1051560"/>
            <a:ext cx="4663440" cy="274320"/>
          </a:xfrm>
          <a:prstGeom prst="rect">
            <a:avLst/>
          </a:prstGeom>
          <a:noFill/>
          <a:ln/>
        </p:spPr>
        <p:txBody>
          <a:bodyPr wrap="square" lIns="0" tIns="0" rIns="0" bIns="0" rtlCol="0" anchor="ctr"/>
          <a:lstStyle/>
          <a:p>
            <a:pPr marL="0" indent="0">
              <a:buNone/>
            </a:pPr>
            <a:r>
              <a:rPr lang="en-US" sz="1400" b="1" dirty="0">
                <a:solidFill>
                  <a:srgbClr val="1A4D80"/>
                </a:solidFill>
                <a:latin typeface="Arial" pitchFamily="34" charset="0"/>
                <a:ea typeface="Arial" pitchFamily="34" charset="-122"/>
                <a:cs typeface="Arial" pitchFamily="34" charset="-120"/>
              </a:rPr>
              <a:t>Cleaning Approach</a:t>
            </a:r>
            <a:endParaRPr lang="en-US" sz="1400" dirty="0"/>
          </a:p>
        </p:txBody>
      </p:sp>
      <p:sp>
        <p:nvSpPr>
          <p:cNvPr id="5" name="Text 3"/>
          <p:cNvSpPr/>
          <p:nvPr/>
        </p:nvSpPr>
        <p:spPr>
          <a:xfrm>
            <a:off x="685800" y="1371600"/>
            <a:ext cx="2276554" cy="1828800"/>
          </a:xfrm>
          <a:prstGeom prst="rect">
            <a:avLst/>
          </a:prstGeom>
          <a:noFill/>
          <a:ln/>
        </p:spPr>
        <p:txBody>
          <a:bodyPr wrap="square" lIns="0" tIns="0" rIns="0" bIns="0" rtlCol="0" anchor="ctr"/>
          <a:lstStyle/>
          <a:p>
            <a:pPr marL="0" indent="0">
              <a:lnSpc>
                <a:spcPct val="120000"/>
              </a:lnSpc>
              <a:buNone/>
            </a:pPr>
            <a:r>
              <a:rPr lang="en-US" sz="1200" b="1" dirty="0">
                <a:solidFill>
                  <a:srgbClr val="2D3748"/>
                </a:solidFill>
                <a:latin typeface="Arial" pitchFamily="34" charset="0"/>
                <a:ea typeface="Arial" pitchFamily="34" charset="-122"/>
                <a:cs typeface="Arial" pitchFamily="34" charset="-120"/>
              </a:rPr>
              <a:t>Automated pixel-based metrics</a:t>
            </a:r>
            <a:endParaRPr lang="en-US" sz="1200" dirty="0"/>
          </a:p>
          <a:p>
            <a:pPr marL="0" indent="0">
              <a:lnSpc>
                <a:spcPct val="120000"/>
              </a:lnSpc>
              <a:buNone/>
            </a:pPr>
            <a:r>
              <a:rPr lang="en-US" sz="1000" dirty="0">
                <a:solidFill>
                  <a:srgbClr val="6B7280"/>
                </a:solidFill>
                <a:latin typeface="Arial" pitchFamily="34" charset="0"/>
                <a:ea typeface="Arial" pitchFamily="34" charset="-122"/>
                <a:cs typeface="Arial" pitchFamily="34" charset="-120"/>
              </a:rPr>
              <a:t>  •  Mean pixel intensity thresholds</a:t>
            </a:r>
            <a:endParaRPr lang="en-US" sz="1200" dirty="0"/>
          </a:p>
          <a:p>
            <a:pPr marL="0" indent="0">
              <a:lnSpc>
                <a:spcPct val="120000"/>
              </a:lnSpc>
              <a:buNone/>
            </a:pPr>
            <a:r>
              <a:rPr lang="en-US" sz="1000" dirty="0">
                <a:solidFill>
                  <a:srgbClr val="6B7280"/>
                </a:solidFill>
                <a:latin typeface="Arial" pitchFamily="34" charset="0"/>
                <a:ea typeface="Arial" pitchFamily="34" charset="-122"/>
                <a:cs typeface="Arial" pitchFamily="34" charset="-120"/>
              </a:rPr>
              <a:t>  •  Black-pixel and white-pixel count</a:t>
            </a:r>
            <a:endParaRPr lang="en-US" sz="1200" dirty="0"/>
          </a:p>
          <a:p>
            <a:pPr marL="0" indent="0">
              <a:lnSpc>
                <a:spcPct val="120000"/>
              </a:lnSpc>
              <a:buNone/>
            </a:pPr>
            <a:r>
              <a:rPr lang="en-US" sz="1000" dirty="0">
                <a:solidFill>
                  <a:srgbClr val="6B7280"/>
                </a:solidFill>
                <a:latin typeface="Arial" pitchFamily="34" charset="0"/>
                <a:ea typeface="Arial" pitchFamily="34" charset="-122"/>
                <a:cs typeface="Arial" pitchFamily="34" charset="-120"/>
              </a:rPr>
              <a:t>  •  Edge detection for non-face images</a:t>
            </a:r>
            <a:endParaRPr lang="en-US" sz="1200" dirty="0"/>
          </a:p>
          <a:p>
            <a:pPr marL="0" indent="0">
              <a:lnSpc>
                <a:spcPct val="120000"/>
              </a:lnSpc>
              <a:buNone/>
            </a:pPr>
            <a:endParaRPr lang="en-US" sz="1200" dirty="0"/>
          </a:p>
          <a:p>
            <a:pPr marL="0" indent="0">
              <a:lnSpc>
                <a:spcPct val="120000"/>
              </a:lnSpc>
              <a:buNone/>
            </a:pPr>
            <a:r>
              <a:rPr lang="en-US" sz="1200" b="1" dirty="0">
                <a:solidFill>
                  <a:srgbClr val="2D3748"/>
                </a:solidFill>
                <a:latin typeface="Arial" pitchFamily="34" charset="0"/>
                <a:ea typeface="Arial" pitchFamily="34" charset="-122"/>
                <a:cs typeface="Arial" pitchFamily="34" charset="-120"/>
              </a:rPr>
              <a:t>Manual inspection</a:t>
            </a:r>
            <a:endParaRPr lang="en-US" sz="1200" dirty="0"/>
          </a:p>
          <a:p>
            <a:pPr marL="0" indent="0">
              <a:lnSpc>
                <a:spcPct val="120000"/>
              </a:lnSpc>
              <a:buNone/>
            </a:pPr>
            <a:r>
              <a:rPr lang="en-US" sz="1000" dirty="0">
                <a:solidFill>
                  <a:srgbClr val="6B7280"/>
                </a:solidFill>
                <a:latin typeface="Arial" pitchFamily="34" charset="0"/>
                <a:ea typeface="Arial" pitchFamily="34" charset="-122"/>
                <a:cs typeface="Arial" pitchFamily="34" charset="-120"/>
              </a:rPr>
              <a:t>  •  Visual review of flagged images</a:t>
            </a:r>
            <a:endParaRPr lang="en-US" sz="1200" dirty="0"/>
          </a:p>
        </p:txBody>
      </p:sp>
      <p:sp>
        <p:nvSpPr>
          <p:cNvPr id="6" name="Shape 4"/>
          <p:cNvSpPr/>
          <p:nvPr/>
        </p:nvSpPr>
        <p:spPr>
          <a:xfrm>
            <a:off x="3195676" y="982980"/>
            <a:ext cx="1961048" cy="2377440"/>
          </a:xfrm>
          <a:prstGeom prst="roundRect">
            <a:avLst>
              <a:gd name="adj" fmla="val 3846"/>
            </a:avLst>
          </a:prstGeom>
          <a:solidFill>
            <a:srgbClr val="FEF2F2"/>
          </a:solidFill>
          <a:ln/>
        </p:spPr>
        <p:txBody>
          <a:bodyPr/>
          <a:lstStyle/>
          <a:p>
            <a:endParaRPr lang="es-CO"/>
          </a:p>
        </p:txBody>
      </p:sp>
      <p:sp>
        <p:nvSpPr>
          <p:cNvPr id="7" name="Text 5"/>
          <p:cNvSpPr/>
          <p:nvPr/>
        </p:nvSpPr>
        <p:spPr>
          <a:xfrm>
            <a:off x="3195676" y="1211580"/>
            <a:ext cx="1961048" cy="640080"/>
          </a:xfrm>
          <a:prstGeom prst="rect">
            <a:avLst/>
          </a:prstGeom>
          <a:noFill/>
          <a:ln/>
        </p:spPr>
        <p:txBody>
          <a:bodyPr wrap="square" lIns="0" tIns="0" rIns="0" bIns="0" rtlCol="0" anchor="ctr"/>
          <a:lstStyle/>
          <a:p>
            <a:pPr marL="0" indent="0" algn="ctr">
              <a:buNone/>
            </a:pPr>
            <a:r>
              <a:rPr lang="en-US" sz="4400" b="1" dirty="0">
                <a:solidFill>
                  <a:srgbClr val="DC2626"/>
                </a:solidFill>
                <a:latin typeface="Georgia" pitchFamily="34" charset="0"/>
                <a:ea typeface="Georgia" pitchFamily="34" charset="-122"/>
                <a:cs typeface="Georgia" pitchFamily="34" charset="-120"/>
              </a:rPr>
              <a:t>53</a:t>
            </a:r>
            <a:endParaRPr lang="en-US" sz="4400" dirty="0"/>
          </a:p>
        </p:txBody>
      </p:sp>
      <p:sp>
        <p:nvSpPr>
          <p:cNvPr id="8" name="Text 6"/>
          <p:cNvSpPr/>
          <p:nvPr/>
        </p:nvSpPr>
        <p:spPr>
          <a:xfrm>
            <a:off x="3195676" y="1851660"/>
            <a:ext cx="1961048" cy="411480"/>
          </a:xfrm>
          <a:prstGeom prst="rect">
            <a:avLst/>
          </a:prstGeom>
          <a:noFill/>
          <a:ln/>
        </p:spPr>
        <p:txBody>
          <a:bodyPr wrap="square" lIns="0" tIns="0" rIns="0" bIns="0" rtlCol="0" anchor="ctr"/>
          <a:lstStyle/>
          <a:p>
            <a:pPr marL="0" indent="0" algn="ctr">
              <a:buNone/>
            </a:pPr>
            <a:r>
              <a:rPr lang="en-US" sz="1300" dirty="0">
                <a:solidFill>
                  <a:srgbClr val="DC2626"/>
                </a:solidFill>
                <a:latin typeface="Arial" pitchFamily="34" charset="0"/>
                <a:ea typeface="Arial" pitchFamily="34" charset="-122"/>
                <a:cs typeface="Arial" pitchFamily="34" charset="-120"/>
              </a:rPr>
              <a:t>noisy images</a:t>
            </a:r>
            <a:endParaRPr lang="en-US" sz="1300" dirty="0"/>
          </a:p>
          <a:p>
            <a:pPr marL="0" indent="0" algn="ctr">
              <a:buNone/>
            </a:pPr>
            <a:r>
              <a:rPr lang="en-US" sz="1300" dirty="0">
                <a:solidFill>
                  <a:srgbClr val="DC2626"/>
                </a:solidFill>
                <a:latin typeface="Arial" pitchFamily="34" charset="0"/>
                <a:ea typeface="Arial" pitchFamily="34" charset="-122"/>
                <a:cs typeface="Arial" pitchFamily="34" charset="-120"/>
              </a:rPr>
              <a:t>removed</a:t>
            </a:r>
            <a:endParaRPr lang="en-US" sz="1300" dirty="0"/>
          </a:p>
        </p:txBody>
      </p:sp>
      <p:sp>
        <p:nvSpPr>
          <p:cNvPr id="9" name="Text 7"/>
          <p:cNvSpPr/>
          <p:nvPr/>
        </p:nvSpPr>
        <p:spPr>
          <a:xfrm>
            <a:off x="3274241" y="2377440"/>
            <a:ext cx="1778168" cy="731520"/>
          </a:xfrm>
          <a:prstGeom prst="rect">
            <a:avLst/>
          </a:prstGeom>
          <a:noFill/>
          <a:ln/>
        </p:spPr>
        <p:txBody>
          <a:bodyPr wrap="square" lIns="0" tIns="0" rIns="0" bIns="0" rtlCol="0" anchor="ctr"/>
          <a:lstStyle/>
          <a:p>
            <a:pPr marL="0" indent="0" algn="ctr">
              <a:lnSpc>
                <a:spcPct val="115000"/>
              </a:lnSpc>
              <a:buNone/>
            </a:pPr>
            <a:r>
              <a:rPr lang="en-US" sz="1000" dirty="0">
                <a:solidFill>
                  <a:srgbClr val="6B7280"/>
                </a:solidFill>
                <a:latin typeface="Arial" pitchFamily="34" charset="0"/>
                <a:ea typeface="Arial" pitchFamily="34" charset="-122"/>
                <a:cs typeface="Arial" pitchFamily="34" charset="-120"/>
              </a:rPr>
              <a:t>Blank, noisy, or non-human face images that would mislead model training</a:t>
            </a:r>
            <a:endParaRPr lang="en-US" sz="1000" dirty="0"/>
          </a:p>
        </p:txBody>
      </p:sp>
      <p:sp>
        <p:nvSpPr>
          <p:cNvPr id="10" name="Text 8"/>
          <p:cNvSpPr/>
          <p:nvPr/>
        </p:nvSpPr>
        <p:spPr>
          <a:xfrm>
            <a:off x="457200" y="3566160"/>
            <a:ext cx="8229600" cy="274320"/>
          </a:xfrm>
          <a:prstGeom prst="rect">
            <a:avLst/>
          </a:prstGeom>
          <a:noFill/>
          <a:ln/>
        </p:spPr>
        <p:txBody>
          <a:bodyPr wrap="square" lIns="0" tIns="0" rIns="0" bIns="0" rtlCol="0" anchor="ctr"/>
          <a:lstStyle/>
          <a:p>
            <a:pPr marL="0" indent="0">
              <a:buNone/>
            </a:pPr>
            <a:r>
              <a:rPr lang="en-US" sz="1200" b="1" dirty="0">
                <a:solidFill>
                  <a:srgbClr val="001940"/>
                </a:solidFill>
                <a:latin typeface="Arial" pitchFamily="34" charset="0"/>
                <a:ea typeface="Arial" pitchFamily="34" charset="-122"/>
                <a:cs typeface="Arial" pitchFamily="34" charset="-120"/>
              </a:rPr>
              <a:t>Examples of Discarded Images</a:t>
            </a:r>
            <a:endParaRPr lang="en-US" sz="1200" dirty="0"/>
          </a:p>
        </p:txBody>
      </p:sp>
      <p:sp>
        <p:nvSpPr>
          <p:cNvPr id="11" name="Shape 9"/>
          <p:cNvSpPr/>
          <p:nvPr/>
        </p:nvSpPr>
        <p:spPr>
          <a:xfrm>
            <a:off x="457200" y="3931920"/>
            <a:ext cx="1920240" cy="502920"/>
          </a:xfrm>
          <a:prstGeom prst="roundRect">
            <a:avLst>
              <a:gd name="adj" fmla="val 10909"/>
            </a:avLst>
          </a:prstGeom>
          <a:solidFill>
            <a:srgbClr val="E5E7EB"/>
          </a:solidFill>
          <a:ln/>
        </p:spPr>
        <p:txBody>
          <a:bodyPr/>
          <a:lstStyle/>
          <a:p>
            <a:endParaRPr lang="es-CO"/>
          </a:p>
        </p:txBody>
      </p:sp>
      <p:sp>
        <p:nvSpPr>
          <p:cNvPr id="12" name="Text 10"/>
          <p:cNvSpPr/>
          <p:nvPr/>
        </p:nvSpPr>
        <p:spPr>
          <a:xfrm>
            <a:off x="457200" y="3931920"/>
            <a:ext cx="1920240" cy="502920"/>
          </a:xfrm>
          <a:prstGeom prst="rect">
            <a:avLst/>
          </a:prstGeom>
          <a:noFill/>
          <a:ln/>
        </p:spPr>
        <p:txBody>
          <a:bodyPr wrap="square" lIns="38100" tIns="38100" rIns="38100" bIns="38100" rtlCol="0" anchor="ctr"/>
          <a:lstStyle/>
          <a:p>
            <a:pPr marL="0" indent="0" algn="ctr">
              <a:lnSpc>
                <a:spcPct val="110000"/>
              </a:lnSpc>
              <a:buNone/>
            </a:pPr>
            <a:r>
              <a:rPr lang="en-US" sz="850" dirty="0">
                <a:solidFill>
                  <a:srgbClr val="2D3748"/>
                </a:solidFill>
                <a:latin typeface="Arial" pitchFamily="34" charset="0"/>
                <a:ea typeface="Arial" pitchFamily="34" charset="-122"/>
                <a:cs typeface="Arial" pitchFamily="34" charset="-120"/>
              </a:rPr>
              <a:t>Nearly blank</a:t>
            </a:r>
            <a:endParaRPr lang="en-US" sz="850" dirty="0"/>
          </a:p>
          <a:p>
            <a:pPr marL="0" indent="0" algn="ctr">
              <a:lnSpc>
                <a:spcPct val="110000"/>
              </a:lnSpc>
              <a:buNone/>
            </a:pPr>
            <a:r>
              <a:rPr lang="en-US" sz="850" dirty="0">
                <a:solidFill>
                  <a:srgbClr val="2D3748"/>
                </a:solidFill>
                <a:latin typeface="Arial" pitchFamily="34" charset="0"/>
                <a:ea typeface="Arial" pitchFamily="34" charset="-122"/>
                <a:cs typeface="Arial" pitchFamily="34" charset="-120"/>
              </a:rPr>
              <a:t>(low intensity)</a:t>
            </a:r>
            <a:endParaRPr lang="en-US" sz="850" dirty="0"/>
          </a:p>
        </p:txBody>
      </p:sp>
      <p:sp>
        <p:nvSpPr>
          <p:cNvPr id="13" name="Shape 11"/>
          <p:cNvSpPr/>
          <p:nvPr/>
        </p:nvSpPr>
        <p:spPr>
          <a:xfrm>
            <a:off x="2606040" y="3931920"/>
            <a:ext cx="1920240" cy="502920"/>
          </a:xfrm>
          <a:prstGeom prst="roundRect">
            <a:avLst>
              <a:gd name="adj" fmla="val 10909"/>
            </a:avLst>
          </a:prstGeom>
          <a:solidFill>
            <a:srgbClr val="E5E7EB"/>
          </a:solidFill>
          <a:ln/>
        </p:spPr>
        <p:txBody>
          <a:bodyPr/>
          <a:lstStyle/>
          <a:p>
            <a:endParaRPr lang="es-CO"/>
          </a:p>
        </p:txBody>
      </p:sp>
      <p:sp>
        <p:nvSpPr>
          <p:cNvPr id="14" name="Text 12"/>
          <p:cNvSpPr/>
          <p:nvPr/>
        </p:nvSpPr>
        <p:spPr>
          <a:xfrm>
            <a:off x="2606040" y="3931920"/>
            <a:ext cx="1920240" cy="502920"/>
          </a:xfrm>
          <a:prstGeom prst="rect">
            <a:avLst/>
          </a:prstGeom>
          <a:noFill/>
          <a:ln/>
        </p:spPr>
        <p:txBody>
          <a:bodyPr wrap="square" lIns="38100" tIns="38100" rIns="38100" bIns="38100" rtlCol="0" anchor="ctr"/>
          <a:lstStyle/>
          <a:p>
            <a:pPr marL="0" indent="0" algn="ctr">
              <a:lnSpc>
                <a:spcPct val="110000"/>
              </a:lnSpc>
              <a:buNone/>
            </a:pPr>
            <a:r>
              <a:rPr lang="en-US" sz="850" dirty="0">
                <a:solidFill>
                  <a:srgbClr val="2D3748"/>
                </a:solidFill>
                <a:latin typeface="Arial" pitchFamily="34" charset="0"/>
                <a:ea typeface="Arial" pitchFamily="34" charset="-122"/>
                <a:cs typeface="Arial" pitchFamily="34" charset="-120"/>
              </a:rPr>
              <a:t>Over-exposed</a:t>
            </a:r>
            <a:endParaRPr lang="en-US" sz="850" dirty="0"/>
          </a:p>
          <a:p>
            <a:pPr marL="0" indent="0" algn="ctr">
              <a:lnSpc>
                <a:spcPct val="110000"/>
              </a:lnSpc>
              <a:buNone/>
            </a:pPr>
            <a:r>
              <a:rPr lang="en-US" sz="850" dirty="0">
                <a:solidFill>
                  <a:srgbClr val="2D3748"/>
                </a:solidFill>
                <a:latin typeface="Arial" pitchFamily="34" charset="0"/>
                <a:ea typeface="Arial" pitchFamily="34" charset="-122"/>
                <a:cs typeface="Arial" pitchFamily="34" charset="-120"/>
              </a:rPr>
              <a:t>(high white count)</a:t>
            </a:r>
            <a:endParaRPr lang="en-US" sz="850" dirty="0"/>
          </a:p>
        </p:txBody>
      </p:sp>
      <p:sp>
        <p:nvSpPr>
          <p:cNvPr id="15" name="Shape 13"/>
          <p:cNvSpPr/>
          <p:nvPr/>
        </p:nvSpPr>
        <p:spPr>
          <a:xfrm>
            <a:off x="4754880" y="3931920"/>
            <a:ext cx="1920240" cy="502920"/>
          </a:xfrm>
          <a:prstGeom prst="roundRect">
            <a:avLst>
              <a:gd name="adj" fmla="val 10909"/>
            </a:avLst>
          </a:prstGeom>
          <a:solidFill>
            <a:srgbClr val="E5E7EB"/>
          </a:solidFill>
          <a:ln/>
        </p:spPr>
        <p:txBody>
          <a:bodyPr/>
          <a:lstStyle/>
          <a:p>
            <a:endParaRPr lang="es-CO"/>
          </a:p>
        </p:txBody>
      </p:sp>
      <p:sp>
        <p:nvSpPr>
          <p:cNvPr id="16" name="Text 14"/>
          <p:cNvSpPr/>
          <p:nvPr/>
        </p:nvSpPr>
        <p:spPr>
          <a:xfrm>
            <a:off x="4754880" y="3931920"/>
            <a:ext cx="1920240" cy="502920"/>
          </a:xfrm>
          <a:prstGeom prst="rect">
            <a:avLst/>
          </a:prstGeom>
          <a:noFill/>
          <a:ln/>
        </p:spPr>
        <p:txBody>
          <a:bodyPr wrap="square" lIns="38100" tIns="38100" rIns="38100" bIns="38100" rtlCol="0" anchor="ctr"/>
          <a:lstStyle/>
          <a:p>
            <a:pPr marL="0" indent="0" algn="ctr">
              <a:lnSpc>
                <a:spcPct val="110000"/>
              </a:lnSpc>
              <a:buNone/>
            </a:pPr>
            <a:r>
              <a:rPr lang="en-US" sz="850" dirty="0">
                <a:solidFill>
                  <a:srgbClr val="2D3748"/>
                </a:solidFill>
                <a:latin typeface="Arial" pitchFamily="34" charset="0"/>
                <a:ea typeface="Arial" pitchFamily="34" charset="-122"/>
                <a:cs typeface="Arial" pitchFamily="34" charset="-120"/>
              </a:rPr>
              <a:t>Non-face image</a:t>
            </a:r>
            <a:endParaRPr lang="en-US" sz="850" dirty="0"/>
          </a:p>
          <a:p>
            <a:pPr marL="0" indent="0" algn="ctr">
              <a:lnSpc>
                <a:spcPct val="110000"/>
              </a:lnSpc>
              <a:buNone/>
            </a:pPr>
            <a:r>
              <a:rPr lang="en-US" sz="850" dirty="0">
                <a:solidFill>
                  <a:srgbClr val="2D3748"/>
                </a:solidFill>
                <a:latin typeface="Arial" pitchFamily="34" charset="0"/>
                <a:ea typeface="Arial" pitchFamily="34" charset="-122"/>
                <a:cs typeface="Arial" pitchFamily="34" charset="-120"/>
              </a:rPr>
              <a:t>(edge artifacts)</a:t>
            </a:r>
            <a:endParaRPr lang="en-US" sz="850" dirty="0"/>
          </a:p>
        </p:txBody>
      </p:sp>
      <p:sp>
        <p:nvSpPr>
          <p:cNvPr id="17" name="Shape 15"/>
          <p:cNvSpPr/>
          <p:nvPr/>
        </p:nvSpPr>
        <p:spPr>
          <a:xfrm>
            <a:off x="6903720" y="3931920"/>
            <a:ext cx="1920240" cy="502920"/>
          </a:xfrm>
          <a:prstGeom prst="roundRect">
            <a:avLst>
              <a:gd name="adj" fmla="val 10909"/>
            </a:avLst>
          </a:prstGeom>
          <a:solidFill>
            <a:srgbClr val="E5E7EB"/>
          </a:solidFill>
          <a:ln/>
        </p:spPr>
        <p:txBody>
          <a:bodyPr/>
          <a:lstStyle/>
          <a:p>
            <a:endParaRPr lang="es-CO"/>
          </a:p>
        </p:txBody>
      </p:sp>
      <p:sp>
        <p:nvSpPr>
          <p:cNvPr id="18" name="Text 16"/>
          <p:cNvSpPr/>
          <p:nvPr/>
        </p:nvSpPr>
        <p:spPr>
          <a:xfrm>
            <a:off x="6903720" y="3931920"/>
            <a:ext cx="1920240" cy="502920"/>
          </a:xfrm>
          <a:prstGeom prst="rect">
            <a:avLst/>
          </a:prstGeom>
          <a:noFill/>
          <a:ln/>
        </p:spPr>
        <p:txBody>
          <a:bodyPr wrap="square" lIns="38100" tIns="38100" rIns="38100" bIns="38100" rtlCol="0" anchor="ctr"/>
          <a:lstStyle/>
          <a:p>
            <a:pPr marL="0" indent="0" algn="ctr">
              <a:lnSpc>
                <a:spcPct val="110000"/>
              </a:lnSpc>
              <a:buNone/>
            </a:pPr>
            <a:r>
              <a:rPr lang="en-US" sz="850" dirty="0">
                <a:solidFill>
                  <a:srgbClr val="2D3748"/>
                </a:solidFill>
                <a:latin typeface="Arial" pitchFamily="34" charset="0"/>
                <a:ea typeface="Arial" pitchFamily="34" charset="-122"/>
                <a:cs typeface="Arial" pitchFamily="34" charset="-120"/>
              </a:rPr>
              <a:t>Heavily occluded</a:t>
            </a:r>
            <a:endParaRPr lang="en-US" sz="850" dirty="0"/>
          </a:p>
          <a:p>
            <a:pPr marL="0" indent="0" algn="ctr">
              <a:lnSpc>
                <a:spcPct val="110000"/>
              </a:lnSpc>
              <a:buNone/>
            </a:pPr>
            <a:r>
              <a:rPr lang="en-US" sz="850" dirty="0">
                <a:solidFill>
                  <a:srgbClr val="2D3748"/>
                </a:solidFill>
                <a:latin typeface="Arial" pitchFamily="34" charset="0"/>
                <a:ea typeface="Arial" pitchFamily="34" charset="-122"/>
                <a:cs typeface="Arial" pitchFamily="34" charset="-120"/>
              </a:rPr>
              <a:t>(unrecognizable)</a:t>
            </a:r>
            <a:endParaRPr lang="en-US" sz="850" dirty="0"/>
          </a:p>
        </p:txBody>
      </p:sp>
      <p:sp>
        <p:nvSpPr>
          <p:cNvPr id="19" name="Shape 17"/>
          <p:cNvSpPr/>
          <p:nvPr/>
        </p:nvSpPr>
        <p:spPr>
          <a:xfrm>
            <a:off x="0" y="4709160"/>
            <a:ext cx="9144000" cy="434340"/>
          </a:xfrm>
          <a:prstGeom prst="rect">
            <a:avLst/>
          </a:prstGeom>
          <a:solidFill>
            <a:srgbClr val="001940"/>
          </a:solidFill>
          <a:ln/>
        </p:spPr>
        <p:txBody>
          <a:bodyPr/>
          <a:lstStyle/>
          <a:p>
            <a:endParaRPr lang="es-CO"/>
          </a:p>
        </p:txBody>
      </p:sp>
      <p:pic>
        <p:nvPicPr>
          <p:cNvPr id="20" name="Image 0" descr="/agent/turn3/workspace/polimi_logo_white.png"/>
          <p:cNvPicPr>
            <a:picLocks noChangeAspect="1"/>
          </p:cNvPicPr>
          <p:nvPr/>
        </p:nvPicPr>
        <p:blipFill>
          <a:blip r:embed="rId3"/>
          <a:stretch>
            <a:fillRect/>
          </a:stretch>
        </p:blipFill>
        <p:spPr>
          <a:xfrm>
            <a:off x="344167" y="4736592"/>
            <a:ext cx="1140465" cy="347472"/>
          </a:xfrm>
          <a:prstGeom prst="rect">
            <a:avLst/>
          </a:prstGeom>
        </p:spPr>
      </p:pic>
      <p:sp>
        <p:nvSpPr>
          <p:cNvPr id="21" name="Text 18"/>
          <p:cNvSpPr/>
          <p:nvPr/>
        </p:nvSpPr>
        <p:spPr>
          <a:xfrm>
            <a:off x="7772400" y="4736592"/>
            <a:ext cx="1097280" cy="347472"/>
          </a:xfrm>
          <a:prstGeom prst="rect">
            <a:avLst/>
          </a:prstGeom>
          <a:noFill/>
          <a:ln/>
        </p:spPr>
        <p:txBody>
          <a:bodyPr wrap="square" lIns="0" tIns="0" rIns="0" bIns="0" rtlCol="0" anchor="ctr"/>
          <a:lstStyle/>
          <a:p>
            <a:pPr marL="0" indent="0" algn="r">
              <a:buNone/>
            </a:pPr>
            <a:r>
              <a:rPr lang="en-US" sz="900" dirty="0">
                <a:solidFill>
                  <a:srgbClr val="FFFFFF"/>
                </a:solidFill>
                <a:latin typeface="Arial" pitchFamily="34" charset="0"/>
                <a:ea typeface="Arial" pitchFamily="34" charset="-122"/>
                <a:cs typeface="Arial" pitchFamily="34" charset="-120"/>
              </a:rPr>
              <a:t>6 / 15</a:t>
            </a:r>
            <a:endParaRPr lang="en-US" sz="900" dirty="0"/>
          </a:p>
        </p:txBody>
      </p:sp>
      <p:pic>
        <p:nvPicPr>
          <p:cNvPr id="23" name="Imagen 22">
            <a:extLst>
              <a:ext uri="{FF2B5EF4-FFF2-40B4-BE49-F238E27FC236}">
                <a16:creationId xmlns:a16="http://schemas.microsoft.com/office/drawing/2014/main" id="{AC41D6F2-C4C2-5CB1-DBEE-99C5715BEE16}"/>
              </a:ext>
            </a:extLst>
          </p:cNvPr>
          <p:cNvPicPr>
            <a:picLocks noChangeAspect="1"/>
          </p:cNvPicPr>
          <p:nvPr/>
        </p:nvPicPr>
        <p:blipFill>
          <a:blip r:embed="rId4"/>
          <a:stretch>
            <a:fillRect/>
          </a:stretch>
        </p:blipFill>
        <p:spPr>
          <a:xfrm>
            <a:off x="5269285" y="956879"/>
            <a:ext cx="1799089" cy="2403542"/>
          </a:xfrm>
          <a:prstGeom prst="rect">
            <a:avLst/>
          </a:prstGeom>
        </p:spPr>
      </p:pic>
      <p:pic>
        <p:nvPicPr>
          <p:cNvPr id="25" name="Imagen 24">
            <a:extLst>
              <a:ext uri="{FF2B5EF4-FFF2-40B4-BE49-F238E27FC236}">
                <a16:creationId xmlns:a16="http://schemas.microsoft.com/office/drawing/2014/main" id="{E57B6431-FB06-2526-E423-D6BA4EB72FC3}"/>
              </a:ext>
            </a:extLst>
          </p:cNvPr>
          <p:cNvPicPr>
            <a:picLocks noChangeAspect="1"/>
          </p:cNvPicPr>
          <p:nvPr/>
        </p:nvPicPr>
        <p:blipFill>
          <a:blip r:embed="rId5"/>
          <a:stretch>
            <a:fillRect/>
          </a:stretch>
        </p:blipFill>
        <p:spPr>
          <a:xfrm>
            <a:off x="7215757" y="956879"/>
            <a:ext cx="1800419" cy="240354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buNone/>
            </a:pPr>
            <a:r>
              <a:rPr lang="en-US" sz="2800" b="1" kern="0" spc="100" dirty="0">
                <a:solidFill>
                  <a:srgbClr val="001940"/>
                </a:solidFill>
                <a:latin typeface="Manrope ExtraBold" pitchFamily="2" charset="0"/>
                <a:ea typeface="Georgia" pitchFamily="34" charset="-122"/>
                <a:cs typeface="Georgia" pitchFamily="34" charset="-120"/>
              </a:rPr>
              <a:t>PCA &amp; FEATURE REPRESENTATION</a:t>
            </a:r>
            <a:endParaRPr lang="en-US" sz="2800" dirty="0">
              <a:latin typeface="Manrope ExtraBold" pitchFamily="2" charset="0"/>
            </a:endParaRPr>
          </a:p>
        </p:txBody>
      </p:sp>
      <p:sp>
        <p:nvSpPr>
          <p:cNvPr id="3" name="Shape 1"/>
          <p:cNvSpPr/>
          <p:nvPr/>
        </p:nvSpPr>
        <p:spPr>
          <a:xfrm>
            <a:off x="457200" y="960120"/>
            <a:ext cx="4297680" cy="2743200"/>
          </a:xfrm>
          <a:prstGeom prst="roundRect">
            <a:avLst>
              <a:gd name="adj" fmla="val 3333"/>
            </a:avLst>
          </a:prstGeom>
          <a:solidFill>
            <a:srgbClr val="E8F0FA"/>
          </a:solidFill>
          <a:ln/>
        </p:spPr>
        <p:txBody>
          <a:bodyPr/>
          <a:lstStyle/>
          <a:p>
            <a:endParaRPr lang="es-CO"/>
          </a:p>
        </p:txBody>
      </p:sp>
      <p:sp>
        <p:nvSpPr>
          <p:cNvPr id="4" name="Text 2"/>
          <p:cNvSpPr/>
          <p:nvPr/>
        </p:nvSpPr>
        <p:spPr>
          <a:xfrm>
            <a:off x="685800" y="1051560"/>
            <a:ext cx="3840480" cy="320040"/>
          </a:xfrm>
          <a:prstGeom prst="rect">
            <a:avLst/>
          </a:prstGeom>
          <a:noFill/>
          <a:ln/>
        </p:spPr>
        <p:txBody>
          <a:bodyPr wrap="square" lIns="0" tIns="0" rIns="0" bIns="0" rtlCol="0" anchor="ctr"/>
          <a:lstStyle/>
          <a:p>
            <a:pPr marL="0" indent="0">
              <a:buNone/>
            </a:pPr>
            <a:r>
              <a:rPr lang="en-US" sz="1400" b="1" dirty="0">
                <a:solidFill>
                  <a:srgbClr val="1A4D80"/>
                </a:solidFill>
                <a:latin typeface="Arial" pitchFamily="34" charset="0"/>
                <a:ea typeface="Arial" pitchFamily="34" charset="-122"/>
                <a:cs typeface="Arial" pitchFamily="34" charset="-120"/>
              </a:rPr>
              <a:t>Principal Component Analysis</a:t>
            </a:r>
            <a:endParaRPr lang="en-US" sz="1400" dirty="0"/>
          </a:p>
        </p:txBody>
      </p:sp>
      <p:sp>
        <p:nvSpPr>
          <p:cNvPr id="5" name="Text 3"/>
          <p:cNvSpPr/>
          <p:nvPr/>
        </p:nvSpPr>
        <p:spPr>
          <a:xfrm>
            <a:off x="685800" y="1417320"/>
            <a:ext cx="3840480" cy="2103120"/>
          </a:xfrm>
          <a:prstGeom prst="rect">
            <a:avLst/>
          </a:prstGeom>
          <a:noFill/>
          <a:ln/>
        </p:spPr>
        <p:txBody>
          <a:bodyPr wrap="square" lIns="0" tIns="0" rIns="0" bIns="0" rtlCol="0" anchor="ctr"/>
          <a:lstStyle/>
          <a:p>
            <a:pPr marL="0" indent="0">
              <a:lnSpc>
                <a:spcPct val="110000"/>
              </a:lnSpc>
              <a:buNone/>
            </a:pPr>
            <a:r>
              <a:rPr lang="en-US" sz="1150" b="1" dirty="0">
                <a:solidFill>
                  <a:srgbClr val="2D3748"/>
                </a:solidFill>
                <a:latin typeface="Arial" pitchFamily="34" charset="0"/>
                <a:ea typeface="Arial" pitchFamily="34" charset="-122"/>
                <a:cs typeface="Arial" pitchFamily="34" charset="-120"/>
              </a:rPr>
              <a:t>Dimensionality reduction</a:t>
            </a:r>
            <a:endParaRPr lang="en-US" sz="115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From 48×48 images , to 2304 features. And then to PCA projects to lower dimensions</a:t>
            </a:r>
            <a:endParaRPr lang="en-US" sz="1150" dirty="0"/>
          </a:p>
          <a:p>
            <a:pPr marL="0" indent="0">
              <a:lnSpc>
                <a:spcPct val="110000"/>
              </a:lnSpc>
              <a:buNone/>
            </a:pPr>
            <a:endParaRPr lang="en-US" sz="1150" dirty="0"/>
          </a:p>
          <a:p>
            <a:pPr marL="0" indent="0">
              <a:lnSpc>
                <a:spcPct val="110000"/>
              </a:lnSpc>
              <a:buNone/>
            </a:pPr>
            <a:r>
              <a:rPr lang="en-US" sz="1150" b="1" dirty="0">
                <a:solidFill>
                  <a:srgbClr val="2D3748"/>
                </a:solidFill>
                <a:latin typeface="Arial" pitchFamily="34" charset="0"/>
                <a:ea typeface="Arial" pitchFamily="34" charset="-122"/>
                <a:cs typeface="Arial" pitchFamily="34" charset="-120"/>
              </a:rPr>
              <a:t>Used primarily for SVM pipeline</a:t>
            </a:r>
            <a:endParaRPr lang="en-US" sz="115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Follows the reference paper's classical ML approach</a:t>
            </a:r>
            <a:endParaRPr lang="en-US" sz="1150" dirty="0"/>
          </a:p>
          <a:p>
            <a:pPr marL="0" indent="0">
              <a:lnSpc>
                <a:spcPct val="110000"/>
              </a:lnSpc>
              <a:buNone/>
            </a:pPr>
            <a:endParaRPr lang="en-US" sz="1150" dirty="0"/>
          </a:p>
          <a:p>
            <a:pPr marL="0" indent="0">
              <a:lnSpc>
                <a:spcPct val="110000"/>
              </a:lnSpc>
              <a:buNone/>
            </a:pPr>
            <a:r>
              <a:rPr lang="en-US" sz="1150" b="1" dirty="0">
                <a:solidFill>
                  <a:srgbClr val="DC2626"/>
                </a:solidFill>
                <a:latin typeface="Arial" pitchFamily="34" charset="0"/>
                <a:ea typeface="Arial" pitchFamily="34" charset="-122"/>
                <a:cs typeface="Arial" pitchFamily="34" charset="-120"/>
              </a:rPr>
              <a:t>Limitation</a:t>
            </a:r>
            <a:endParaRPr lang="en-US" sz="115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Can lose spatial information critical for subtle differences</a:t>
            </a:r>
            <a:endParaRPr lang="en-US" sz="1150" dirty="0"/>
          </a:p>
        </p:txBody>
      </p:sp>
      <p:sp>
        <p:nvSpPr>
          <p:cNvPr id="6" name="Text 4"/>
          <p:cNvSpPr/>
          <p:nvPr/>
        </p:nvSpPr>
        <p:spPr>
          <a:xfrm>
            <a:off x="5029200" y="960120"/>
            <a:ext cx="3657600" cy="274320"/>
          </a:xfrm>
          <a:prstGeom prst="rect">
            <a:avLst/>
          </a:prstGeom>
          <a:noFill/>
          <a:ln/>
        </p:spPr>
        <p:txBody>
          <a:bodyPr wrap="square" lIns="0" tIns="0" rIns="0" bIns="0" rtlCol="0" anchor="ctr"/>
          <a:lstStyle/>
          <a:p>
            <a:pPr marL="0" indent="0" algn="ctr">
              <a:buNone/>
            </a:pPr>
            <a:r>
              <a:rPr lang="en-US" sz="1200" b="1" dirty="0">
                <a:solidFill>
                  <a:srgbClr val="001940"/>
                </a:solidFill>
                <a:latin typeface="Arial" pitchFamily="34" charset="0"/>
                <a:ea typeface="Arial" pitchFamily="34" charset="-122"/>
                <a:cs typeface="Arial" pitchFamily="34" charset="-120"/>
              </a:rPr>
              <a:t>Explained Variance by Component</a:t>
            </a:r>
            <a:endParaRPr lang="en-US" sz="1200" dirty="0"/>
          </a:p>
        </p:txBody>
      </p:sp>
      <p:sp>
        <p:nvSpPr>
          <p:cNvPr id="8" name="Shape 5"/>
          <p:cNvSpPr/>
          <p:nvPr/>
        </p:nvSpPr>
        <p:spPr>
          <a:xfrm>
            <a:off x="457200" y="3886200"/>
            <a:ext cx="8229600" cy="548640"/>
          </a:xfrm>
          <a:prstGeom prst="roundRect">
            <a:avLst>
              <a:gd name="adj" fmla="val 13333"/>
            </a:avLst>
          </a:prstGeom>
          <a:solidFill>
            <a:srgbClr val="ECFDF5"/>
          </a:solidFill>
          <a:ln/>
        </p:spPr>
        <p:txBody>
          <a:bodyPr/>
          <a:lstStyle/>
          <a:p>
            <a:endParaRPr lang="es-CO"/>
          </a:p>
        </p:txBody>
      </p:sp>
      <p:sp>
        <p:nvSpPr>
          <p:cNvPr id="9" name="Text 6"/>
          <p:cNvSpPr/>
          <p:nvPr/>
        </p:nvSpPr>
        <p:spPr>
          <a:xfrm>
            <a:off x="685800" y="3931920"/>
            <a:ext cx="7772400" cy="457200"/>
          </a:xfrm>
          <a:prstGeom prst="rect">
            <a:avLst/>
          </a:prstGeom>
          <a:noFill/>
          <a:ln/>
        </p:spPr>
        <p:txBody>
          <a:bodyPr wrap="square" lIns="0" tIns="0" rIns="0" bIns="0" rtlCol="0" anchor="ctr"/>
          <a:lstStyle/>
          <a:p>
            <a:pPr marL="0" indent="0">
              <a:buNone/>
            </a:pPr>
            <a:r>
              <a:rPr lang="en-US" sz="1100" dirty="0">
                <a:solidFill>
                  <a:srgbClr val="2D3748"/>
                </a:solidFill>
                <a:latin typeface="Arial" pitchFamily="34" charset="0"/>
                <a:ea typeface="Arial" pitchFamily="34" charset="-122"/>
                <a:cs typeface="Arial" pitchFamily="34" charset="-120"/>
              </a:rPr>
              <a:t>For ~200 components onwards, the information lost is minimal. However, 67 components retain 86% of  the total variance of the 2304 original features.</a:t>
            </a:r>
            <a:endParaRPr lang="en-US" sz="1100" dirty="0"/>
          </a:p>
        </p:txBody>
      </p:sp>
      <p:sp>
        <p:nvSpPr>
          <p:cNvPr id="10" name="Shape 7"/>
          <p:cNvSpPr/>
          <p:nvPr/>
        </p:nvSpPr>
        <p:spPr>
          <a:xfrm>
            <a:off x="0" y="4709160"/>
            <a:ext cx="9144000" cy="434340"/>
          </a:xfrm>
          <a:prstGeom prst="rect">
            <a:avLst/>
          </a:prstGeom>
          <a:solidFill>
            <a:srgbClr val="001940"/>
          </a:solidFill>
          <a:ln/>
        </p:spPr>
        <p:txBody>
          <a:bodyPr/>
          <a:lstStyle/>
          <a:p>
            <a:endParaRPr lang="es-CO"/>
          </a:p>
        </p:txBody>
      </p:sp>
      <p:pic>
        <p:nvPicPr>
          <p:cNvPr id="11" name="Image 0" descr="/agent/turn3/workspace/polimi_logo_white.png"/>
          <p:cNvPicPr>
            <a:picLocks noChangeAspect="1"/>
          </p:cNvPicPr>
          <p:nvPr/>
        </p:nvPicPr>
        <p:blipFill>
          <a:blip r:embed="rId3"/>
          <a:stretch>
            <a:fillRect/>
          </a:stretch>
        </p:blipFill>
        <p:spPr>
          <a:xfrm>
            <a:off x="344167" y="4736592"/>
            <a:ext cx="1140465" cy="347472"/>
          </a:xfrm>
          <a:prstGeom prst="rect">
            <a:avLst/>
          </a:prstGeom>
        </p:spPr>
      </p:pic>
      <p:sp>
        <p:nvSpPr>
          <p:cNvPr id="12" name="Text 8"/>
          <p:cNvSpPr/>
          <p:nvPr/>
        </p:nvSpPr>
        <p:spPr>
          <a:xfrm>
            <a:off x="7772400" y="4736592"/>
            <a:ext cx="1097280" cy="347472"/>
          </a:xfrm>
          <a:prstGeom prst="rect">
            <a:avLst/>
          </a:prstGeom>
          <a:noFill/>
          <a:ln/>
        </p:spPr>
        <p:txBody>
          <a:bodyPr wrap="square" lIns="0" tIns="0" rIns="0" bIns="0" rtlCol="0" anchor="ctr"/>
          <a:lstStyle/>
          <a:p>
            <a:pPr marL="0" indent="0" algn="r">
              <a:buNone/>
            </a:pPr>
            <a:r>
              <a:rPr lang="en-US" sz="900" dirty="0">
                <a:solidFill>
                  <a:srgbClr val="FFFFFF"/>
                </a:solidFill>
                <a:latin typeface="Arial" pitchFamily="34" charset="0"/>
                <a:ea typeface="Arial" pitchFamily="34" charset="-122"/>
                <a:cs typeface="Arial" pitchFamily="34" charset="-120"/>
              </a:rPr>
              <a:t>7 / 15</a:t>
            </a:r>
            <a:endParaRPr lang="en-US" sz="900" dirty="0"/>
          </a:p>
        </p:txBody>
      </p:sp>
      <p:pic>
        <p:nvPicPr>
          <p:cNvPr id="14" name="Imagen 13">
            <a:extLst>
              <a:ext uri="{FF2B5EF4-FFF2-40B4-BE49-F238E27FC236}">
                <a16:creationId xmlns:a16="http://schemas.microsoft.com/office/drawing/2014/main" id="{18BE40B8-9383-03D4-8B68-DB1045CA4370}"/>
              </a:ext>
            </a:extLst>
          </p:cNvPr>
          <p:cNvPicPr>
            <a:picLocks noChangeAspect="1"/>
          </p:cNvPicPr>
          <p:nvPr/>
        </p:nvPicPr>
        <p:blipFill>
          <a:blip r:embed="rId4"/>
          <a:srcRect t="5342"/>
          <a:stretch>
            <a:fillRect/>
          </a:stretch>
        </p:blipFill>
        <p:spPr>
          <a:xfrm>
            <a:off x="5768991" y="1280160"/>
            <a:ext cx="2189660" cy="242656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buNone/>
            </a:pPr>
            <a:r>
              <a:rPr lang="en-US" sz="2800" b="1" kern="0" spc="100" dirty="0">
                <a:solidFill>
                  <a:srgbClr val="001940"/>
                </a:solidFill>
                <a:latin typeface="Manrope ExtraBold" pitchFamily="2" charset="0"/>
                <a:ea typeface="Georgia" pitchFamily="34" charset="-122"/>
                <a:cs typeface="Georgia" pitchFamily="34" charset="-120"/>
              </a:rPr>
              <a:t>MODEL EVALUATION METHODOLOGY</a:t>
            </a:r>
            <a:endParaRPr lang="en-US" sz="2800" dirty="0">
              <a:latin typeface="Manrope ExtraBold" pitchFamily="2" charset="0"/>
            </a:endParaRPr>
          </a:p>
        </p:txBody>
      </p:sp>
      <p:sp>
        <p:nvSpPr>
          <p:cNvPr id="3" name="Shape 1"/>
          <p:cNvSpPr/>
          <p:nvPr/>
        </p:nvSpPr>
        <p:spPr>
          <a:xfrm>
            <a:off x="274320" y="960120"/>
            <a:ext cx="1600200" cy="1554480"/>
          </a:xfrm>
          <a:prstGeom prst="roundRect">
            <a:avLst>
              <a:gd name="adj" fmla="val 5882"/>
            </a:avLst>
          </a:prstGeom>
          <a:solidFill>
            <a:srgbClr val="E8F0FA"/>
          </a:solidFill>
          <a:ln/>
        </p:spPr>
        <p:txBody>
          <a:bodyPr/>
          <a:lstStyle/>
          <a:p>
            <a:endParaRPr lang="es-CO"/>
          </a:p>
        </p:txBody>
      </p:sp>
      <p:sp>
        <p:nvSpPr>
          <p:cNvPr id="4" name="Shape 2"/>
          <p:cNvSpPr/>
          <p:nvPr/>
        </p:nvSpPr>
        <p:spPr>
          <a:xfrm>
            <a:off x="841248" y="1051560"/>
            <a:ext cx="411480" cy="411480"/>
          </a:xfrm>
          <a:prstGeom prst="ellipse">
            <a:avLst/>
          </a:prstGeom>
          <a:solidFill>
            <a:srgbClr val="1A4D80"/>
          </a:solidFill>
          <a:ln/>
        </p:spPr>
        <p:txBody>
          <a:bodyPr/>
          <a:lstStyle/>
          <a:p>
            <a:endParaRPr lang="es-CO"/>
          </a:p>
        </p:txBody>
      </p:sp>
      <p:sp>
        <p:nvSpPr>
          <p:cNvPr id="5" name="Text 3"/>
          <p:cNvSpPr/>
          <p:nvPr/>
        </p:nvSpPr>
        <p:spPr>
          <a:xfrm>
            <a:off x="841248" y="10515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p:nvPr/>
        </p:nvSpPr>
        <p:spPr>
          <a:xfrm>
            <a:off x="365760" y="1554480"/>
            <a:ext cx="1417320" cy="411480"/>
          </a:xfrm>
          <a:prstGeom prst="rect">
            <a:avLst/>
          </a:prstGeom>
          <a:noFill/>
          <a:ln/>
        </p:spPr>
        <p:txBody>
          <a:bodyPr wrap="square" lIns="0" tIns="0" rIns="0" bIns="0" rtlCol="0" anchor="ctr"/>
          <a:lstStyle/>
          <a:p>
            <a:pPr marL="0" indent="0" algn="ctr">
              <a:buNone/>
            </a:pPr>
            <a:r>
              <a:rPr lang="en-US" sz="1100" b="1" dirty="0">
                <a:solidFill>
                  <a:srgbClr val="001940"/>
                </a:solidFill>
                <a:latin typeface="Arial" pitchFamily="34" charset="0"/>
                <a:ea typeface="Arial" pitchFamily="34" charset="-122"/>
                <a:cs typeface="Arial" pitchFamily="34" charset="-120"/>
              </a:rPr>
              <a:t>Cleaned</a:t>
            </a:r>
            <a:endParaRPr lang="en-US" sz="1100" dirty="0"/>
          </a:p>
          <a:p>
            <a:pPr marL="0" indent="0" algn="ctr">
              <a:buNone/>
            </a:pPr>
            <a:r>
              <a:rPr lang="en-US" sz="1100" b="1" dirty="0">
                <a:solidFill>
                  <a:srgbClr val="001940"/>
                </a:solidFill>
                <a:latin typeface="Arial" pitchFamily="34" charset="0"/>
                <a:ea typeface="Arial" pitchFamily="34" charset="-122"/>
                <a:cs typeface="Arial" pitchFamily="34" charset="-120"/>
              </a:rPr>
              <a:t>Dataset</a:t>
            </a:r>
            <a:endParaRPr lang="en-US" sz="1100" dirty="0"/>
          </a:p>
        </p:txBody>
      </p:sp>
      <p:sp>
        <p:nvSpPr>
          <p:cNvPr id="7" name="Text 5"/>
          <p:cNvSpPr/>
          <p:nvPr/>
        </p:nvSpPr>
        <p:spPr>
          <a:xfrm>
            <a:off x="365760" y="1965960"/>
            <a:ext cx="1417320" cy="365760"/>
          </a:xfrm>
          <a:prstGeom prst="rect">
            <a:avLst/>
          </a:prstGeom>
          <a:noFill/>
          <a:ln/>
        </p:spPr>
        <p:txBody>
          <a:bodyPr wrap="square" lIns="0" tIns="0" rIns="0" bIns="0" rtlCol="0" anchor="ctr"/>
          <a:lstStyle/>
          <a:p>
            <a:pPr marL="0" indent="0" algn="ctr">
              <a:buNone/>
            </a:pPr>
            <a:r>
              <a:rPr lang="en-US" sz="900" dirty="0">
                <a:solidFill>
                  <a:srgbClr val="6B7280"/>
                </a:solidFill>
                <a:latin typeface="Arial" pitchFamily="34" charset="0"/>
                <a:ea typeface="Arial" pitchFamily="34" charset="-122"/>
                <a:cs typeface="Arial" pitchFamily="34" charset="-120"/>
              </a:rPr>
              <a:t>Normalized input</a:t>
            </a:r>
            <a:endParaRPr lang="en-US" sz="900" dirty="0"/>
          </a:p>
        </p:txBody>
      </p:sp>
      <p:sp>
        <p:nvSpPr>
          <p:cNvPr id="8" name="Text 6"/>
          <p:cNvSpPr/>
          <p:nvPr/>
        </p:nvSpPr>
        <p:spPr>
          <a:xfrm>
            <a:off x="1828800" y="1463040"/>
            <a:ext cx="274320" cy="411480"/>
          </a:xfrm>
          <a:prstGeom prst="rect">
            <a:avLst/>
          </a:prstGeom>
          <a:noFill/>
          <a:ln/>
        </p:spPr>
        <p:txBody>
          <a:bodyPr wrap="square" lIns="0" tIns="0" rIns="0" bIns="0" rtlCol="0" anchor="ctr"/>
          <a:lstStyle/>
          <a:p>
            <a:pPr marL="0" indent="0" algn="ctr">
              <a:buNone/>
            </a:pPr>
            <a:r>
              <a:rPr lang="en-US" sz="1800" dirty="0">
                <a:solidFill>
                  <a:srgbClr val="5BA3E6"/>
                </a:solidFill>
                <a:latin typeface="Arial" pitchFamily="34" charset="0"/>
                <a:ea typeface="Arial" pitchFamily="34" charset="-122"/>
                <a:cs typeface="Arial" pitchFamily="34" charset="-120"/>
              </a:rPr>
              <a:t>→</a:t>
            </a:r>
            <a:endParaRPr lang="en-US" sz="1800" dirty="0"/>
          </a:p>
        </p:txBody>
      </p:sp>
      <p:sp>
        <p:nvSpPr>
          <p:cNvPr id="9" name="Shape 7"/>
          <p:cNvSpPr/>
          <p:nvPr/>
        </p:nvSpPr>
        <p:spPr>
          <a:xfrm>
            <a:off x="2057400" y="960120"/>
            <a:ext cx="1600200" cy="1554480"/>
          </a:xfrm>
          <a:prstGeom prst="roundRect">
            <a:avLst>
              <a:gd name="adj" fmla="val 5882"/>
            </a:avLst>
          </a:prstGeom>
          <a:solidFill>
            <a:srgbClr val="E8F0FA"/>
          </a:solidFill>
          <a:ln/>
        </p:spPr>
        <p:txBody>
          <a:bodyPr/>
          <a:lstStyle/>
          <a:p>
            <a:endParaRPr lang="es-CO"/>
          </a:p>
        </p:txBody>
      </p:sp>
      <p:sp>
        <p:nvSpPr>
          <p:cNvPr id="10" name="Shape 8"/>
          <p:cNvSpPr/>
          <p:nvPr/>
        </p:nvSpPr>
        <p:spPr>
          <a:xfrm>
            <a:off x="2624328" y="1051560"/>
            <a:ext cx="411480" cy="411480"/>
          </a:xfrm>
          <a:prstGeom prst="ellipse">
            <a:avLst/>
          </a:prstGeom>
          <a:solidFill>
            <a:srgbClr val="1A4D80"/>
          </a:solidFill>
          <a:ln/>
        </p:spPr>
        <p:txBody>
          <a:bodyPr/>
          <a:lstStyle/>
          <a:p>
            <a:endParaRPr lang="es-CO"/>
          </a:p>
        </p:txBody>
      </p:sp>
      <p:sp>
        <p:nvSpPr>
          <p:cNvPr id="11" name="Text 9"/>
          <p:cNvSpPr/>
          <p:nvPr/>
        </p:nvSpPr>
        <p:spPr>
          <a:xfrm>
            <a:off x="2624328" y="10515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2148840" y="1554480"/>
            <a:ext cx="1417320" cy="411480"/>
          </a:xfrm>
          <a:prstGeom prst="rect">
            <a:avLst/>
          </a:prstGeom>
          <a:noFill/>
          <a:ln/>
        </p:spPr>
        <p:txBody>
          <a:bodyPr wrap="square" lIns="0" tIns="0" rIns="0" bIns="0" rtlCol="0" anchor="ctr"/>
          <a:lstStyle/>
          <a:p>
            <a:pPr marL="0" indent="0" algn="ctr">
              <a:buNone/>
            </a:pPr>
            <a:r>
              <a:rPr lang="en-US" sz="1100" b="1" dirty="0">
                <a:solidFill>
                  <a:srgbClr val="001940"/>
                </a:solidFill>
                <a:latin typeface="Arial" pitchFamily="34" charset="0"/>
                <a:ea typeface="Arial" pitchFamily="34" charset="-122"/>
                <a:cs typeface="Arial" pitchFamily="34" charset="-120"/>
              </a:rPr>
              <a:t>Train on</a:t>
            </a:r>
            <a:endParaRPr lang="en-US" sz="1100" dirty="0"/>
          </a:p>
          <a:p>
            <a:pPr marL="0" indent="0" algn="ctr">
              <a:buNone/>
            </a:pPr>
            <a:r>
              <a:rPr lang="en-US" sz="1100" b="1" dirty="0">
                <a:solidFill>
                  <a:srgbClr val="001940"/>
                </a:solidFill>
                <a:latin typeface="Arial" pitchFamily="34" charset="0"/>
                <a:ea typeface="Arial" pitchFamily="34" charset="-122"/>
                <a:cs typeface="Arial" pitchFamily="34" charset="-120"/>
              </a:rPr>
              <a:t>Training Set</a:t>
            </a:r>
            <a:endParaRPr lang="en-US" sz="1100" dirty="0"/>
          </a:p>
        </p:txBody>
      </p:sp>
      <p:sp>
        <p:nvSpPr>
          <p:cNvPr id="13" name="Text 11"/>
          <p:cNvSpPr/>
          <p:nvPr/>
        </p:nvSpPr>
        <p:spPr>
          <a:xfrm>
            <a:off x="2148840" y="1965960"/>
            <a:ext cx="1417320" cy="365760"/>
          </a:xfrm>
          <a:prstGeom prst="rect">
            <a:avLst/>
          </a:prstGeom>
          <a:noFill/>
          <a:ln/>
        </p:spPr>
        <p:txBody>
          <a:bodyPr wrap="square" lIns="0" tIns="0" rIns="0" bIns="0" rtlCol="0" anchor="ctr"/>
          <a:lstStyle/>
          <a:p>
            <a:pPr marL="0" indent="0" algn="ctr">
              <a:buNone/>
            </a:pPr>
            <a:r>
              <a:rPr lang="en-US" sz="900" dirty="0">
                <a:solidFill>
                  <a:srgbClr val="6B7280"/>
                </a:solidFill>
                <a:latin typeface="Arial" pitchFamily="34" charset="0"/>
                <a:ea typeface="Arial" pitchFamily="34" charset="-122"/>
                <a:cs typeface="Arial" pitchFamily="34" charset="-120"/>
              </a:rPr>
              <a:t>Learn patterns</a:t>
            </a:r>
            <a:endParaRPr lang="en-US" sz="900" dirty="0"/>
          </a:p>
        </p:txBody>
      </p:sp>
      <p:sp>
        <p:nvSpPr>
          <p:cNvPr id="14" name="Text 12"/>
          <p:cNvSpPr/>
          <p:nvPr/>
        </p:nvSpPr>
        <p:spPr>
          <a:xfrm>
            <a:off x="3611880" y="1463040"/>
            <a:ext cx="274320" cy="411480"/>
          </a:xfrm>
          <a:prstGeom prst="rect">
            <a:avLst/>
          </a:prstGeom>
          <a:noFill/>
          <a:ln/>
        </p:spPr>
        <p:txBody>
          <a:bodyPr wrap="square" lIns="0" tIns="0" rIns="0" bIns="0" rtlCol="0" anchor="ctr"/>
          <a:lstStyle/>
          <a:p>
            <a:pPr marL="0" indent="0" algn="ctr">
              <a:buNone/>
            </a:pPr>
            <a:r>
              <a:rPr lang="en-US" sz="1800" dirty="0">
                <a:solidFill>
                  <a:srgbClr val="5BA3E6"/>
                </a:solidFill>
                <a:latin typeface="Arial" pitchFamily="34" charset="0"/>
                <a:ea typeface="Arial" pitchFamily="34" charset="-122"/>
                <a:cs typeface="Arial" pitchFamily="34" charset="-120"/>
              </a:rPr>
              <a:t>→</a:t>
            </a:r>
            <a:endParaRPr lang="en-US" sz="1800" dirty="0"/>
          </a:p>
        </p:txBody>
      </p:sp>
      <p:sp>
        <p:nvSpPr>
          <p:cNvPr id="15" name="Shape 13"/>
          <p:cNvSpPr/>
          <p:nvPr/>
        </p:nvSpPr>
        <p:spPr>
          <a:xfrm>
            <a:off x="3840480" y="960120"/>
            <a:ext cx="1600200" cy="1554480"/>
          </a:xfrm>
          <a:prstGeom prst="roundRect">
            <a:avLst>
              <a:gd name="adj" fmla="val 5882"/>
            </a:avLst>
          </a:prstGeom>
          <a:solidFill>
            <a:srgbClr val="E8F0FA"/>
          </a:solidFill>
          <a:ln/>
        </p:spPr>
        <p:txBody>
          <a:bodyPr/>
          <a:lstStyle/>
          <a:p>
            <a:endParaRPr lang="es-CO"/>
          </a:p>
        </p:txBody>
      </p:sp>
      <p:sp>
        <p:nvSpPr>
          <p:cNvPr id="16" name="Shape 14"/>
          <p:cNvSpPr/>
          <p:nvPr/>
        </p:nvSpPr>
        <p:spPr>
          <a:xfrm>
            <a:off x="4407408" y="1051560"/>
            <a:ext cx="411480" cy="411480"/>
          </a:xfrm>
          <a:prstGeom prst="ellipse">
            <a:avLst/>
          </a:prstGeom>
          <a:solidFill>
            <a:srgbClr val="1A4D80"/>
          </a:solidFill>
          <a:ln/>
        </p:spPr>
        <p:txBody>
          <a:bodyPr/>
          <a:lstStyle/>
          <a:p>
            <a:endParaRPr lang="es-CO"/>
          </a:p>
        </p:txBody>
      </p:sp>
      <p:sp>
        <p:nvSpPr>
          <p:cNvPr id="17" name="Text 15"/>
          <p:cNvSpPr/>
          <p:nvPr/>
        </p:nvSpPr>
        <p:spPr>
          <a:xfrm>
            <a:off x="4407408" y="10515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8" name="Text 16"/>
          <p:cNvSpPr/>
          <p:nvPr/>
        </p:nvSpPr>
        <p:spPr>
          <a:xfrm>
            <a:off x="3931920" y="1554480"/>
            <a:ext cx="1417320" cy="411480"/>
          </a:xfrm>
          <a:prstGeom prst="rect">
            <a:avLst/>
          </a:prstGeom>
          <a:noFill/>
          <a:ln/>
        </p:spPr>
        <p:txBody>
          <a:bodyPr wrap="square" lIns="0" tIns="0" rIns="0" bIns="0" rtlCol="0" anchor="ctr"/>
          <a:lstStyle/>
          <a:p>
            <a:pPr marL="0" indent="0" algn="ctr">
              <a:buNone/>
            </a:pPr>
            <a:r>
              <a:rPr lang="en-US" sz="1100" b="1" dirty="0">
                <a:solidFill>
                  <a:srgbClr val="001940"/>
                </a:solidFill>
                <a:latin typeface="Arial" pitchFamily="34" charset="0"/>
                <a:ea typeface="Arial" pitchFamily="34" charset="-122"/>
                <a:cs typeface="Arial" pitchFamily="34" charset="-120"/>
              </a:rPr>
              <a:t>Tune on</a:t>
            </a:r>
            <a:endParaRPr lang="en-US" sz="1100" dirty="0"/>
          </a:p>
          <a:p>
            <a:pPr marL="0" indent="0" algn="ctr">
              <a:buNone/>
            </a:pPr>
            <a:r>
              <a:rPr lang="en-US" sz="1100" b="1" dirty="0">
                <a:solidFill>
                  <a:srgbClr val="001940"/>
                </a:solidFill>
                <a:latin typeface="Arial" pitchFamily="34" charset="0"/>
                <a:ea typeface="Arial" pitchFamily="34" charset="-122"/>
                <a:cs typeface="Arial" pitchFamily="34" charset="-120"/>
              </a:rPr>
              <a:t>Validation</a:t>
            </a:r>
            <a:endParaRPr lang="en-US" sz="1100" dirty="0"/>
          </a:p>
        </p:txBody>
      </p:sp>
      <p:sp>
        <p:nvSpPr>
          <p:cNvPr id="19" name="Text 17"/>
          <p:cNvSpPr/>
          <p:nvPr/>
        </p:nvSpPr>
        <p:spPr>
          <a:xfrm>
            <a:off x="3931920" y="1965960"/>
            <a:ext cx="1417320" cy="365760"/>
          </a:xfrm>
          <a:prstGeom prst="rect">
            <a:avLst/>
          </a:prstGeom>
          <a:noFill/>
          <a:ln/>
        </p:spPr>
        <p:txBody>
          <a:bodyPr wrap="square" lIns="0" tIns="0" rIns="0" bIns="0" rtlCol="0" anchor="ctr"/>
          <a:lstStyle/>
          <a:p>
            <a:pPr marL="0" indent="0" algn="ctr">
              <a:buNone/>
            </a:pPr>
            <a:r>
              <a:rPr lang="en-US" sz="900" dirty="0">
                <a:solidFill>
                  <a:srgbClr val="6B7280"/>
                </a:solidFill>
                <a:latin typeface="Arial" pitchFamily="34" charset="0"/>
                <a:ea typeface="Arial" pitchFamily="34" charset="-122"/>
                <a:cs typeface="Arial" pitchFamily="34" charset="-120"/>
              </a:rPr>
              <a:t>Hyperparameters</a:t>
            </a:r>
            <a:endParaRPr lang="en-US" sz="900" dirty="0"/>
          </a:p>
        </p:txBody>
      </p:sp>
      <p:sp>
        <p:nvSpPr>
          <p:cNvPr id="20" name="Text 18"/>
          <p:cNvSpPr/>
          <p:nvPr/>
        </p:nvSpPr>
        <p:spPr>
          <a:xfrm>
            <a:off x="5394960" y="1463040"/>
            <a:ext cx="274320" cy="411480"/>
          </a:xfrm>
          <a:prstGeom prst="rect">
            <a:avLst/>
          </a:prstGeom>
          <a:noFill/>
          <a:ln/>
        </p:spPr>
        <p:txBody>
          <a:bodyPr wrap="square" lIns="0" tIns="0" rIns="0" bIns="0" rtlCol="0" anchor="ctr"/>
          <a:lstStyle/>
          <a:p>
            <a:pPr marL="0" indent="0" algn="ctr">
              <a:buNone/>
            </a:pPr>
            <a:r>
              <a:rPr lang="en-US" sz="1800" dirty="0">
                <a:solidFill>
                  <a:srgbClr val="5BA3E6"/>
                </a:solidFill>
                <a:latin typeface="Arial" pitchFamily="34" charset="0"/>
                <a:ea typeface="Arial" pitchFamily="34" charset="-122"/>
                <a:cs typeface="Arial" pitchFamily="34" charset="-120"/>
              </a:rPr>
              <a:t>→</a:t>
            </a:r>
            <a:endParaRPr lang="en-US" sz="1800" dirty="0"/>
          </a:p>
        </p:txBody>
      </p:sp>
      <p:sp>
        <p:nvSpPr>
          <p:cNvPr id="21" name="Shape 19"/>
          <p:cNvSpPr/>
          <p:nvPr/>
        </p:nvSpPr>
        <p:spPr>
          <a:xfrm>
            <a:off x="5623560" y="960120"/>
            <a:ext cx="1600200" cy="1554480"/>
          </a:xfrm>
          <a:prstGeom prst="roundRect">
            <a:avLst>
              <a:gd name="adj" fmla="val 5882"/>
            </a:avLst>
          </a:prstGeom>
          <a:solidFill>
            <a:srgbClr val="E8F0FA"/>
          </a:solidFill>
          <a:ln/>
        </p:spPr>
        <p:txBody>
          <a:bodyPr/>
          <a:lstStyle/>
          <a:p>
            <a:endParaRPr lang="es-CO" dirty="0"/>
          </a:p>
        </p:txBody>
      </p:sp>
      <p:sp>
        <p:nvSpPr>
          <p:cNvPr id="22" name="Shape 20"/>
          <p:cNvSpPr/>
          <p:nvPr/>
        </p:nvSpPr>
        <p:spPr>
          <a:xfrm>
            <a:off x="6190488" y="1051560"/>
            <a:ext cx="411480" cy="411480"/>
          </a:xfrm>
          <a:prstGeom prst="ellipse">
            <a:avLst/>
          </a:prstGeom>
          <a:solidFill>
            <a:srgbClr val="1A4D80"/>
          </a:solidFill>
          <a:ln/>
        </p:spPr>
        <p:txBody>
          <a:bodyPr/>
          <a:lstStyle/>
          <a:p>
            <a:endParaRPr lang="es-CO"/>
          </a:p>
        </p:txBody>
      </p:sp>
      <p:sp>
        <p:nvSpPr>
          <p:cNvPr id="23" name="Text 21"/>
          <p:cNvSpPr/>
          <p:nvPr/>
        </p:nvSpPr>
        <p:spPr>
          <a:xfrm>
            <a:off x="6190488" y="10515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4" name="Text 22"/>
          <p:cNvSpPr/>
          <p:nvPr/>
        </p:nvSpPr>
        <p:spPr>
          <a:xfrm>
            <a:off x="5715000" y="1554480"/>
            <a:ext cx="1417320" cy="411480"/>
          </a:xfrm>
          <a:prstGeom prst="rect">
            <a:avLst/>
          </a:prstGeom>
          <a:noFill/>
          <a:ln/>
        </p:spPr>
        <p:txBody>
          <a:bodyPr wrap="square" lIns="0" tIns="0" rIns="0" bIns="0" rtlCol="0" anchor="ctr"/>
          <a:lstStyle/>
          <a:p>
            <a:pPr marL="0" indent="0" algn="ctr">
              <a:buNone/>
            </a:pPr>
            <a:r>
              <a:rPr lang="en-US" sz="1100" b="1" dirty="0">
                <a:solidFill>
                  <a:srgbClr val="001940"/>
                </a:solidFill>
                <a:latin typeface="Arial" pitchFamily="34" charset="0"/>
                <a:ea typeface="Arial" pitchFamily="34" charset="-122"/>
                <a:cs typeface="Arial" pitchFamily="34" charset="-120"/>
              </a:rPr>
              <a:t>Evaluate</a:t>
            </a:r>
            <a:endParaRPr lang="en-US" sz="1100" dirty="0"/>
          </a:p>
          <a:p>
            <a:pPr marL="0" indent="0" algn="ctr">
              <a:buNone/>
            </a:pPr>
            <a:r>
              <a:rPr lang="en-US" sz="1100" b="1" dirty="0">
                <a:solidFill>
                  <a:srgbClr val="001940"/>
                </a:solidFill>
                <a:latin typeface="Arial" pitchFamily="34" charset="0"/>
                <a:ea typeface="Arial" pitchFamily="34" charset="-122"/>
                <a:cs typeface="Arial" pitchFamily="34" charset="-120"/>
              </a:rPr>
              <a:t>on Test</a:t>
            </a:r>
            <a:endParaRPr lang="en-US" sz="1100" dirty="0"/>
          </a:p>
        </p:txBody>
      </p:sp>
      <p:sp>
        <p:nvSpPr>
          <p:cNvPr id="25" name="Text 23"/>
          <p:cNvSpPr/>
          <p:nvPr/>
        </p:nvSpPr>
        <p:spPr>
          <a:xfrm>
            <a:off x="5715000" y="1965960"/>
            <a:ext cx="1417320" cy="365760"/>
          </a:xfrm>
          <a:prstGeom prst="rect">
            <a:avLst/>
          </a:prstGeom>
          <a:noFill/>
          <a:ln/>
        </p:spPr>
        <p:txBody>
          <a:bodyPr wrap="square" lIns="0" tIns="0" rIns="0" bIns="0" rtlCol="0" anchor="ctr"/>
          <a:lstStyle/>
          <a:p>
            <a:pPr marL="0" indent="0" algn="ctr">
              <a:buNone/>
            </a:pPr>
            <a:r>
              <a:rPr lang="en-US" sz="900" dirty="0">
                <a:solidFill>
                  <a:srgbClr val="6B7280"/>
                </a:solidFill>
                <a:latin typeface="Arial" pitchFamily="34" charset="0"/>
                <a:ea typeface="Arial" pitchFamily="34" charset="-122"/>
                <a:cs typeface="Arial" pitchFamily="34" charset="-120"/>
              </a:rPr>
              <a:t>Final metrics</a:t>
            </a:r>
            <a:endParaRPr lang="en-US" sz="900" dirty="0"/>
          </a:p>
        </p:txBody>
      </p:sp>
      <p:sp>
        <p:nvSpPr>
          <p:cNvPr id="26" name="Text 24"/>
          <p:cNvSpPr/>
          <p:nvPr/>
        </p:nvSpPr>
        <p:spPr>
          <a:xfrm>
            <a:off x="7178040" y="1463040"/>
            <a:ext cx="274320" cy="411480"/>
          </a:xfrm>
          <a:prstGeom prst="rect">
            <a:avLst/>
          </a:prstGeom>
          <a:noFill/>
          <a:ln/>
        </p:spPr>
        <p:txBody>
          <a:bodyPr wrap="square" lIns="0" tIns="0" rIns="0" bIns="0" rtlCol="0" anchor="ctr"/>
          <a:lstStyle/>
          <a:p>
            <a:pPr marL="0" indent="0" algn="ctr">
              <a:buNone/>
            </a:pPr>
            <a:r>
              <a:rPr lang="en-US" sz="1800" dirty="0">
                <a:solidFill>
                  <a:srgbClr val="5BA3E6"/>
                </a:solidFill>
                <a:latin typeface="Arial" pitchFamily="34" charset="0"/>
                <a:ea typeface="Arial" pitchFamily="34" charset="-122"/>
                <a:cs typeface="Arial" pitchFamily="34" charset="-120"/>
              </a:rPr>
              <a:t>→</a:t>
            </a:r>
            <a:endParaRPr lang="en-US" sz="1800" dirty="0"/>
          </a:p>
        </p:txBody>
      </p:sp>
      <p:sp>
        <p:nvSpPr>
          <p:cNvPr id="27" name="Shape 25"/>
          <p:cNvSpPr/>
          <p:nvPr/>
        </p:nvSpPr>
        <p:spPr>
          <a:xfrm>
            <a:off x="7406640" y="960120"/>
            <a:ext cx="1600200" cy="1554480"/>
          </a:xfrm>
          <a:prstGeom prst="roundRect">
            <a:avLst>
              <a:gd name="adj" fmla="val 5882"/>
            </a:avLst>
          </a:prstGeom>
          <a:solidFill>
            <a:srgbClr val="ECFDF5"/>
          </a:solidFill>
          <a:ln/>
        </p:spPr>
        <p:txBody>
          <a:bodyPr/>
          <a:lstStyle/>
          <a:p>
            <a:endParaRPr lang="es-CO"/>
          </a:p>
        </p:txBody>
      </p:sp>
      <p:sp>
        <p:nvSpPr>
          <p:cNvPr id="28" name="Shape 26"/>
          <p:cNvSpPr/>
          <p:nvPr/>
        </p:nvSpPr>
        <p:spPr>
          <a:xfrm>
            <a:off x="7973568" y="1051560"/>
            <a:ext cx="411480" cy="411480"/>
          </a:xfrm>
          <a:prstGeom prst="ellipse">
            <a:avLst/>
          </a:prstGeom>
          <a:solidFill>
            <a:srgbClr val="1A4D80"/>
          </a:solidFill>
          <a:ln/>
        </p:spPr>
        <p:txBody>
          <a:bodyPr/>
          <a:lstStyle/>
          <a:p>
            <a:endParaRPr lang="es-CO"/>
          </a:p>
        </p:txBody>
      </p:sp>
      <p:sp>
        <p:nvSpPr>
          <p:cNvPr id="29" name="Text 27"/>
          <p:cNvSpPr/>
          <p:nvPr/>
        </p:nvSpPr>
        <p:spPr>
          <a:xfrm>
            <a:off x="7973568" y="10515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30" name="Text 28"/>
          <p:cNvSpPr/>
          <p:nvPr/>
        </p:nvSpPr>
        <p:spPr>
          <a:xfrm>
            <a:off x="7498080" y="1554480"/>
            <a:ext cx="1417320" cy="411480"/>
          </a:xfrm>
          <a:prstGeom prst="rect">
            <a:avLst/>
          </a:prstGeom>
          <a:noFill/>
          <a:ln/>
        </p:spPr>
        <p:txBody>
          <a:bodyPr wrap="square" lIns="0" tIns="0" rIns="0" bIns="0" rtlCol="0" anchor="ctr"/>
          <a:lstStyle/>
          <a:p>
            <a:pPr marL="0" indent="0" algn="ctr">
              <a:buNone/>
            </a:pPr>
            <a:r>
              <a:rPr lang="en-US" sz="1100" b="1" dirty="0">
                <a:solidFill>
                  <a:srgbClr val="001940"/>
                </a:solidFill>
                <a:latin typeface="Arial" pitchFamily="34" charset="0"/>
                <a:ea typeface="Arial" pitchFamily="34" charset="-122"/>
                <a:cs typeface="Arial" pitchFamily="34" charset="-120"/>
              </a:rPr>
              <a:t>Compare</a:t>
            </a:r>
            <a:endParaRPr lang="en-US" sz="1100" dirty="0"/>
          </a:p>
          <a:p>
            <a:pPr marL="0" indent="0" algn="ctr">
              <a:buNone/>
            </a:pPr>
            <a:r>
              <a:rPr lang="en-US" sz="1100" b="1" dirty="0">
                <a:solidFill>
                  <a:srgbClr val="001940"/>
                </a:solidFill>
                <a:latin typeface="Arial" pitchFamily="34" charset="0"/>
                <a:ea typeface="Arial" pitchFamily="34" charset="-122"/>
                <a:cs typeface="Arial" pitchFamily="34" charset="-120"/>
              </a:rPr>
              <a:t>Models</a:t>
            </a:r>
            <a:endParaRPr lang="en-US" sz="1100" dirty="0"/>
          </a:p>
        </p:txBody>
      </p:sp>
      <p:sp>
        <p:nvSpPr>
          <p:cNvPr id="31" name="Text 29"/>
          <p:cNvSpPr/>
          <p:nvPr/>
        </p:nvSpPr>
        <p:spPr>
          <a:xfrm>
            <a:off x="7498080" y="1965960"/>
            <a:ext cx="1417320" cy="365760"/>
          </a:xfrm>
          <a:prstGeom prst="rect">
            <a:avLst/>
          </a:prstGeom>
          <a:noFill/>
          <a:ln/>
        </p:spPr>
        <p:txBody>
          <a:bodyPr wrap="square" lIns="0" tIns="0" rIns="0" bIns="0" rtlCol="0" anchor="ctr"/>
          <a:lstStyle/>
          <a:p>
            <a:pPr marL="0" indent="0" algn="ctr">
              <a:buNone/>
            </a:pPr>
            <a:r>
              <a:rPr lang="en-US" sz="900" dirty="0">
                <a:solidFill>
                  <a:srgbClr val="6B7280"/>
                </a:solidFill>
                <a:latin typeface="Arial" pitchFamily="34" charset="0"/>
                <a:ea typeface="Arial" pitchFamily="34" charset="-122"/>
                <a:cs typeface="Arial" pitchFamily="34" charset="-120"/>
              </a:rPr>
              <a:t>Unified metrics</a:t>
            </a:r>
            <a:endParaRPr lang="en-US" sz="900" dirty="0"/>
          </a:p>
        </p:txBody>
      </p:sp>
      <p:sp>
        <p:nvSpPr>
          <p:cNvPr id="32" name="Text 30"/>
          <p:cNvSpPr/>
          <p:nvPr/>
        </p:nvSpPr>
        <p:spPr>
          <a:xfrm>
            <a:off x="457200" y="2743200"/>
            <a:ext cx="8229600" cy="320040"/>
          </a:xfrm>
          <a:prstGeom prst="rect">
            <a:avLst/>
          </a:prstGeom>
          <a:noFill/>
          <a:ln/>
        </p:spPr>
        <p:txBody>
          <a:bodyPr wrap="square" lIns="0" tIns="0" rIns="0" bIns="0" rtlCol="0" anchor="ctr"/>
          <a:lstStyle/>
          <a:p>
            <a:pPr marL="0" indent="0">
              <a:buNone/>
            </a:pPr>
            <a:r>
              <a:rPr lang="en-US" sz="1500" b="1" dirty="0">
                <a:solidFill>
                  <a:srgbClr val="001940"/>
                </a:solidFill>
                <a:latin typeface="Arial" pitchFamily="34" charset="0"/>
                <a:ea typeface="Arial" pitchFamily="34" charset="-122"/>
                <a:cs typeface="Arial" pitchFamily="34" charset="-120"/>
              </a:rPr>
              <a:t>Comparison Metrics</a:t>
            </a:r>
            <a:endParaRPr lang="en-US" sz="1500" dirty="0"/>
          </a:p>
        </p:txBody>
      </p:sp>
      <p:sp>
        <p:nvSpPr>
          <p:cNvPr id="33" name="Shape 31"/>
          <p:cNvSpPr/>
          <p:nvPr/>
        </p:nvSpPr>
        <p:spPr>
          <a:xfrm>
            <a:off x="457200" y="3200400"/>
            <a:ext cx="2606040" cy="548640"/>
          </a:xfrm>
          <a:prstGeom prst="roundRect">
            <a:avLst>
              <a:gd name="adj" fmla="val 10000"/>
            </a:avLst>
          </a:prstGeom>
          <a:solidFill>
            <a:srgbClr val="F5F7FA"/>
          </a:solidFill>
          <a:ln/>
        </p:spPr>
        <p:txBody>
          <a:bodyPr/>
          <a:lstStyle/>
          <a:p>
            <a:endParaRPr lang="es-CO"/>
          </a:p>
        </p:txBody>
      </p:sp>
      <p:sp>
        <p:nvSpPr>
          <p:cNvPr id="34" name="Text 32"/>
          <p:cNvSpPr/>
          <p:nvPr/>
        </p:nvSpPr>
        <p:spPr>
          <a:xfrm>
            <a:off x="594360" y="3236976"/>
            <a:ext cx="2331720" cy="256032"/>
          </a:xfrm>
          <a:prstGeom prst="rect">
            <a:avLst/>
          </a:prstGeom>
          <a:noFill/>
          <a:ln/>
        </p:spPr>
        <p:txBody>
          <a:bodyPr wrap="square" lIns="0" tIns="0" rIns="0" bIns="0" rtlCol="0" anchor="ctr"/>
          <a:lstStyle/>
          <a:p>
            <a:pPr marL="0" indent="0">
              <a:buNone/>
            </a:pPr>
            <a:r>
              <a:rPr lang="en-US" sz="1150" b="1" dirty="0">
                <a:solidFill>
                  <a:schemeClr val="accent2">
                    <a:lumMod val="75000"/>
                  </a:schemeClr>
                </a:solidFill>
                <a:latin typeface="Arial" pitchFamily="34" charset="0"/>
                <a:ea typeface="Arial" pitchFamily="34" charset="-122"/>
                <a:cs typeface="Arial" pitchFamily="34" charset="-120"/>
              </a:rPr>
              <a:t>Accuracy</a:t>
            </a:r>
            <a:endParaRPr lang="en-US" sz="1150" dirty="0">
              <a:solidFill>
                <a:schemeClr val="accent2">
                  <a:lumMod val="75000"/>
                </a:schemeClr>
              </a:solidFill>
            </a:endParaRPr>
          </a:p>
        </p:txBody>
      </p:sp>
      <p:sp>
        <p:nvSpPr>
          <p:cNvPr id="35" name="Text 33"/>
          <p:cNvSpPr/>
          <p:nvPr/>
        </p:nvSpPr>
        <p:spPr>
          <a:xfrm>
            <a:off x="594360" y="3493008"/>
            <a:ext cx="2331720" cy="219456"/>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Overall correct predictions</a:t>
            </a:r>
            <a:endParaRPr lang="en-US" sz="900" dirty="0"/>
          </a:p>
        </p:txBody>
      </p:sp>
      <p:sp>
        <p:nvSpPr>
          <p:cNvPr id="36" name="Shape 34"/>
          <p:cNvSpPr/>
          <p:nvPr/>
        </p:nvSpPr>
        <p:spPr>
          <a:xfrm>
            <a:off x="3291840" y="3200400"/>
            <a:ext cx="2606040" cy="548640"/>
          </a:xfrm>
          <a:prstGeom prst="roundRect">
            <a:avLst>
              <a:gd name="adj" fmla="val 10000"/>
            </a:avLst>
          </a:prstGeom>
          <a:solidFill>
            <a:srgbClr val="F5F7FA"/>
          </a:solidFill>
          <a:ln/>
        </p:spPr>
        <p:txBody>
          <a:bodyPr/>
          <a:lstStyle/>
          <a:p>
            <a:endParaRPr lang="es-CO"/>
          </a:p>
        </p:txBody>
      </p:sp>
      <p:sp>
        <p:nvSpPr>
          <p:cNvPr id="37" name="Text 35"/>
          <p:cNvSpPr/>
          <p:nvPr/>
        </p:nvSpPr>
        <p:spPr>
          <a:xfrm>
            <a:off x="3429000" y="3236976"/>
            <a:ext cx="2331720" cy="256032"/>
          </a:xfrm>
          <a:prstGeom prst="rect">
            <a:avLst/>
          </a:prstGeom>
          <a:noFill/>
          <a:ln/>
        </p:spPr>
        <p:txBody>
          <a:bodyPr wrap="square" lIns="0" tIns="0" rIns="0" bIns="0" rtlCol="0" anchor="ctr"/>
          <a:lstStyle/>
          <a:p>
            <a:pPr marL="0" indent="0">
              <a:buNone/>
            </a:pPr>
            <a:r>
              <a:rPr lang="en-US" sz="1150" b="1" dirty="0">
                <a:solidFill>
                  <a:srgbClr val="1A4D80"/>
                </a:solidFill>
                <a:latin typeface="Arial" pitchFamily="34" charset="0"/>
                <a:ea typeface="Arial" pitchFamily="34" charset="-122"/>
                <a:cs typeface="Arial" pitchFamily="34" charset="-120"/>
              </a:rPr>
              <a:t>Macro Precision</a:t>
            </a:r>
            <a:endParaRPr lang="en-US" sz="1150" dirty="0"/>
          </a:p>
        </p:txBody>
      </p:sp>
      <p:sp>
        <p:nvSpPr>
          <p:cNvPr id="38" name="Text 36"/>
          <p:cNvSpPr/>
          <p:nvPr/>
        </p:nvSpPr>
        <p:spPr>
          <a:xfrm>
            <a:off x="3429000" y="3493008"/>
            <a:ext cx="2331720" cy="219456"/>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Average precision per class</a:t>
            </a:r>
            <a:endParaRPr lang="en-US" sz="900" dirty="0"/>
          </a:p>
        </p:txBody>
      </p:sp>
      <p:sp>
        <p:nvSpPr>
          <p:cNvPr id="39" name="Shape 37"/>
          <p:cNvSpPr/>
          <p:nvPr/>
        </p:nvSpPr>
        <p:spPr>
          <a:xfrm>
            <a:off x="6126480" y="3200400"/>
            <a:ext cx="2606040" cy="548640"/>
          </a:xfrm>
          <a:prstGeom prst="roundRect">
            <a:avLst>
              <a:gd name="adj" fmla="val 10000"/>
            </a:avLst>
          </a:prstGeom>
          <a:solidFill>
            <a:srgbClr val="F5F7FA"/>
          </a:solidFill>
          <a:ln/>
        </p:spPr>
        <p:txBody>
          <a:bodyPr/>
          <a:lstStyle/>
          <a:p>
            <a:endParaRPr lang="es-CO"/>
          </a:p>
        </p:txBody>
      </p:sp>
      <p:sp>
        <p:nvSpPr>
          <p:cNvPr id="40" name="Text 38"/>
          <p:cNvSpPr/>
          <p:nvPr/>
        </p:nvSpPr>
        <p:spPr>
          <a:xfrm>
            <a:off x="6263640" y="3236976"/>
            <a:ext cx="2331720" cy="256032"/>
          </a:xfrm>
          <a:prstGeom prst="rect">
            <a:avLst/>
          </a:prstGeom>
          <a:noFill/>
          <a:ln/>
        </p:spPr>
        <p:txBody>
          <a:bodyPr wrap="square" lIns="0" tIns="0" rIns="0" bIns="0" rtlCol="0" anchor="ctr"/>
          <a:lstStyle/>
          <a:p>
            <a:pPr marL="0" indent="0">
              <a:buNone/>
            </a:pPr>
            <a:r>
              <a:rPr lang="en-US" sz="1150" b="1" dirty="0">
                <a:solidFill>
                  <a:srgbClr val="1A4D80"/>
                </a:solidFill>
                <a:latin typeface="Arial" pitchFamily="34" charset="0"/>
                <a:ea typeface="Arial" pitchFamily="34" charset="-122"/>
                <a:cs typeface="Arial" pitchFamily="34" charset="-120"/>
              </a:rPr>
              <a:t>Macro Recall</a:t>
            </a:r>
            <a:endParaRPr lang="en-US" sz="1150" dirty="0"/>
          </a:p>
        </p:txBody>
      </p:sp>
      <p:sp>
        <p:nvSpPr>
          <p:cNvPr id="41" name="Text 39"/>
          <p:cNvSpPr/>
          <p:nvPr/>
        </p:nvSpPr>
        <p:spPr>
          <a:xfrm>
            <a:off x="6263640" y="3493008"/>
            <a:ext cx="2331720" cy="219456"/>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Average recall per class</a:t>
            </a:r>
            <a:endParaRPr lang="en-US" sz="900" dirty="0"/>
          </a:p>
        </p:txBody>
      </p:sp>
      <p:sp>
        <p:nvSpPr>
          <p:cNvPr id="42" name="Shape 40"/>
          <p:cNvSpPr/>
          <p:nvPr/>
        </p:nvSpPr>
        <p:spPr>
          <a:xfrm>
            <a:off x="457200" y="3886200"/>
            <a:ext cx="2606040" cy="548640"/>
          </a:xfrm>
          <a:prstGeom prst="roundRect">
            <a:avLst>
              <a:gd name="adj" fmla="val 10000"/>
            </a:avLst>
          </a:prstGeom>
          <a:solidFill>
            <a:srgbClr val="F5F7FA"/>
          </a:solidFill>
          <a:ln/>
        </p:spPr>
        <p:txBody>
          <a:bodyPr/>
          <a:lstStyle/>
          <a:p>
            <a:endParaRPr lang="es-CO"/>
          </a:p>
        </p:txBody>
      </p:sp>
      <p:sp>
        <p:nvSpPr>
          <p:cNvPr id="43" name="Text 41"/>
          <p:cNvSpPr/>
          <p:nvPr/>
        </p:nvSpPr>
        <p:spPr>
          <a:xfrm>
            <a:off x="594360" y="3922776"/>
            <a:ext cx="2331720" cy="256032"/>
          </a:xfrm>
          <a:prstGeom prst="rect">
            <a:avLst/>
          </a:prstGeom>
          <a:noFill/>
          <a:ln/>
        </p:spPr>
        <p:txBody>
          <a:bodyPr wrap="square" lIns="0" tIns="0" rIns="0" bIns="0" rtlCol="0" anchor="ctr"/>
          <a:lstStyle/>
          <a:p>
            <a:pPr marL="0" indent="0">
              <a:buNone/>
            </a:pPr>
            <a:r>
              <a:rPr lang="en-US" sz="1150" b="1" dirty="0">
                <a:solidFill>
                  <a:schemeClr val="accent2">
                    <a:lumMod val="75000"/>
                  </a:schemeClr>
                </a:solidFill>
                <a:latin typeface="Arial" pitchFamily="34" charset="0"/>
                <a:ea typeface="Arial" pitchFamily="34" charset="-122"/>
                <a:cs typeface="Arial" pitchFamily="34" charset="-120"/>
              </a:rPr>
              <a:t>Macro F1-Score</a:t>
            </a:r>
            <a:endParaRPr lang="en-US" sz="1150" dirty="0">
              <a:solidFill>
                <a:schemeClr val="accent2">
                  <a:lumMod val="75000"/>
                </a:schemeClr>
              </a:solidFill>
            </a:endParaRPr>
          </a:p>
        </p:txBody>
      </p:sp>
      <p:sp>
        <p:nvSpPr>
          <p:cNvPr id="44" name="Text 42"/>
          <p:cNvSpPr/>
          <p:nvPr/>
        </p:nvSpPr>
        <p:spPr>
          <a:xfrm>
            <a:off x="594360" y="4178808"/>
            <a:ext cx="2331720" cy="219456"/>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Harmonic mean of P &amp; R</a:t>
            </a:r>
            <a:endParaRPr lang="en-US" sz="900" dirty="0"/>
          </a:p>
        </p:txBody>
      </p:sp>
      <p:sp>
        <p:nvSpPr>
          <p:cNvPr id="45" name="Shape 43"/>
          <p:cNvSpPr/>
          <p:nvPr/>
        </p:nvSpPr>
        <p:spPr>
          <a:xfrm>
            <a:off x="3291840" y="3886200"/>
            <a:ext cx="2606040" cy="548640"/>
          </a:xfrm>
          <a:prstGeom prst="roundRect">
            <a:avLst>
              <a:gd name="adj" fmla="val 10000"/>
            </a:avLst>
          </a:prstGeom>
          <a:solidFill>
            <a:srgbClr val="F5F7FA"/>
          </a:solidFill>
          <a:ln/>
        </p:spPr>
        <p:txBody>
          <a:bodyPr/>
          <a:lstStyle/>
          <a:p>
            <a:endParaRPr lang="es-CO"/>
          </a:p>
        </p:txBody>
      </p:sp>
      <p:sp>
        <p:nvSpPr>
          <p:cNvPr id="46" name="Text 44"/>
          <p:cNvSpPr/>
          <p:nvPr/>
        </p:nvSpPr>
        <p:spPr>
          <a:xfrm>
            <a:off x="3429000" y="3922776"/>
            <a:ext cx="2331720" cy="256032"/>
          </a:xfrm>
          <a:prstGeom prst="rect">
            <a:avLst/>
          </a:prstGeom>
          <a:noFill/>
          <a:ln/>
        </p:spPr>
        <p:txBody>
          <a:bodyPr wrap="square" lIns="0" tIns="0" rIns="0" bIns="0" rtlCol="0" anchor="ctr"/>
          <a:lstStyle/>
          <a:p>
            <a:pPr marL="0" indent="0">
              <a:buNone/>
            </a:pPr>
            <a:r>
              <a:rPr lang="en-US" sz="1150" b="1" dirty="0">
                <a:solidFill>
                  <a:srgbClr val="1A4D80"/>
                </a:solidFill>
                <a:latin typeface="Arial" pitchFamily="34" charset="0"/>
                <a:ea typeface="Arial" pitchFamily="34" charset="-122"/>
                <a:cs typeface="Arial" pitchFamily="34" charset="-120"/>
              </a:rPr>
              <a:t>Confusion Matrix</a:t>
            </a:r>
            <a:endParaRPr lang="en-US" sz="1150" dirty="0"/>
          </a:p>
        </p:txBody>
      </p:sp>
      <p:sp>
        <p:nvSpPr>
          <p:cNvPr id="47" name="Text 45"/>
          <p:cNvSpPr/>
          <p:nvPr/>
        </p:nvSpPr>
        <p:spPr>
          <a:xfrm>
            <a:off x="3429000" y="4178808"/>
            <a:ext cx="2331720" cy="219456"/>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Per-class error analysis</a:t>
            </a:r>
            <a:endParaRPr lang="en-US" sz="900" dirty="0"/>
          </a:p>
        </p:txBody>
      </p:sp>
      <p:sp>
        <p:nvSpPr>
          <p:cNvPr id="48" name="Shape 46"/>
          <p:cNvSpPr/>
          <p:nvPr/>
        </p:nvSpPr>
        <p:spPr>
          <a:xfrm>
            <a:off x="6126480" y="3886200"/>
            <a:ext cx="2606040" cy="548640"/>
          </a:xfrm>
          <a:prstGeom prst="roundRect">
            <a:avLst>
              <a:gd name="adj" fmla="val 10000"/>
            </a:avLst>
          </a:prstGeom>
          <a:solidFill>
            <a:srgbClr val="F5F7FA"/>
          </a:solidFill>
          <a:ln/>
        </p:spPr>
        <p:txBody>
          <a:bodyPr/>
          <a:lstStyle/>
          <a:p>
            <a:endParaRPr lang="es-CO"/>
          </a:p>
        </p:txBody>
      </p:sp>
      <p:sp>
        <p:nvSpPr>
          <p:cNvPr id="49" name="Text 47"/>
          <p:cNvSpPr/>
          <p:nvPr/>
        </p:nvSpPr>
        <p:spPr>
          <a:xfrm>
            <a:off x="6263640" y="3922776"/>
            <a:ext cx="2331720" cy="256032"/>
          </a:xfrm>
          <a:prstGeom prst="rect">
            <a:avLst/>
          </a:prstGeom>
          <a:noFill/>
          <a:ln/>
        </p:spPr>
        <p:txBody>
          <a:bodyPr wrap="square" lIns="0" tIns="0" rIns="0" bIns="0" rtlCol="0" anchor="ctr"/>
          <a:lstStyle/>
          <a:p>
            <a:pPr marL="0" indent="0">
              <a:buNone/>
            </a:pPr>
            <a:r>
              <a:rPr lang="en-US" sz="1150" b="1" dirty="0">
                <a:solidFill>
                  <a:srgbClr val="1A4D80"/>
                </a:solidFill>
                <a:latin typeface="Arial" pitchFamily="34" charset="0"/>
                <a:ea typeface="Arial" pitchFamily="34" charset="-122"/>
                <a:cs typeface="Arial" pitchFamily="34" charset="-120"/>
              </a:rPr>
              <a:t>Learning Curves</a:t>
            </a:r>
            <a:endParaRPr lang="en-US" sz="1150" dirty="0"/>
          </a:p>
        </p:txBody>
      </p:sp>
      <p:sp>
        <p:nvSpPr>
          <p:cNvPr id="50" name="Text 48"/>
          <p:cNvSpPr/>
          <p:nvPr/>
        </p:nvSpPr>
        <p:spPr>
          <a:xfrm>
            <a:off x="6263640" y="4178808"/>
            <a:ext cx="2331720" cy="219456"/>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Training dynamics</a:t>
            </a:r>
            <a:endParaRPr lang="en-US" sz="900" dirty="0"/>
          </a:p>
        </p:txBody>
      </p:sp>
      <p:sp>
        <p:nvSpPr>
          <p:cNvPr id="51" name="Shape 49"/>
          <p:cNvSpPr/>
          <p:nvPr/>
        </p:nvSpPr>
        <p:spPr>
          <a:xfrm>
            <a:off x="0" y="4709160"/>
            <a:ext cx="9144000" cy="434340"/>
          </a:xfrm>
          <a:prstGeom prst="rect">
            <a:avLst/>
          </a:prstGeom>
          <a:solidFill>
            <a:srgbClr val="001940"/>
          </a:solidFill>
          <a:ln/>
        </p:spPr>
        <p:txBody>
          <a:bodyPr/>
          <a:lstStyle/>
          <a:p>
            <a:endParaRPr lang="es-CO"/>
          </a:p>
        </p:txBody>
      </p:sp>
      <p:pic>
        <p:nvPicPr>
          <p:cNvPr id="52" name="Image 0" descr="/agent/turn3/workspace/polimi_logo_white.png"/>
          <p:cNvPicPr>
            <a:picLocks noChangeAspect="1"/>
          </p:cNvPicPr>
          <p:nvPr/>
        </p:nvPicPr>
        <p:blipFill>
          <a:blip r:embed="rId3"/>
          <a:stretch>
            <a:fillRect/>
          </a:stretch>
        </p:blipFill>
        <p:spPr>
          <a:xfrm>
            <a:off x="344167" y="4736592"/>
            <a:ext cx="1140465" cy="347472"/>
          </a:xfrm>
          <a:prstGeom prst="rect">
            <a:avLst/>
          </a:prstGeom>
        </p:spPr>
      </p:pic>
      <p:sp>
        <p:nvSpPr>
          <p:cNvPr id="53" name="Text 50"/>
          <p:cNvSpPr/>
          <p:nvPr/>
        </p:nvSpPr>
        <p:spPr>
          <a:xfrm>
            <a:off x="7772400" y="4736592"/>
            <a:ext cx="1097280" cy="347472"/>
          </a:xfrm>
          <a:prstGeom prst="rect">
            <a:avLst/>
          </a:prstGeom>
          <a:noFill/>
          <a:ln/>
        </p:spPr>
        <p:txBody>
          <a:bodyPr wrap="square" lIns="0" tIns="0" rIns="0" bIns="0" rtlCol="0" anchor="ctr"/>
          <a:lstStyle/>
          <a:p>
            <a:pPr marL="0" indent="0" algn="r">
              <a:buNone/>
            </a:pPr>
            <a:r>
              <a:rPr lang="en-US" sz="900" dirty="0">
                <a:solidFill>
                  <a:srgbClr val="FFFFFF"/>
                </a:solidFill>
                <a:latin typeface="Arial" pitchFamily="34" charset="0"/>
                <a:ea typeface="Arial" pitchFamily="34" charset="-122"/>
                <a:cs typeface="Arial"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buNone/>
            </a:pPr>
            <a:r>
              <a:rPr lang="en-US" sz="2800" b="1" kern="0" spc="100" dirty="0">
                <a:solidFill>
                  <a:srgbClr val="001940"/>
                </a:solidFill>
                <a:latin typeface="Manrope ExtraBold" pitchFamily="2" charset="0"/>
                <a:ea typeface="Georgia" pitchFamily="34" charset="-122"/>
                <a:cs typeface="Georgia" pitchFamily="34" charset="-120"/>
              </a:rPr>
              <a:t>MODEL 1: SVM WITH PCA FEATURES</a:t>
            </a:r>
            <a:endParaRPr lang="en-US" sz="2800" dirty="0">
              <a:latin typeface="Manrope ExtraBold" pitchFamily="2" charset="0"/>
            </a:endParaRPr>
          </a:p>
        </p:txBody>
      </p:sp>
      <p:sp>
        <p:nvSpPr>
          <p:cNvPr id="3" name="Shape 1"/>
          <p:cNvSpPr/>
          <p:nvPr/>
        </p:nvSpPr>
        <p:spPr>
          <a:xfrm>
            <a:off x="457200" y="914400"/>
            <a:ext cx="4206240" cy="1005840"/>
          </a:xfrm>
          <a:prstGeom prst="roundRect">
            <a:avLst>
              <a:gd name="adj" fmla="val 7273"/>
            </a:avLst>
          </a:prstGeom>
          <a:solidFill>
            <a:srgbClr val="E8F0FA"/>
          </a:solidFill>
          <a:ln/>
        </p:spPr>
        <p:txBody>
          <a:bodyPr/>
          <a:lstStyle/>
          <a:p>
            <a:endParaRPr lang="es-CO"/>
          </a:p>
        </p:txBody>
      </p:sp>
      <p:sp>
        <p:nvSpPr>
          <p:cNvPr id="5" name="Text 3"/>
          <p:cNvSpPr/>
          <p:nvPr/>
        </p:nvSpPr>
        <p:spPr>
          <a:xfrm>
            <a:off x="640080" y="1061252"/>
            <a:ext cx="3840480" cy="721828"/>
          </a:xfrm>
          <a:prstGeom prst="rect">
            <a:avLst/>
          </a:prstGeom>
          <a:noFill/>
          <a:ln/>
        </p:spPr>
        <p:txBody>
          <a:bodyPr wrap="square" lIns="0" tIns="0" rIns="0" bIns="0" rtlCol="0" anchor="ctr"/>
          <a:lstStyle/>
          <a:p>
            <a:pPr marL="0" indent="0">
              <a:lnSpc>
                <a:spcPct val="115000"/>
              </a:lnSpc>
              <a:buNone/>
            </a:pPr>
            <a:r>
              <a:rPr lang="en-US" sz="1050" dirty="0">
                <a:solidFill>
                  <a:srgbClr val="2D3748"/>
                </a:solidFill>
                <a:latin typeface="Arial" pitchFamily="34" charset="0"/>
                <a:ea typeface="Arial" pitchFamily="34" charset="-122"/>
                <a:cs typeface="Arial" pitchFamily="34" charset="-120"/>
              </a:rPr>
              <a:t>Follows the reference paper's classical ML baseline. Tests whether PCA-reduced features are sufficient for emotion classification. </a:t>
            </a:r>
            <a:r>
              <a:rPr lang="en-US" sz="1050" b="1" dirty="0">
                <a:solidFill>
                  <a:srgbClr val="2D3748"/>
                </a:solidFill>
                <a:latin typeface="Arial" pitchFamily="34" charset="0"/>
                <a:ea typeface="Arial" pitchFamily="34" charset="-122"/>
                <a:cs typeface="Arial" pitchFamily="34" charset="-120"/>
              </a:rPr>
              <a:t>Simple approach </a:t>
            </a:r>
            <a:r>
              <a:rPr lang="en-US" sz="1050" dirty="0">
                <a:solidFill>
                  <a:srgbClr val="2D3748"/>
                </a:solidFill>
                <a:latin typeface="Arial" pitchFamily="34" charset="0"/>
                <a:ea typeface="Arial" pitchFamily="34" charset="-122"/>
                <a:cs typeface="Arial" pitchFamily="34" charset="-120"/>
              </a:rPr>
              <a:t>to have a baseline to compare learning capacity of more complex models.</a:t>
            </a:r>
            <a:endParaRPr lang="en-US" sz="1050" b="1" dirty="0"/>
          </a:p>
        </p:txBody>
      </p:sp>
      <p:sp>
        <p:nvSpPr>
          <p:cNvPr id="6" name="Shape 4"/>
          <p:cNvSpPr/>
          <p:nvPr/>
        </p:nvSpPr>
        <p:spPr>
          <a:xfrm>
            <a:off x="5029200" y="914400"/>
            <a:ext cx="3657600" cy="1005840"/>
          </a:xfrm>
          <a:prstGeom prst="roundRect">
            <a:avLst>
              <a:gd name="adj" fmla="val 7273"/>
            </a:avLst>
          </a:prstGeom>
          <a:solidFill>
            <a:srgbClr val="F5F7FA"/>
          </a:solidFill>
          <a:ln/>
        </p:spPr>
        <p:txBody>
          <a:bodyPr/>
          <a:lstStyle/>
          <a:p>
            <a:endParaRPr lang="es-CO"/>
          </a:p>
        </p:txBody>
      </p:sp>
      <p:sp>
        <p:nvSpPr>
          <p:cNvPr id="7" name="Text 5"/>
          <p:cNvSpPr/>
          <p:nvPr/>
        </p:nvSpPr>
        <p:spPr>
          <a:xfrm>
            <a:off x="5212080" y="960120"/>
            <a:ext cx="3291840" cy="256032"/>
          </a:xfrm>
          <a:prstGeom prst="rect">
            <a:avLst/>
          </a:prstGeom>
          <a:noFill/>
          <a:ln/>
        </p:spPr>
        <p:txBody>
          <a:bodyPr wrap="square" lIns="0" tIns="0" rIns="0" bIns="0" rtlCol="0" anchor="ctr"/>
          <a:lstStyle/>
          <a:p>
            <a:pPr marL="0" indent="0">
              <a:buNone/>
            </a:pPr>
            <a:r>
              <a:rPr lang="en-US" sz="1200" b="1" dirty="0">
                <a:solidFill>
                  <a:srgbClr val="001940"/>
                </a:solidFill>
                <a:latin typeface="Arial" pitchFamily="34" charset="0"/>
                <a:ea typeface="Arial" pitchFamily="34" charset="-122"/>
                <a:cs typeface="Arial" pitchFamily="34" charset="-120"/>
              </a:rPr>
              <a:t>Hyperparameters</a:t>
            </a:r>
            <a:endParaRPr lang="en-US" sz="1200" dirty="0"/>
          </a:p>
        </p:txBody>
      </p:sp>
      <p:sp>
        <p:nvSpPr>
          <p:cNvPr id="8" name="Text 6"/>
          <p:cNvSpPr/>
          <p:nvPr/>
        </p:nvSpPr>
        <p:spPr>
          <a:xfrm>
            <a:off x="5212080" y="1234440"/>
            <a:ext cx="3291840" cy="548640"/>
          </a:xfrm>
          <a:prstGeom prst="rect">
            <a:avLst/>
          </a:prstGeom>
          <a:noFill/>
          <a:ln/>
        </p:spPr>
        <p:txBody>
          <a:bodyPr wrap="square" lIns="0" tIns="0" rIns="0" bIns="0" rtlCol="0" anchor="ctr"/>
          <a:lstStyle/>
          <a:p>
            <a:pPr marL="171450" indent="-171450">
              <a:spcAft>
                <a:spcPts val="200"/>
              </a:spcAft>
              <a:buFontTx/>
              <a:buChar char="-"/>
            </a:pPr>
            <a:r>
              <a:rPr lang="en-US" sz="1050" dirty="0">
                <a:solidFill>
                  <a:srgbClr val="2D3748"/>
                </a:solidFill>
                <a:latin typeface="Arial" pitchFamily="34" charset="0"/>
                <a:ea typeface="Arial" pitchFamily="34" charset="-122"/>
                <a:cs typeface="Arial" pitchFamily="34" charset="-120"/>
              </a:rPr>
              <a:t>Polynomial , Radia basis and </a:t>
            </a:r>
            <a:r>
              <a:rPr lang="en-US" sz="1050" b="1" dirty="0">
                <a:solidFill>
                  <a:srgbClr val="2D3748"/>
                </a:solidFill>
                <a:latin typeface="Arial" pitchFamily="34" charset="0"/>
                <a:ea typeface="Arial" pitchFamily="34" charset="-122"/>
                <a:cs typeface="Arial" pitchFamily="34" charset="-120"/>
              </a:rPr>
              <a:t>Gaussian</a:t>
            </a:r>
            <a:r>
              <a:rPr lang="en-US" sz="1050" dirty="0">
                <a:solidFill>
                  <a:srgbClr val="2D3748"/>
                </a:solidFill>
                <a:latin typeface="Arial" pitchFamily="34" charset="0"/>
                <a:ea typeface="Arial" pitchFamily="34" charset="-122"/>
                <a:cs typeface="Arial" pitchFamily="34" charset="-120"/>
              </a:rPr>
              <a:t> </a:t>
            </a:r>
            <a:r>
              <a:rPr lang="en-US" sz="1050" b="1" dirty="0">
                <a:solidFill>
                  <a:srgbClr val="2D3748"/>
                </a:solidFill>
                <a:latin typeface="Arial" pitchFamily="34" charset="0"/>
                <a:ea typeface="Arial" pitchFamily="34" charset="-122"/>
                <a:cs typeface="Arial" pitchFamily="34" charset="-120"/>
              </a:rPr>
              <a:t>Kernel</a:t>
            </a:r>
          </a:p>
          <a:p>
            <a:pPr marL="171450" indent="-171450">
              <a:spcAft>
                <a:spcPts val="200"/>
              </a:spcAft>
              <a:buFontTx/>
              <a:buChar char="-"/>
            </a:pPr>
            <a:r>
              <a:rPr lang="en-US" sz="1050" dirty="0">
                <a:solidFill>
                  <a:srgbClr val="2D3748"/>
                </a:solidFill>
                <a:latin typeface="Arial" pitchFamily="34" charset="0"/>
                <a:ea typeface="Arial" pitchFamily="34" charset="-122"/>
                <a:cs typeface="Arial" pitchFamily="34" charset="-120"/>
              </a:rPr>
              <a:t>Regularization parameter for L2: 6.3</a:t>
            </a:r>
          </a:p>
          <a:p>
            <a:pPr marL="171450" indent="-171450">
              <a:spcAft>
                <a:spcPts val="200"/>
              </a:spcAft>
              <a:buFontTx/>
              <a:buChar char="-"/>
            </a:pPr>
            <a:r>
              <a:rPr lang="en-US" sz="1050" dirty="0">
                <a:solidFill>
                  <a:srgbClr val="2D3748"/>
                </a:solidFill>
                <a:latin typeface="Arial" pitchFamily="34" charset="0"/>
                <a:ea typeface="Arial" pitchFamily="34" charset="-122"/>
                <a:cs typeface="Arial" pitchFamily="34" charset="-120"/>
              </a:rPr>
              <a:t>Gamma parameter (Gaussian): 0.015</a:t>
            </a:r>
            <a:endParaRPr lang="en-US" sz="1050" dirty="0"/>
          </a:p>
        </p:txBody>
      </p:sp>
      <p:sp>
        <p:nvSpPr>
          <p:cNvPr id="9" name="Text 7"/>
          <p:cNvSpPr/>
          <p:nvPr/>
        </p:nvSpPr>
        <p:spPr>
          <a:xfrm>
            <a:off x="457200" y="2075021"/>
            <a:ext cx="4206240" cy="274320"/>
          </a:xfrm>
          <a:prstGeom prst="rect">
            <a:avLst/>
          </a:prstGeom>
          <a:noFill/>
          <a:ln/>
        </p:spPr>
        <p:txBody>
          <a:bodyPr wrap="square" lIns="0" tIns="0" rIns="0" bIns="0" rtlCol="0" anchor="ctr"/>
          <a:lstStyle/>
          <a:p>
            <a:pPr marL="0" indent="0">
              <a:buNone/>
            </a:pPr>
            <a:r>
              <a:rPr lang="en-US" sz="1200" b="1" dirty="0">
                <a:solidFill>
                  <a:srgbClr val="001940"/>
                </a:solidFill>
                <a:latin typeface="Arial" pitchFamily="34" charset="0"/>
                <a:ea typeface="Arial" pitchFamily="34" charset="-122"/>
                <a:cs typeface="Arial" pitchFamily="34" charset="-120"/>
              </a:rPr>
              <a:t>Confusion Matrix (Simplified)</a:t>
            </a:r>
            <a:endParaRPr lang="en-US" sz="1200" dirty="0"/>
          </a:p>
        </p:txBody>
      </p:sp>
      <p:sp>
        <p:nvSpPr>
          <p:cNvPr id="11" name="Shape 8"/>
          <p:cNvSpPr/>
          <p:nvPr/>
        </p:nvSpPr>
        <p:spPr>
          <a:xfrm>
            <a:off x="5029200" y="2103120"/>
            <a:ext cx="3657600" cy="2194560"/>
          </a:xfrm>
          <a:prstGeom prst="roundRect">
            <a:avLst>
              <a:gd name="adj" fmla="val 4167"/>
            </a:avLst>
          </a:prstGeom>
          <a:solidFill>
            <a:srgbClr val="FEF9F3"/>
          </a:solidFill>
          <a:ln/>
        </p:spPr>
        <p:txBody>
          <a:bodyPr/>
          <a:lstStyle/>
          <a:p>
            <a:endParaRPr lang="es-CO"/>
          </a:p>
        </p:txBody>
      </p:sp>
      <p:sp>
        <p:nvSpPr>
          <p:cNvPr id="12" name="Text 9"/>
          <p:cNvSpPr/>
          <p:nvPr/>
        </p:nvSpPr>
        <p:spPr>
          <a:xfrm>
            <a:off x="5212080" y="2194560"/>
            <a:ext cx="3291840" cy="256032"/>
          </a:xfrm>
          <a:prstGeom prst="rect">
            <a:avLst/>
          </a:prstGeom>
          <a:noFill/>
          <a:ln/>
        </p:spPr>
        <p:txBody>
          <a:bodyPr wrap="square" lIns="0" tIns="0" rIns="0" bIns="0" rtlCol="0" anchor="ctr"/>
          <a:lstStyle/>
          <a:p>
            <a:pPr marL="0" indent="0">
              <a:buNone/>
            </a:pPr>
            <a:r>
              <a:rPr lang="en-US" sz="1200" b="1" dirty="0">
                <a:solidFill>
                  <a:srgbClr val="D97706"/>
                </a:solidFill>
                <a:latin typeface="Arial" pitchFamily="34" charset="0"/>
                <a:ea typeface="Arial" pitchFamily="34" charset="-122"/>
                <a:cs typeface="Arial" pitchFamily="34" charset="-120"/>
              </a:rPr>
              <a:t>Results Summary</a:t>
            </a:r>
            <a:endParaRPr lang="en-US" sz="1200" dirty="0"/>
          </a:p>
        </p:txBody>
      </p:sp>
      <p:sp>
        <p:nvSpPr>
          <p:cNvPr id="13" name="Text 10"/>
          <p:cNvSpPr/>
          <p:nvPr/>
        </p:nvSpPr>
        <p:spPr>
          <a:xfrm>
            <a:off x="5212080" y="2547511"/>
            <a:ext cx="3291840" cy="1645920"/>
          </a:xfrm>
          <a:prstGeom prst="rect">
            <a:avLst/>
          </a:prstGeom>
          <a:noFill/>
          <a:ln/>
        </p:spPr>
        <p:txBody>
          <a:bodyPr wrap="square" lIns="0" tIns="0" rIns="0" bIns="0" rtlCol="0" anchor="ctr"/>
          <a:lstStyle/>
          <a:p>
            <a:pPr marL="0" indent="0">
              <a:lnSpc>
                <a:spcPct val="110000"/>
              </a:lnSpc>
              <a:buNone/>
            </a:pPr>
            <a:r>
              <a:rPr lang="en-US" sz="1100" b="1" dirty="0">
                <a:solidFill>
                  <a:srgbClr val="059669"/>
                </a:solidFill>
                <a:latin typeface="Arial" pitchFamily="34" charset="0"/>
                <a:ea typeface="Arial" pitchFamily="34" charset="-122"/>
                <a:cs typeface="Arial" pitchFamily="34" charset="-120"/>
              </a:rPr>
              <a:t>Strengths</a:t>
            </a:r>
            <a:endParaRPr lang="en-US" sz="110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  •  Interpretable, lightweight, fast</a:t>
            </a:r>
            <a:endParaRPr lang="en-US" sz="110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  •  Disgust &amp; Surprise easier to classify</a:t>
            </a:r>
            <a:endParaRPr lang="en-US" sz="1100" dirty="0"/>
          </a:p>
          <a:p>
            <a:pPr marL="0" indent="0">
              <a:lnSpc>
                <a:spcPct val="110000"/>
              </a:lnSpc>
              <a:buNone/>
            </a:pPr>
            <a:endParaRPr lang="en-US" sz="1100" dirty="0"/>
          </a:p>
          <a:p>
            <a:pPr marL="0" indent="0">
              <a:lnSpc>
                <a:spcPct val="110000"/>
              </a:lnSpc>
              <a:buNone/>
            </a:pPr>
            <a:r>
              <a:rPr lang="en-US" sz="1100" b="1" dirty="0">
                <a:solidFill>
                  <a:srgbClr val="DC2626"/>
                </a:solidFill>
                <a:latin typeface="Arial" pitchFamily="34" charset="0"/>
                <a:ea typeface="Arial" pitchFamily="34" charset="-122"/>
                <a:cs typeface="Arial" pitchFamily="34" charset="-120"/>
              </a:rPr>
              <a:t>Weaknesses</a:t>
            </a:r>
            <a:endParaRPr lang="en-US" sz="110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  •  Limited generalization</a:t>
            </a:r>
            <a:endParaRPr lang="en-US" sz="110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  •  Visually similar classes confused</a:t>
            </a:r>
            <a:endParaRPr lang="en-US" sz="110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  •  Spatial relation lost by PCA</a:t>
            </a:r>
            <a:endParaRPr lang="en-US" sz="1100" dirty="0"/>
          </a:p>
        </p:txBody>
      </p:sp>
      <p:sp>
        <p:nvSpPr>
          <p:cNvPr id="14" name="Shape 11"/>
          <p:cNvSpPr/>
          <p:nvPr/>
        </p:nvSpPr>
        <p:spPr>
          <a:xfrm>
            <a:off x="0" y="4709160"/>
            <a:ext cx="9144000" cy="434340"/>
          </a:xfrm>
          <a:prstGeom prst="rect">
            <a:avLst/>
          </a:prstGeom>
          <a:solidFill>
            <a:srgbClr val="001940"/>
          </a:solidFill>
          <a:ln/>
        </p:spPr>
        <p:txBody>
          <a:bodyPr/>
          <a:lstStyle/>
          <a:p>
            <a:endParaRPr lang="es-CO"/>
          </a:p>
        </p:txBody>
      </p:sp>
      <p:pic>
        <p:nvPicPr>
          <p:cNvPr id="15" name="Image 0" descr="/agent/turn3/workspace/polimi_logo_white.png"/>
          <p:cNvPicPr>
            <a:picLocks noChangeAspect="1"/>
          </p:cNvPicPr>
          <p:nvPr/>
        </p:nvPicPr>
        <p:blipFill>
          <a:blip r:embed="rId3"/>
          <a:stretch>
            <a:fillRect/>
          </a:stretch>
        </p:blipFill>
        <p:spPr>
          <a:xfrm>
            <a:off x="344167" y="4736592"/>
            <a:ext cx="1140465" cy="347472"/>
          </a:xfrm>
          <a:prstGeom prst="rect">
            <a:avLst/>
          </a:prstGeom>
        </p:spPr>
      </p:pic>
      <p:sp>
        <p:nvSpPr>
          <p:cNvPr id="16" name="Text 12"/>
          <p:cNvSpPr/>
          <p:nvPr/>
        </p:nvSpPr>
        <p:spPr>
          <a:xfrm>
            <a:off x="7772400" y="4736592"/>
            <a:ext cx="1097280" cy="347472"/>
          </a:xfrm>
          <a:prstGeom prst="rect">
            <a:avLst/>
          </a:prstGeom>
          <a:noFill/>
          <a:ln/>
        </p:spPr>
        <p:txBody>
          <a:bodyPr wrap="square" lIns="0" tIns="0" rIns="0" bIns="0" rtlCol="0" anchor="ctr"/>
          <a:lstStyle/>
          <a:p>
            <a:pPr marL="0" indent="0" algn="r">
              <a:buNone/>
            </a:pPr>
            <a:r>
              <a:rPr lang="en-US" sz="900" dirty="0">
                <a:solidFill>
                  <a:srgbClr val="FFFFFF"/>
                </a:solidFill>
                <a:latin typeface="Arial" pitchFamily="34" charset="0"/>
                <a:ea typeface="Arial" pitchFamily="34" charset="-122"/>
                <a:cs typeface="Arial" pitchFamily="34" charset="-120"/>
              </a:rPr>
              <a:t>9 / 15</a:t>
            </a:r>
            <a:endParaRPr lang="en-US" sz="900" dirty="0"/>
          </a:p>
        </p:txBody>
      </p:sp>
      <p:pic>
        <p:nvPicPr>
          <p:cNvPr id="18" name="Imagen 17">
            <a:extLst>
              <a:ext uri="{FF2B5EF4-FFF2-40B4-BE49-F238E27FC236}">
                <a16:creationId xmlns:a16="http://schemas.microsoft.com/office/drawing/2014/main" id="{01034C0E-1BEC-1D52-6B0D-A11C2CA06778}"/>
              </a:ext>
            </a:extLst>
          </p:cNvPr>
          <p:cNvPicPr>
            <a:picLocks noChangeAspect="1"/>
          </p:cNvPicPr>
          <p:nvPr/>
        </p:nvPicPr>
        <p:blipFill>
          <a:blip r:embed="rId4"/>
          <a:stretch>
            <a:fillRect/>
          </a:stretch>
        </p:blipFill>
        <p:spPr>
          <a:xfrm>
            <a:off x="548640" y="2355608"/>
            <a:ext cx="4023360" cy="1918185"/>
          </a:xfrm>
          <a:prstGeom prst="rect">
            <a:avLst/>
          </a:prstGeom>
        </p:spPr>
      </p:pic>
      <p:sp>
        <p:nvSpPr>
          <p:cNvPr id="19" name="CuadroTexto 18">
            <a:extLst>
              <a:ext uri="{FF2B5EF4-FFF2-40B4-BE49-F238E27FC236}">
                <a16:creationId xmlns:a16="http://schemas.microsoft.com/office/drawing/2014/main" id="{9E8BF9C3-41C6-F990-4339-148FAEFED3C2}"/>
              </a:ext>
            </a:extLst>
          </p:cNvPr>
          <p:cNvSpPr txBox="1"/>
          <p:nvPr/>
        </p:nvSpPr>
        <p:spPr>
          <a:xfrm>
            <a:off x="640080" y="2788920"/>
            <a:ext cx="680134" cy="246221"/>
          </a:xfrm>
          <a:prstGeom prst="rect">
            <a:avLst/>
          </a:prstGeom>
          <a:noFill/>
        </p:spPr>
        <p:txBody>
          <a:bodyPr wrap="square" rtlCol="0">
            <a:spAutoFit/>
          </a:bodyPr>
          <a:lstStyle/>
          <a:p>
            <a:r>
              <a:rPr lang="es-CO" sz="1000" dirty="0" err="1">
                <a:latin typeface="Consolas" panose="020B0609020204030204" pitchFamily="49" charset="0"/>
              </a:rPr>
              <a:t>Disgust</a:t>
            </a:r>
            <a:endParaRPr lang="es-CO" sz="1000" dirty="0">
              <a:latin typeface="Consolas" panose="020B0609020204030204" pitchFamily="49" charset="0"/>
            </a:endParaRPr>
          </a:p>
        </p:txBody>
      </p:sp>
      <p:sp>
        <p:nvSpPr>
          <p:cNvPr id="20" name="CuadroTexto 19">
            <a:extLst>
              <a:ext uri="{FF2B5EF4-FFF2-40B4-BE49-F238E27FC236}">
                <a16:creationId xmlns:a16="http://schemas.microsoft.com/office/drawing/2014/main" id="{554B5288-484F-B540-6C5D-7839BBE3BF37}"/>
              </a:ext>
            </a:extLst>
          </p:cNvPr>
          <p:cNvSpPr txBox="1"/>
          <p:nvPr/>
        </p:nvSpPr>
        <p:spPr>
          <a:xfrm>
            <a:off x="640080" y="2935336"/>
            <a:ext cx="680134" cy="246221"/>
          </a:xfrm>
          <a:prstGeom prst="rect">
            <a:avLst/>
          </a:prstGeom>
          <a:noFill/>
        </p:spPr>
        <p:txBody>
          <a:bodyPr wrap="square" rtlCol="0">
            <a:spAutoFit/>
          </a:bodyPr>
          <a:lstStyle/>
          <a:p>
            <a:r>
              <a:rPr lang="es-CO" sz="1000" dirty="0">
                <a:latin typeface="Consolas" panose="020B0609020204030204" pitchFamily="49" charset="0"/>
              </a:rPr>
              <a:t>Fear</a:t>
            </a:r>
          </a:p>
        </p:txBody>
      </p:sp>
      <p:sp>
        <p:nvSpPr>
          <p:cNvPr id="21" name="CuadroTexto 20">
            <a:extLst>
              <a:ext uri="{FF2B5EF4-FFF2-40B4-BE49-F238E27FC236}">
                <a16:creationId xmlns:a16="http://schemas.microsoft.com/office/drawing/2014/main" id="{93CC516D-CDB0-A303-FE41-F5740073F1DC}"/>
              </a:ext>
            </a:extLst>
          </p:cNvPr>
          <p:cNvSpPr txBox="1"/>
          <p:nvPr/>
        </p:nvSpPr>
        <p:spPr>
          <a:xfrm>
            <a:off x="637815" y="2619717"/>
            <a:ext cx="680134" cy="246221"/>
          </a:xfrm>
          <a:prstGeom prst="rect">
            <a:avLst/>
          </a:prstGeom>
          <a:noFill/>
        </p:spPr>
        <p:txBody>
          <a:bodyPr wrap="square" rtlCol="0">
            <a:spAutoFit/>
          </a:bodyPr>
          <a:lstStyle/>
          <a:p>
            <a:r>
              <a:rPr lang="es-CO" sz="1000" dirty="0">
                <a:latin typeface="Consolas" panose="020B0609020204030204" pitchFamily="49" charset="0"/>
              </a:rPr>
              <a:t>Angry</a:t>
            </a:r>
          </a:p>
        </p:txBody>
      </p:sp>
      <p:sp>
        <p:nvSpPr>
          <p:cNvPr id="22" name="CuadroTexto 21">
            <a:extLst>
              <a:ext uri="{FF2B5EF4-FFF2-40B4-BE49-F238E27FC236}">
                <a16:creationId xmlns:a16="http://schemas.microsoft.com/office/drawing/2014/main" id="{CC179BF4-6D30-CE13-7D95-4AF49025B7E1}"/>
              </a:ext>
            </a:extLst>
          </p:cNvPr>
          <p:cNvSpPr txBox="1"/>
          <p:nvPr/>
        </p:nvSpPr>
        <p:spPr>
          <a:xfrm>
            <a:off x="637815" y="3089052"/>
            <a:ext cx="680134" cy="246221"/>
          </a:xfrm>
          <a:prstGeom prst="rect">
            <a:avLst/>
          </a:prstGeom>
          <a:noFill/>
        </p:spPr>
        <p:txBody>
          <a:bodyPr wrap="square" rtlCol="0">
            <a:spAutoFit/>
          </a:bodyPr>
          <a:lstStyle/>
          <a:p>
            <a:r>
              <a:rPr lang="es-CO" sz="1000" dirty="0">
                <a:latin typeface="Consolas" panose="020B0609020204030204" pitchFamily="49" charset="0"/>
              </a:rPr>
              <a:t>Happy</a:t>
            </a:r>
          </a:p>
        </p:txBody>
      </p:sp>
      <p:sp>
        <p:nvSpPr>
          <p:cNvPr id="23" name="CuadroTexto 22">
            <a:extLst>
              <a:ext uri="{FF2B5EF4-FFF2-40B4-BE49-F238E27FC236}">
                <a16:creationId xmlns:a16="http://schemas.microsoft.com/office/drawing/2014/main" id="{182AB5D9-A004-CF46-3A4F-403C9A8B485F}"/>
              </a:ext>
            </a:extLst>
          </p:cNvPr>
          <p:cNvSpPr txBox="1"/>
          <p:nvPr/>
        </p:nvSpPr>
        <p:spPr>
          <a:xfrm>
            <a:off x="615906" y="3266073"/>
            <a:ext cx="680134" cy="246221"/>
          </a:xfrm>
          <a:prstGeom prst="rect">
            <a:avLst/>
          </a:prstGeom>
          <a:noFill/>
        </p:spPr>
        <p:txBody>
          <a:bodyPr wrap="square" rtlCol="0">
            <a:spAutoFit/>
          </a:bodyPr>
          <a:lstStyle/>
          <a:p>
            <a:r>
              <a:rPr lang="es-CO" sz="1000" dirty="0">
                <a:latin typeface="Consolas" panose="020B0609020204030204" pitchFamily="49" charset="0"/>
              </a:rPr>
              <a:t>Neutral</a:t>
            </a:r>
          </a:p>
        </p:txBody>
      </p:sp>
      <p:sp>
        <p:nvSpPr>
          <p:cNvPr id="24" name="CuadroTexto 23">
            <a:extLst>
              <a:ext uri="{FF2B5EF4-FFF2-40B4-BE49-F238E27FC236}">
                <a16:creationId xmlns:a16="http://schemas.microsoft.com/office/drawing/2014/main" id="{EFDA51A6-8854-144D-DEA7-9FCFD2D3E43D}"/>
              </a:ext>
            </a:extLst>
          </p:cNvPr>
          <p:cNvSpPr txBox="1"/>
          <p:nvPr/>
        </p:nvSpPr>
        <p:spPr>
          <a:xfrm>
            <a:off x="626861" y="3418902"/>
            <a:ext cx="680134" cy="246221"/>
          </a:xfrm>
          <a:prstGeom prst="rect">
            <a:avLst/>
          </a:prstGeom>
          <a:noFill/>
        </p:spPr>
        <p:txBody>
          <a:bodyPr wrap="square" rtlCol="0">
            <a:spAutoFit/>
          </a:bodyPr>
          <a:lstStyle/>
          <a:p>
            <a:r>
              <a:rPr lang="es-CO" sz="1000" dirty="0">
                <a:latin typeface="Consolas" panose="020B0609020204030204" pitchFamily="49" charset="0"/>
              </a:rPr>
              <a:t>Sad</a:t>
            </a:r>
          </a:p>
        </p:txBody>
      </p:sp>
      <p:sp>
        <p:nvSpPr>
          <p:cNvPr id="25" name="CuadroTexto 24">
            <a:extLst>
              <a:ext uri="{FF2B5EF4-FFF2-40B4-BE49-F238E27FC236}">
                <a16:creationId xmlns:a16="http://schemas.microsoft.com/office/drawing/2014/main" id="{30C5DAD9-F66B-0387-4A3B-0EF99F46B029}"/>
              </a:ext>
            </a:extLst>
          </p:cNvPr>
          <p:cNvSpPr txBox="1"/>
          <p:nvPr/>
        </p:nvSpPr>
        <p:spPr>
          <a:xfrm>
            <a:off x="637815" y="3556788"/>
            <a:ext cx="760620" cy="246221"/>
          </a:xfrm>
          <a:prstGeom prst="rect">
            <a:avLst/>
          </a:prstGeom>
          <a:noFill/>
        </p:spPr>
        <p:txBody>
          <a:bodyPr wrap="square" rtlCol="0">
            <a:spAutoFit/>
          </a:bodyPr>
          <a:lstStyle/>
          <a:p>
            <a:r>
              <a:rPr lang="es-CO" sz="1000" dirty="0">
                <a:latin typeface="Consolas" panose="020B0609020204030204" pitchFamily="49" charset="0"/>
              </a:rPr>
              <a:t>Surprise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buNone/>
            </a:pPr>
            <a:r>
              <a:rPr lang="en-US" sz="2800" b="1" kern="0" spc="100" dirty="0">
                <a:solidFill>
                  <a:srgbClr val="001940"/>
                </a:solidFill>
                <a:latin typeface="Manrope ExtraBold" pitchFamily="2" charset="0"/>
                <a:ea typeface="Georgia" pitchFamily="34" charset="-122"/>
                <a:cs typeface="Georgia" pitchFamily="34" charset="-120"/>
              </a:rPr>
              <a:t>MODEL 2: VGG19-LIKE CNN</a:t>
            </a:r>
            <a:endParaRPr lang="en-US" sz="2800" dirty="0">
              <a:latin typeface="Manrope ExtraBold" pitchFamily="2" charset="0"/>
            </a:endParaRPr>
          </a:p>
        </p:txBody>
      </p:sp>
      <p:sp>
        <p:nvSpPr>
          <p:cNvPr id="3" name="Shape 1"/>
          <p:cNvSpPr/>
          <p:nvPr/>
        </p:nvSpPr>
        <p:spPr>
          <a:xfrm>
            <a:off x="457200" y="914400"/>
            <a:ext cx="4206240" cy="914400"/>
          </a:xfrm>
          <a:prstGeom prst="roundRect">
            <a:avLst>
              <a:gd name="adj" fmla="val 8000"/>
            </a:avLst>
          </a:prstGeom>
          <a:solidFill>
            <a:srgbClr val="ECFDF5"/>
          </a:solidFill>
          <a:ln/>
        </p:spPr>
        <p:txBody>
          <a:bodyPr/>
          <a:lstStyle/>
          <a:p>
            <a:endParaRPr lang="es-CO"/>
          </a:p>
        </p:txBody>
      </p:sp>
      <p:sp>
        <p:nvSpPr>
          <p:cNvPr id="5" name="Text 3"/>
          <p:cNvSpPr/>
          <p:nvPr/>
        </p:nvSpPr>
        <p:spPr>
          <a:xfrm>
            <a:off x="640080" y="1097903"/>
            <a:ext cx="3840480" cy="502920"/>
          </a:xfrm>
          <a:prstGeom prst="rect">
            <a:avLst/>
          </a:prstGeom>
          <a:noFill/>
          <a:ln/>
        </p:spPr>
        <p:txBody>
          <a:bodyPr wrap="square" lIns="0" tIns="0" rIns="0" bIns="0" rtlCol="0" anchor="ctr"/>
          <a:lstStyle/>
          <a:p>
            <a:pPr marL="0" indent="0">
              <a:lnSpc>
                <a:spcPct val="115000"/>
              </a:lnSpc>
              <a:buNone/>
            </a:pPr>
            <a:r>
              <a:rPr lang="en-US" sz="1050" dirty="0">
                <a:solidFill>
                  <a:srgbClr val="2D3748"/>
                </a:solidFill>
                <a:latin typeface="Arial" pitchFamily="34" charset="0"/>
                <a:ea typeface="Arial" pitchFamily="34" charset="-122"/>
                <a:cs typeface="Arial" pitchFamily="34" charset="-120"/>
              </a:rPr>
              <a:t>CNNs preserve spatial information and learn hierarchical features, better suited to facial images compared to PCA and SVM.</a:t>
            </a:r>
            <a:endParaRPr lang="en-US" sz="1050" dirty="0"/>
          </a:p>
        </p:txBody>
      </p:sp>
      <p:sp>
        <p:nvSpPr>
          <p:cNvPr id="6" name="Shape 4"/>
          <p:cNvSpPr/>
          <p:nvPr/>
        </p:nvSpPr>
        <p:spPr>
          <a:xfrm>
            <a:off x="5029200" y="914400"/>
            <a:ext cx="3657600" cy="914400"/>
          </a:xfrm>
          <a:prstGeom prst="roundRect">
            <a:avLst>
              <a:gd name="adj" fmla="val 8000"/>
            </a:avLst>
          </a:prstGeom>
          <a:solidFill>
            <a:srgbClr val="F5F7FA"/>
          </a:solidFill>
          <a:ln/>
        </p:spPr>
        <p:txBody>
          <a:bodyPr/>
          <a:lstStyle/>
          <a:p>
            <a:endParaRPr lang="es-CO"/>
          </a:p>
        </p:txBody>
      </p:sp>
      <p:sp>
        <p:nvSpPr>
          <p:cNvPr id="7" name="Text 5"/>
          <p:cNvSpPr/>
          <p:nvPr/>
        </p:nvSpPr>
        <p:spPr>
          <a:xfrm>
            <a:off x="5212080" y="960120"/>
            <a:ext cx="3291840" cy="228600"/>
          </a:xfrm>
          <a:prstGeom prst="rect">
            <a:avLst/>
          </a:prstGeom>
          <a:noFill/>
          <a:ln/>
        </p:spPr>
        <p:txBody>
          <a:bodyPr wrap="square" lIns="0" tIns="0" rIns="0" bIns="0" rtlCol="0" anchor="ctr"/>
          <a:lstStyle/>
          <a:p>
            <a:pPr marL="0" indent="0">
              <a:buNone/>
            </a:pPr>
            <a:r>
              <a:rPr lang="en-US" sz="1200" b="1" dirty="0">
                <a:solidFill>
                  <a:srgbClr val="001940"/>
                </a:solidFill>
                <a:latin typeface="Arial" pitchFamily="34" charset="0"/>
                <a:ea typeface="Arial" pitchFamily="34" charset="-122"/>
                <a:cs typeface="Arial" pitchFamily="34" charset="-120"/>
              </a:rPr>
              <a:t>Architecture</a:t>
            </a:r>
            <a:endParaRPr lang="en-US" sz="1200" dirty="0"/>
          </a:p>
        </p:txBody>
      </p:sp>
      <p:sp>
        <p:nvSpPr>
          <p:cNvPr id="8" name="Text 6"/>
          <p:cNvSpPr/>
          <p:nvPr/>
        </p:nvSpPr>
        <p:spPr>
          <a:xfrm>
            <a:off x="5212080" y="1207008"/>
            <a:ext cx="3291840" cy="502920"/>
          </a:xfrm>
          <a:prstGeom prst="rect">
            <a:avLst/>
          </a:prstGeom>
          <a:noFill/>
          <a:ln/>
        </p:spPr>
        <p:txBody>
          <a:bodyPr wrap="square" lIns="0" tIns="0" rIns="0" bIns="0" rtlCol="0" anchor="ctr"/>
          <a:lstStyle/>
          <a:p>
            <a:pPr marL="0" indent="0">
              <a:spcAft>
                <a:spcPts val="200"/>
              </a:spcAft>
              <a:buNone/>
            </a:pPr>
            <a:r>
              <a:rPr lang="en-US" sz="1050" dirty="0">
                <a:solidFill>
                  <a:srgbClr val="2D3748"/>
                </a:solidFill>
                <a:latin typeface="Arial" pitchFamily="34" charset="0"/>
                <a:ea typeface="Arial" pitchFamily="34" charset="-122"/>
                <a:cs typeface="Arial" pitchFamily="34" charset="-120"/>
              </a:rPr>
              <a:t>VGG19-inspired conv blocks (from scratch)</a:t>
            </a:r>
            <a:endParaRPr lang="en-US" sz="1050" dirty="0"/>
          </a:p>
          <a:p>
            <a:pPr marL="0" indent="0">
              <a:spcAft>
                <a:spcPts val="200"/>
              </a:spcAft>
              <a:buNone/>
            </a:pPr>
            <a:r>
              <a:rPr lang="en-US" sz="1050" b="1" dirty="0">
                <a:solidFill>
                  <a:srgbClr val="2D3748"/>
                </a:solidFill>
                <a:latin typeface="Arial" pitchFamily="34" charset="0"/>
                <a:ea typeface="Arial" pitchFamily="34" charset="-122"/>
                <a:cs typeface="Arial" pitchFamily="34" charset="-120"/>
              </a:rPr>
              <a:t>He-normal init </a:t>
            </a:r>
            <a:r>
              <a:rPr lang="en-US" sz="1050" dirty="0">
                <a:solidFill>
                  <a:srgbClr val="2D3748"/>
                </a:solidFill>
                <a:latin typeface="Arial" pitchFamily="34" charset="0"/>
                <a:ea typeface="Arial" pitchFamily="34" charset="-122"/>
                <a:cs typeface="Arial" pitchFamily="34" charset="-120"/>
              </a:rPr>
              <a:t>+ ReLU + Dropout</a:t>
            </a:r>
            <a:endParaRPr lang="en-US" sz="1050" dirty="0"/>
          </a:p>
          <a:p>
            <a:pPr marL="0" indent="0">
              <a:spcAft>
                <a:spcPts val="200"/>
              </a:spcAft>
              <a:buNone/>
            </a:pPr>
            <a:r>
              <a:rPr lang="en-US" sz="1050" dirty="0">
                <a:solidFill>
                  <a:srgbClr val="2D3748"/>
                </a:solidFill>
                <a:latin typeface="Arial" pitchFamily="34" charset="0"/>
                <a:ea typeface="Arial" pitchFamily="34" charset="-122"/>
                <a:cs typeface="Arial" pitchFamily="34" charset="-120"/>
              </a:rPr>
              <a:t>Data augmentation</a:t>
            </a:r>
            <a:endParaRPr lang="en-US" sz="1050" dirty="0"/>
          </a:p>
        </p:txBody>
      </p:sp>
      <p:sp>
        <p:nvSpPr>
          <p:cNvPr id="10" name="Shape 7"/>
          <p:cNvSpPr/>
          <p:nvPr/>
        </p:nvSpPr>
        <p:spPr>
          <a:xfrm>
            <a:off x="5212080" y="2011680"/>
            <a:ext cx="3474720" cy="2468880"/>
          </a:xfrm>
          <a:prstGeom prst="roundRect">
            <a:avLst>
              <a:gd name="adj" fmla="val 3704"/>
            </a:avLst>
          </a:prstGeom>
          <a:solidFill>
            <a:srgbClr val="ECFDF5"/>
          </a:solidFill>
          <a:ln/>
        </p:spPr>
        <p:txBody>
          <a:bodyPr/>
          <a:lstStyle/>
          <a:p>
            <a:endParaRPr lang="es-CO"/>
          </a:p>
        </p:txBody>
      </p:sp>
      <p:sp>
        <p:nvSpPr>
          <p:cNvPr id="11" name="Text 8"/>
          <p:cNvSpPr/>
          <p:nvPr/>
        </p:nvSpPr>
        <p:spPr>
          <a:xfrm>
            <a:off x="5394960" y="2103120"/>
            <a:ext cx="3108960" cy="274320"/>
          </a:xfrm>
          <a:prstGeom prst="rect">
            <a:avLst/>
          </a:prstGeom>
          <a:noFill/>
          <a:ln/>
        </p:spPr>
        <p:txBody>
          <a:bodyPr wrap="square" lIns="0" tIns="0" rIns="0" bIns="0" rtlCol="0" anchor="ctr"/>
          <a:lstStyle/>
          <a:p>
            <a:pPr marL="0" indent="0">
              <a:buNone/>
            </a:pPr>
            <a:r>
              <a:rPr lang="en-US" sz="1300" b="1" dirty="0">
                <a:solidFill>
                  <a:srgbClr val="059669"/>
                </a:solidFill>
                <a:latin typeface="Arial" pitchFamily="34" charset="0"/>
                <a:ea typeface="Arial" pitchFamily="34" charset="-122"/>
                <a:cs typeface="Arial" pitchFamily="34" charset="-120"/>
              </a:rPr>
              <a:t>Best Performing Model</a:t>
            </a:r>
            <a:endParaRPr lang="en-US" sz="1300" dirty="0"/>
          </a:p>
        </p:txBody>
      </p:sp>
      <p:sp>
        <p:nvSpPr>
          <p:cNvPr id="12" name="Text 9"/>
          <p:cNvSpPr/>
          <p:nvPr/>
        </p:nvSpPr>
        <p:spPr>
          <a:xfrm>
            <a:off x="5394960" y="2423160"/>
            <a:ext cx="3108960" cy="1828800"/>
          </a:xfrm>
          <a:prstGeom prst="rect">
            <a:avLst/>
          </a:prstGeom>
          <a:noFill/>
          <a:ln/>
        </p:spPr>
        <p:txBody>
          <a:bodyPr wrap="square" lIns="0" tIns="0" rIns="0" bIns="0" rtlCol="0" anchor="ctr"/>
          <a:lstStyle/>
          <a:p>
            <a:pPr marL="0" indent="0">
              <a:lnSpc>
                <a:spcPct val="110000"/>
              </a:lnSpc>
              <a:buNone/>
            </a:pPr>
            <a:r>
              <a:rPr lang="en-US" sz="1100" b="1" dirty="0">
                <a:solidFill>
                  <a:srgbClr val="001940"/>
                </a:solidFill>
                <a:latin typeface="Arial" pitchFamily="34" charset="0"/>
                <a:ea typeface="Arial" pitchFamily="34" charset="-122"/>
                <a:cs typeface="Arial" pitchFamily="34" charset="-120"/>
              </a:rPr>
              <a:t>Design Decisions</a:t>
            </a:r>
            <a:endParaRPr lang="en-US" sz="110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  •  Simplified vs full VGG19 for cost</a:t>
            </a:r>
            <a:endParaRPr lang="en-US" sz="110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  •  No pretrained weights</a:t>
            </a:r>
            <a:endParaRPr lang="en-US" sz="110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  •  Tested augmentation levels (Strong / Medium / Low / Nothing)</a:t>
            </a:r>
            <a:endParaRPr lang="en-US" sz="1100" dirty="0"/>
          </a:p>
          <a:p>
            <a:pPr marL="0" indent="0">
              <a:lnSpc>
                <a:spcPct val="110000"/>
              </a:lnSpc>
              <a:buNone/>
            </a:pPr>
            <a:endParaRPr lang="en-US" sz="1100" dirty="0"/>
          </a:p>
          <a:p>
            <a:pPr marL="0" indent="0">
              <a:lnSpc>
                <a:spcPct val="110000"/>
              </a:lnSpc>
              <a:buNone/>
            </a:pPr>
            <a:r>
              <a:rPr lang="en-US" sz="1100" b="1" dirty="0">
                <a:solidFill>
                  <a:srgbClr val="059669"/>
                </a:solidFill>
                <a:latin typeface="Arial" pitchFamily="34" charset="0"/>
                <a:ea typeface="Arial" pitchFamily="34" charset="-122"/>
                <a:cs typeface="Arial" pitchFamily="34" charset="-120"/>
              </a:rPr>
              <a:t>Result</a:t>
            </a:r>
            <a:endParaRPr lang="en-US" sz="110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  •  Strongest predictive performance</a:t>
            </a:r>
            <a:endParaRPr lang="en-US" sz="110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  •  Best generalization across classes</a:t>
            </a:r>
            <a:endParaRPr lang="en-US" sz="110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  •  Learns spatial patterns directly</a:t>
            </a:r>
            <a:endParaRPr lang="en-US" sz="1100" dirty="0"/>
          </a:p>
        </p:txBody>
      </p:sp>
      <p:sp>
        <p:nvSpPr>
          <p:cNvPr id="13" name="Shape 10"/>
          <p:cNvSpPr/>
          <p:nvPr/>
        </p:nvSpPr>
        <p:spPr>
          <a:xfrm>
            <a:off x="0" y="4709160"/>
            <a:ext cx="9144000" cy="434340"/>
          </a:xfrm>
          <a:prstGeom prst="rect">
            <a:avLst/>
          </a:prstGeom>
          <a:solidFill>
            <a:srgbClr val="001940"/>
          </a:solidFill>
          <a:ln/>
        </p:spPr>
        <p:txBody>
          <a:bodyPr/>
          <a:lstStyle/>
          <a:p>
            <a:endParaRPr lang="es-CO"/>
          </a:p>
        </p:txBody>
      </p:sp>
      <p:pic>
        <p:nvPicPr>
          <p:cNvPr id="14" name="Image 1" descr="/agent/turn3/workspace/polimi_logo_white.png"/>
          <p:cNvPicPr>
            <a:picLocks noChangeAspect="1"/>
          </p:cNvPicPr>
          <p:nvPr/>
        </p:nvPicPr>
        <p:blipFill>
          <a:blip r:embed="rId3"/>
          <a:stretch>
            <a:fillRect/>
          </a:stretch>
        </p:blipFill>
        <p:spPr>
          <a:xfrm>
            <a:off x="344167" y="4736592"/>
            <a:ext cx="1140465" cy="347472"/>
          </a:xfrm>
          <a:prstGeom prst="rect">
            <a:avLst/>
          </a:prstGeom>
        </p:spPr>
      </p:pic>
      <p:sp>
        <p:nvSpPr>
          <p:cNvPr id="15" name="Text 11"/>
          <p:cNvSpPr/>
          <p:nvPr/>
        </p:nvSpPr>
        <p:spPr>
          <a:xfrm>
            <a:off x="7772400" y="4736592"/>
            <a:ext cx="1097280" cy="347472"/>
          </a:xfrm>
          <a:prstGeom prst="rect">
            <a:avLst/>
          </a:prstGeom>
          <a:noFill/>
          <a:ln/>
        </p:spPr>
        <p:txBody>
          <a:bodyPr wrap="square" lIns="0" tIns="0" rIns="0" bIns="0" rtlCol="0" anchor="ctr"/>
          <a:lstStyle/>
          <a:p>
            <a:pPr marL="0" indent="0" algn="r">
              <a:buNone/>
            </a:pPr>
            <a:r>
              <a:rPr lang="en-US" sz="900" dirty="0">
                <a:solidFill>
                  <a:srgbClr val="FFFFFF"/>
                </a:solidFill>
                <a:latin typeface="Arial" pitchFamily="34" charset="0"/>
                <a:ea typeface="Arial" pitchFamily="34" charset="-122"/>
                <a:cs typeface="Arial" pitchFamily="34" charset="-120"/>
              </a:rPr>
              <a:t>10 / 15</a:t>
            </a:r>
            <a:endParaRPr lang="en-US" sz="900" dirty="0"/>
          </a:p>
        </p:txBody>
      </p:sp>
      <p:pic>
        <p:nvPicPr>
          <p:cNvPr id="19" name="Imagen 18">
            <a:extLst>
              <a:ext uri="{FF2B5EF4-FFF2-40B4-BE49-F238E27FC236}">
                <a16:creationId xmlns:a16="http://schemas.microsoft.com/office/drawing/2014/main" id="{BA0A906F-6B12-94EF-87A8-5E7D75541368}"/>
              </a:ext>
            </a:extLst>
          </p:cNvPr>
          <p:cNvPicPr>
            <a:picLocks noChangeAspect="1"/>
          </p:cNvPicPr>
          <p:nvPr/>
        </p:nvPicPr>
        <p:blipFill>
          <a:blip r:embed="rId4"/>
          <a:stretch>
            <a:fillRect/>
          </a:stretch>
        </p:blipFill>
        <p:spPr>
          <a:xfrm>
            <a:off x="640275" y="2309217"/>
            <a:ext cx="3877127" cy="2171343"/>
          </a:xfrm>
          <a:prstGeom prst="rect">
            <a:avLst/>
          </a:prstGeom>
        </p:spPr>
      </p:pic>
      <p:sp>
        <p:nvSpPr>
          <p:cNvPr id="20" name="Text 7">
            <a:extLst>
              <a:ext uri="{FF2B5EF4-FFF2-40B4-BE49-F238E27FC236}">
                <a16:creationId xmlns:a16="http://schemas.microsoft.com/office/drawing/2014/main" id="{FD87CF2A-69F3-716B-523E-7D420B8C64D4}"/>
              </a:ext>
            </a:extLst>
          </p:cNvPr>
          <p:cNvSpPr/>
          <p:nvPr/>
        </p:nvSpPr>
        <p:spPr>
          <a:xfrm>
            <a:off x="475719" y="2057399"/>
            <a:ext cx="4206240" cy="274320"/>
          </a:xfrm>
          <a:prstGeom prst="rect">
            <a:avLst/>
          </a:prstGeom>
          <a:noFill/>
          <a:ln/>
        </p:spPr>
        <p:txBody>
          <a:bodyPr wrap="square" lIns="0" tIns="0" rIns="0" bIns="0" rtlCol="0" anchor="ctr"/>
          <a:lstStyle/>
          <a:p>
            <a:pPr marL="0" indent="0">
              <a:buNone/>
            </a:pPr>
            <a:r>
              <a:rPr lang="en-US" sz="1200" b="1" dirty="0">
                <a:solidFill>
                  <a:srgbClr val="001940"/>
                </a:solidFill>
                <a:latin typeface="Arial" pitchFamily="34" charset="0"/>
                <a:ea typeface="Arial" pitchFamily="34" charset="-122"/>
                <a:cs typeface="Arial" pitchFamily="34" charset="-120"/>
              </a:rPr>
              <a:t>Accuracy evolution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kern="0" spc="50" dirty="0">
                <a:solidFill>
                  <a:srgbClr val="001940"/>
                </a:solidFill>
                <a:latin typeface="Manrope ExtraBold" pitchFamily="2" charset="0"/>
                <a:ea typeface="Georgia" pitchFamily="34" charset="-122"/>
                <a:cs typeface="Georgia" pitchFamily="34" charset="-120"/>
              </a:rPr>
              <a:t>MODEL 3: SEQUENTIAL CNN &amp; HYPOTHESIS TESTING</a:t>
            </a:r>
            <a:endParaRPr lang="en-US" sz="2800" dirty="0">
              <a:latin typeface="Manrope ExtraBold" pitchFamily="2" charset="0"/>
            </a:endParaRPr>
          </a:p>
        </p:txBody>
      </p:sp>
      <p:sp>
        <p:nvSpPr>
          <p:cNvPr id="3" name="Shape 1"/>
          <p:cNvSpPr/>
          <p:nvPr/>
        </p:nvSpPr>
        <p:spPr>
          <a:xfrm>
            <a:off x="457200" y="1280160"/>
            <a:ext cx="8229600" cy="571500"/>
          </a:xfrm>
          <a:prstGeom prst="roundRect">
            <a:avLst>
              <a:gd name="adj" fmla="val 9412"/>
            </a:avLst>
          </a:prstGeom>
          <a:solidFill>
            <a:srgbClr val="F5F3FF"/>
          </a:solidFill>
          <a:ln/>
        </p:spPr>
        <p:txBody>
          <a:bodyPr/>
          <a:lstStyle/>
          <a:p>
            <a:endParaRPr lang="es-CO"/>
          </a:p>
        </p:txBody>
      </p:sp>
      <p:sp>
        <p:nvSpPr>
          <p:cNvPr id="5" name="Text 3"/>
          <p:cNvSpPr/>
          <p:nvPr/>
        </p:nvSpPr>
        <p:spPr>
          <a:xfrm>
            <a:off x="640080" y="1371600"/>
            <a:ext cx="7863840" cy="365760"/>
          </a:xfrm>
          <a:prstGeom prst="rect">
            <a:avLst/>
          </a:prstGeom>
          <a:noFill/>
          <a:ln/>
        </p:spPr>
        <p:txBody>
          <a:bodyPr wrap="square" lIns="0" tIns="0" rIns="0" bIns="0" rtlCol="0" anchor="ctr"/>
          <a:lstStyle/>
          <a:p>
            <a:pPr marL="0" indent="0">
              <a:buNone/>
            </a:pPr>
            <a:r>
              <a:rPr lang="en-US" sz="1100" dirty="0">
                <a:solidFill>
                  <a:srgbClr val="2D3748"/>
                </a:solidFill>
                <a:latin typeface="Arial" pitchFamily="34" charset="0"/>
                <a:ea typeface="Arial" pitchFamily="34" charset="-122"/>
                <a:cs typeface="Arial" pitchFamily="34" charset="-120"/>
              </a:rPr>
              <a:t>Is there a way to validate the effectiveness of Model 2 based on CNN? A more complex model could improve accuracy?</a:t>
            </a:r>
            <a:endParaRPr lang="en-US" sz="1100" dirty="0"/>
          </a:p>
        </p:txBody>
      </p:sp>
      <p:sp>
        <p:nvSpPr>
          <p:cNvPr id="6" name="Shape 4"/>
          <p:cNvSpPr/>
          <p:nvPr/>
        </p:nvSpPr>
        <p:spPr>
          <a:xfrm>
            <a:off x="457200" y="2034540"/>
            <a:ext cx="4206240" cy="2377440"/>
          </a:xfrm>
          <a:prstGeom prst="roundRect">
            <a:avLst>
              <a:gd name="adj" fmla="val 3846"/>
            </a:avLst>
          </a:prstGeom>
          <a:solidFill>
            <a:srgbClr val="E8F0FA"/>
          </a:solidFill>
          <a:ln/>
        </p:spPr>
        <p:txBody>
          <a:bodyPr/>
          <a:lstStyle/>
          <a:p>
            <a:endParaRPr lang="es-CO"/>
          </a:p>
        </p:txBody>
      </p:sp>
      <p:sp>
        <p:nvSpPr>
          <p:cNvPr id="7" name="Text 5"/>
          <p:cNvSpPr/>
          <p:nvPr/>
        </p:nvSpPr>
        <p:spPr>
          <a:xfrm>
            <a:off x="685800" y="2125980"/>
            <a:ext cx="3749040" cy="256032"/>
          </a:xfrm>
          <a:prstGeom prst="rect">
            <a:avLst/>
          </a:prstGeom>
          <a:noFill/>
          <a:ln/>
        </p:spPr>
        <p:txBody>
          <a:bodyPr wrap="square" lIns="0" tIns="0" rIns="0" bIns="0" rtlCol="0" anchor="ctr"/>
          <a:lstStyle/>
          <a:p>
            <a:pPr marL="0" indent="0">
              <a:buNone/>
            </a:pPr>
            <a:r>
              <a:rPr lang="en-US" sz="1300" b="1" dirty="0">
                <a:solidFill>
                  <a:srgbClr val="1A4D80"/>
                </a:solidFill>
                <a:latin typeface="Arial" pitchFamily="34" charset="0"/>
                <a:ea typeface="Arial" pitchFamily="34" charset="-122"/>
                <a:cs typeface="Arial" pitchFamily="34" charset="-120"/>
              </a:rPr>
              <a:t>Approach</a:t>
            </a:r>
            <a:endParaRPr lang="en-US" sz="1300" dirty="0"/>
          </a:p>
        </p:txBody>
      </p:sp>
      <p:sp>
        <p:nvSpPr>
          <p:cNvPr id="8" name="Text 6"/>
          <p:cNvSpPr/>
          <p:nvPr/>
        </p:nvSpPr>
        <p:spPr>
          <a:xfrm>
            <a:off x="685800" y="2427731"/>
            <a:ext cx="3749040" cy="1854901"/>
          </a:xfrm>
          <a:prstGeom prst="rect">
            <a:avLst/>
          </a:prstGeom>
          <a:noFill/>
          <a:ln/>
        </p:spPr>
        <p:txBody>
          <a:bodyPr wrap="square" lIns="0" tIns="0" rIns="0" bIns="0" rtlCol="0" anchor="ctr"/>
          <a:lstStyle/>
          <a:p>
            <a:pPr marL="0" indent="0">
              <a:lnSpc>
                <a:spcPct val="110000"/>
              </a:lnSpc>
              <a:buNone/>
            </a:pPr>
            <a:r>
              <a:rPr lang="en-US" sz="1150" b="1" dirty="0">
                <a:solidFill>
                  <a:srgbClr val="2D3748"/>
                </a:solidFill>
                <a:latin typeface="Arial" pitchFamily="34" charset="0"/>
                <a:ea typeface="Arial" pitchFamily="34" charset="-122"/>
                <a:cs typeface="Arial" pitchFamily="34" charset="-120"/>
              </a:rPr>
              <a:t>Sequential CNN architecture</a:t>
            </a:r>
            <a:endParaRPr lang="en-US" sz="115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Simpler than VGG19 / Pretrained CNN</a:t>
            </a:r>
            <a:endParaRPr lang="en-US" sz="1150" dirty="0"/>
          </a:p>
          <a:p>
            <a:pPr marL="0" indent="0">
              <a:lnSpc>
                <a:spcPct val="110000"/>
              </a:lnSpc>
              <a:buNone/>
            </a:pPr>
            <a:endParaRPr lang="en-US" sz="1150" dirty="0"/>
          </a:p>
          <a:p>
            <a:pPr marL="0" indent="0">
              <a:lnSpc>
                <a:spcPct val="110000"/>
              </a:lnSpc>
              <a:buNone/>
            </a:pPr>
            <a:r>
              <a:rPr lang="en-US" sz="1150" b="1" dirty="0">
                <a:solidFill>
                  <a:srgbClr val="2D3748"/>
                </a:solidFill>
                <a:latin typeface="Arial" pitchFamily="34" charset="0"/>
                <a:ea typeface="Arial" pitchFamily="34" charset="-122"/>
                <a:cs typeface="Arial" pitchFamily="34" charset="-120"/>
              </a:rPr>
              <a:t>Hypothesis testing framework</a:t>
            </a:r>
            <a:endParaRPr lang="en-US" sz="1150" dirty="0"/>
          </a:p>
          <a:p>
            <a:pPr>
              <a:lnSpc>
                <a:spcPct val="110000"/>
              </a:lnSpc>
            </a:pPr>
            <a:r>
              <a:rPr lang="en-US" sz="1000" dirty="0">
                <a:solidFill>
                  <a:srgbClr val="6B7280"/>
                </a:solidFill>
                <a:latin typeface="Arial" pitchFamily="34" charset="0"/>
                <a:ea typeface="Arial" pitchFamily="34" charset="-122"/>
                <a:cs typeface="Arial" pitchFamily="34" charset="-120"/>
              </a:rPr>
              <a:t>H₀: There is no difference between the features extracted from the dataset and the features extracted from a reference set</a:t>
            </a:r>
          </a:p>
          <a:p>
            <a:pPr>
              <a:lnSpc>
                <a:spcPct val="110000"/>
              </a:lnSpc>
            </a:pPr>
            <a:r>
              <a:rPr lang="en-US" sz="1000" dirty="0">
                <a:solidFill>
                  <a:srgbClr val="6B7280"/>
                </a:solidFill>
                <a:latin typeface="Arial" pitchFamily="34" charset="0"/>
                <a:ea typeface="Arial" pitchFamily="34" charset="-122"/>
                <a:cs typeface="Arial" pitchFamily="34" charset="-120"/>
              </a:rPr>
              <a:t>H₁: There is difference between each the feature distributions associated with different face ex-pressions.</a:t>
            </a:r>
          </a:p>
          <a:p>
            <a:pPr>
              <a:lnSpc>
                <a:spcPct val="110000"/>
              </a:lnSpc>
            </a:pPr>
            <a:endParaRPr lang="en-US" sz="1150" dirty="0"/>
          </a:p>
          <a:p>
            <a:pPr marL="0" indent="0">
              <a:lnSpc>
                <a:spcPct val="110000"/>
              </a:lnSpc>
              <a:buNone/>
            </a:pPr>
            <a:r>
              <a:rPr lang="en-US" sz="1150" b="1" dirty="0">
                <a:solidFill>
                  <a:srgbClr val="2D3748"/>
                </a:solidFill>
                <a:latin typeface="Arial" pitchFamily="34" charset="0"/>
                <a:ea typeface="Arial" pitchFamily="34" charset="-122"/>
                <a:cs typeface="Arial" pitchFamily="34" charset="-120"/>
              </a:rPr>
              <a:t>Class confusion analysis</a:t>
            </a:r>
            <a:endParaRPr lang="en-US" sz="115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Evaluation of dependency between similar expressions</a:t>
            </a:r>
            <a:endParaRPr lang="en-US" sz="1150" dirty="0"/>
          </a:p>
        </p:txBody>
      </p:sp>
      <p:sp>
        <p:nvSpPr>
          <p:cNvPr id="9" name="Shape 7"/>
          <p:cNvSpPr/>
          <p:nvPr/>
        </p:nvSpPr>
        <p:spPr>
          <a:xfrm>
            <a:off x="5029200" y="2034540"/>
            <a:ext cx="3657600" cy="2377440"/>
          </a:xfrm>
          <a:prstGeom prst="roundRect">
            <a:avLst>
              <a:gd name="adj" fmla="val 3846"/>
            </a:avLst>
          </a:prstGeom>
          <a:solidFill>
            <a:srgbClr val="FEF2F2"/>
          </a:solidFill>
          <a:ln/>
        </p:spPr>
        <p:txBody>
          <a:bodyPr/>
          <a:lstStyle/>
          <a:p>
            <a:endParaRPr lang="es-CO"/>
          </a:p>
        </p:txBody>
      </p:sp>
      <p:sp>
        <p:nvSpPr>
          <p:cNvPr id="10" name="Text 8"/>
          <p:cNvSpPr/>
          <p:nvPr/>
        </p:nvSpPr>
        <p:spPr>
          <a:xfrm>
            <a:off x="5212080" y="2125980"/>
            <a:ext cx="3291840" cy="256032"/>
          </a:xfrm>
          <a:prstGeom prst="rect">
            <a:avLst/>
          </a:prstGeom>
          <a:noFill/>
          <a:ln/>
        </p:spPr>
        <p:txBody>
          <a:bodyPr wrap="square" lIns="0" tIns="0" rIns="0" bIns="0" rtlCol="0" anchor="ctr"/>
          <a:lstStyle/>
          <a:p>
            <a:pPr marL="0" indent="0">
              <a:buNone/>
            </a:pPr>
            <a:r>
              <a:rPr lang="en-US" sz="1300" b="1" dirty="0">
                <a:solidFill>
                  <a:srgbClr val="DC2626"/>
                </a:solidFill>
                <a:latin typeface="Arial" pitchFamily="34" charset="0"/>
                <a:ea typeface="Arial" pitchFamily="34" charset="-122"/>
                <a:cs typeface="Arial" pitchFamily="34" charset="-120"/>
              </a:rPr>
              <a:t>Findings</a:t>
            </a:r>
            <a:endParaRPr lang="en-US" sz="1300" dirty="0"/>
          </a:p>
        </p:txBody>
      </p:sp>
      <p:sp>
        <p:nvSpPr>
          <p:cNvPr id="11" name="Text 9"/>
          <p:cNvSpPr/>
          <p:nvPr/>
        </p:nvSpPr>
        <p:spPr>
          <a:xfrm>
            <a:off x="5212080" y="2427732"/>
            <a:ext cx="3291840" cy="1737360"/>
          </a:xfrm>
          <a:prstGeom prst="rect">
            <a:avLst/>
          </a:prstGeom>
          <a:noFill/>
          <a:ln/>
        </p:spPr>
        <p:txBody>
          <a:bodyPr wrap="square" lIns="0" tIns="0" rIns="0" bIns="0" rtlCol="0" anchor="ctr"/>
          <a:lstStyle/>
          <a:p>
            <a:pPr marL="0" indent="0">
              <a:lnSpc>
                <a:spcPct val="110000"/>
              </a:lnSpc>
              <a:buNone/>
            </a:pPr>
            <a:r>
              <a:rPr lang="en-US" sz="1100" b="1" dirty="0">
                <a:solidFill>
                  <a:srgbClr val="DC2626"/>
                </a:solidFill>
                <a:latin typeface="Arial" pitchFamily="34" charset="0"/>
                <a:ea typeface="Arial" pitchFamily="34" charset="-122"/>
                <a:cs typeface="Arial" pitchFamily="34" charset="-120"/>
              </a:rPr>
              <a:t>Did NOT outperform VGG19-like CNN</a:t>
            </a:r>
            <a:endParaRPr lang="en-US" sz="1100" dirty="0"/>
          </a:p>
          <a:p>
            <a:pPr marL="0" indent="0">
              <a:lnSpc>
                <a:spcPct val="110000"/>
              </a:lnSpc>
              <a:buNone/>
            </a:pPr>
            <a:endParaRPr lang="en-US" sz="110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  •  Stronger overfitting observed</a:t>
            </a:r>
            <a:endParaRPr lang="en-US" sz="110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  •  H₁ not supported</a:t>
            </a:r>
            <a:endParaRPr lang="en-US" sz="1100" dirty="0"/>
          </a:p>
          <a:p>
            <a:pPr marL="0" indent="0">
              <a:lnSpc>
                <a:spcPct val="110000"/>
              </a:lnSpc>
              <a:buNone/>
            </a:pPr>
            <a:endParaRPr lang="en-US" sz="1100" dirty="0"/>
          </a:p>
          <a:p>
            <a:pPr marL="0" indent="0">
              <a:lnSpc>
                <a:spcPct val="110000"/>
              </a:lnSpc>
              <a:buNone/>
            </a:pPr>
            <a:r>
              <a:rPr lang="en-US" sz="1100" b="1" dirty="0">
                <a:solidFill>
                  <a:srgbClr val="059669"/>
                </a:solidFill>
                <a:latin typeface="Arial" pitchFamily="34" charset="0"/>
                <a:ea typeface="Arial" pitchFamily="34" charset="-122"/>
                <a:cs typeface="Arial" pitchFamily="34" charset="-120"/>
              </a:rPr>
              <a:t>Useful for analysis</a:t>
            </a:r>
            <a:endParaRPr lang="en-US" sz="1100" dirty="0"/>
          </a:p>
          <a:p>
            <a:pPr marL="0" indent="0">
              <a:lnSpc>
                <a:spcPct val="110000"/>
              </a:lnSpc>
              <a:buNone/>
            </a:pPr>
            <a:endParaRPr lang="en-US" sz="110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  •  Visualized class confusion patterns</a:t>
            </a:r>
            <a:endParaRPr lang="en-US" sz="110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  •  Confirmed fear/sadness systematically confused</a:t>
            </a:r>
            <a:endParaRPr lang="en-US" sz="1100" dirty="0"/>
          </a:p>
        </p:txBody>
      </p:sp>
      <p:sp>
        <p:nvSpPr>
          <p:cNvPr id="12" name="Shape 10"/>
          <p:cNvSpPr/>
          <p:nvPr/>
        </p:nvSpPr>
        <p:spPr>
          <a:xfrm>
            <a:off x="0" y="4709160"/>
            <a:ext cx="9144000" cy="434340"/>
          </a:xfrm>
          <a:prstGeom prst="rect">
            <a:avLst/>
          </a:prstGeom>
          <a:solidFill>
            <a:srgbClr val="001940"/>
          </a:solidFill>
          <a:ln/>
        </p:spPr>
        <p:txBody>
          <a:bodyPr/>
          <a:lstStyle/>
          <a:p>
            <a:endParaRPr lang="es-CO"/>
          </a:p>
        </p:txBody>
      </p:sp>
      <p:pic>
        <p:nvPicPr>
          <p:cNvPr id="13" name="Image 0" descr="/agent/turn3/workspace/polimi_logo_white.png"/>
          <p:cNvPicPr>
            <a:picLocks noChangeAspect="1"/>
          </p:cNvPicPr>
          <p:nvPr/>
        </p:nvPicPr>
        <p:blipFill>
          <a:blip r:embed="rId3"/>
          <a:stretch>
            <a:fillRect/>
          </a:stretch>
        </p:blipFill>
        <p:spPr>
          <a:xfrm>
            <a:off x="344167" y="4736592"/>
            <a:ext cx="1140465" cy="347472"/>
          </a:xfrm>
          <a:prstGeom prst="rect">
            <a:avLst/>
          </a:prstGeom>
        </p:spPr>
      </p:pic>
      <p:sp>
        <p:nvSpPr>
          <p:cNvPr id="14" name="Text 11"/>
          <p:cNvSpPr/>
          <p:nvPr/>
        </p:nvSpPr>
        <p:spPr>
          <a:xfrm>
            <a:off x="7772400" y="4736592"/>
            <a:ext cx="1097280" cy="347472"/>
          </a:xfrm>
          <a:prstGeom prst="rect">
            <a:avLst/>
          </a:prstGeom>
          <a:noFill/>
          <a:ln/>
        </p:spPr>
        <p:txBody>
          <a:bodyPr wrap="square" lIns="0" tIns="0" rIns="0" bIns="0" rtlCol="0" anchor="ctr"/>
          <a:lstStyle/>
          <a:p>
            <a:pPr marL="0" indent="0" algn="r">
              <a:buNone/>
            </a:pPr>
            <a:r>
              <a:rPr lang="en-US" sz="900" dirty="0">
                <a:solidFill>
                  <a:srgbClr val="FFFFFF"/>
                </a:solidFill>
                <a:latin typeface="Arial" pitchFamily="34" charset="0"/>
                <a:ea typeface="Arial" pitchFamily="34" charset="-122"/>
                <a:cs typeface="Arial"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0A216-5896-4FFC-1A4F-F521EBEB2CD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EA1D34C-4F5A-B2A2-6AE6-46E85C646090}"/>
              </a:ext>
            </a:extLst>
          </p:cNvPr>
          <p:cNvSpPr/>
          <p:nvPr/>
        </p:nvSpPr>
        <p:spPr>
          <a:xfrm>
            <a:off x="457200" y="407910"/>
            <a:ext cx="8229600" cy="502920"/>
          </a:xfrm>
          <a:prstGeom prst="rect">
            <a:avLst/>
          </a:prstGeom>
          <a:noFill/>
          <a:ln/>
        </p:spPr>
        <p:txBody>
          <a:bodyPr wrap="square" lIns="0" tIns="0" rIns="0" bIns="0" rtlCol="0" anchor="ctr"/>
          <a:lstStyle/>
          <a:p>
            <a:pPr marL="0" indent="0">
              <a:buNone/>
            </a:pPr>
            <a:r>
              <a:rPr lang="en-US" sz="2800" b="1" kern="0" spc="50" dirty="0">
                <a:solidFill>
                  <a:srgbClr val="001940"/>
                </a:solidFill>
                <a:latin typeface="Manrope ExtraBold" pitchFamily="2" charset="0"/>
                <a:ea typeface="Georgia" pitchFamily="34" charset="-122"/>
                <a:cs typeface="Georgia" pitchFamily="34" charset="-120"/>
              </a:rPr>
              <a:t>MODEL 3: HYPOTHESIS TESTING</a:t>
            </a:r>
            <a:endParaRPr lang="en-US" sz="2800" dirty="0">
              <a:latin typeface="Manrope ExtraBold" pitchFamily="2" charset="0"/>
            </a:endParaRPr>
          </a:p>
        </p:txBody>
      </p:sp>
      <p:sp>
        <p:nvSpPr>
          <p:cNvPr id="6" name="Shape 4">
            <a:extLst>
              <a:ext uri="{FF2B5EF4-FFF2-40B4-BE49-F238E27FC236}">
                <a16:creationId xmlns:a16="http://schemas.microsoft.com/office/drawing/2014/main" id="{8F0EDD15-1F1D-DD6D-AD47-F1FA0540898D}"/>
              </a:ext>
            </a:extLst>
          </p:cNvPr>
          <p:cNvSpPr/>
          <p:nvPr/>
        </p:nvSpPr>
        <p:spPr>
          <a:xfrm>
            <a:off x="5029200" y="1033272"/>
            <a:ext cx="3657600" cy="1055901"/>
          </a:xfrm>
          <a:prstGeom prst="roundRect">
            <a:avLst>
              <a:gd name="adj" fmla="val 3846"/>
            </a:avLst>
          </a:prstGeom>
          <a:solidFill>
            <a:srgbClr val="E8F0FA"/>
          </a:solidFill>
          <a:ln/>
        </p:spPr>
        <p:txBody>
          <a:bodyPr/>
          <a:lstStyle/>
          <a:p>
            <a:endParaRPr lang="es-CO"/>
          </a:p>
        </p:txBody>
      </p:sp>
      <p:sp>
        <p:nvSpPr>
          <p:cNvPr id="7" name="Text 5">
            <a:extLst>
              <a:ext uri="{FF2B5EF4-FFF2-40B4-BE49-F238E27FC236}">
                <a16:creationId xmlns:a16="http://schemas.microsoft.com/office/drawing/2014/main" id="{56C62B93-FB14-699D-AFAE-03A73D630757}"/>
              </a:ext>
            </a:extLst>
          </p:cNvPr>
          <p:cNvSpPr/>
          <p:nvPr/>
        </p:nvSpPr>
        <p:spPr>
          <a:xfrm>
            <a:off x="5212080" y="1124712"/>
            <a:ext cx="3246120" cy="242315"/>
          </a:xfrm>
          <a:prstGeom prst="rect">
            <a:avLst/>
          </a:prstGeom>
          <a:noFill/>
          <a:ln/>
        </p:spPr>
        <p:txBody>
          <a:bodyPr wrap="square" lIns="0" tIns="0" rIns="0" bIns="0" rtlCol="0" anchor="ctr"/>
          <a:lstStyle/>
          <a:p>
            <a:pPr marL="0" indent="0">
              <a:buNone/>
            </a:pPr>
            <a:r>
              <a:rPr lang="en-US" sz="1300" b="1" dirty="0">
                <a:solidFill>
                  <a:srgbClr val="1A4D80"/>
                </a:solidFill>
                <a:latin typeface="Arial" pitchFamily="34" charset="0"/>
                <a:ea typeface="Arial" pitchFamily="34" charset="-122"/>
                <a:cs typeface="Arial" pitchFamily="34" charset="-120"/>
              </a:rPr>
              <a:t>Approach</a:t>
            </a:r>
            <a:endParaRPr lang="en-US" sz="1300" dirty="0"/>
          </a:p>
        </p:txBody>
      </p:sp>
      <p:sp>
        <p:nvSpPr>
          <p:cNvPr id="8" name="Text 6">
            <a:extLst>
              <a:ext uri="{FF2B5EF4-FFF2-40B4-BE49-F238E27FC236}">
                <a16:creationId xmlns:a16="http://schemas.microsoft.com/office/drawing/2014/main" id="{EAB8FB48-4C3A-6659-39BF-2D24BCB72A08}"/>
              </a:ext>
            </a:extLst>
          </p:cNvPr>
          <p:cNvSpPr/>
          <p:nvPr/>
        </p:nvSpPr>
        <p:spPr>
          <a:xfrm>
            <a:off x="5212080" y="1426463"/>
            <a:ext cx="3246120" cy="512239"/>
          </a:xfrm>
          <a:prstGeom prst="rect">
            <a:avLst/>
          </a:prstGeom>
          <a:noFill/>
          <a:ln/>
        </p:spPr>
        <p:txBody>
          <a:bodyPr wrap="square" lIns="0" tIns="0" rIns="0" bIns="0" rtlCol="0" anchor="ctr"/>
          <a:lstStyle/>
          <a:p>
            <a:pPr marL="0" indent="0">
              <a:lnSpc>
                <a:spcPct val="110000"/>
              </a:lnSpc>
              <a:buNone/>
            </a:pPr>
            <a:r>
              <a:rPr lang="en-US" sz="1150" b="1" dirty="0">
                <a:solidFill>
                  <a:srgbClr val="2D3748"/>
                </a:solidFill>
                <a:latin typeface="Arial" pitchFamily="34" charset="0"/>
                <a:ea typeface="Arial" pitchFamily="34" charset="-122"/>
                <a:cs typeface="Arial" pitchFamily="34" charset="-120"/>
              </a:rPr>
              <a:t>Sequential CNN architecture</a:t>
            </a:r>
            <a:endParaRPr lang="en-US" sz="115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Simpler than VGG19 / Pretrained CNN</a:t>
            </a:r>
            <a:endParaRPr lang="en-US" sz="1150" dirty="0"/>
          </a:p>
        </p:txBody>
      </p:sp>
      <p:sp>
        <p:nvSpPr>
          <p:cNvPr id="9" name="Shape 7">
            <a:extLst>
              <a:ext uri="{FF2B5EF4-FFF2-40B4-BE49-F238E27FC236}">
                <a16:creationId xmlns:a16="http://schemas.microsoft.com/office/drawing/2014/main" id="{FF1C68F2-AD8F-C91E-CF5B-8ABD7D36E713}"/>
              </a:ext>
            </a:extLst>
          </p:cNvPr>
          <p:cNvSpPr/>
          <p:nvPr/>
        </p:nvSpPr>
        <p:spPr>
          <a:xfrm>
            <a:off x="5029200" y="2148609"/>
            <a:ext cx="3657600" cy="2377440"/>
          </a:xfrm>
          <a:prstGeom prst="roundRect">
            <a:avLst>
              <a:gd name="adj" fmla="val 3846"/>
            </a:avLst>
          </a:prstGeom>
          <a:solidFill>
            <a:srgbClr val="FEF2F2"/>
          </a:solidFill>
          <a:ln/>
        </p:spPr>
        <p:txBody>
          <a:bodyPr/>
          <a:lstStyle/>
          <a:p>
            <a:endParaRPr lang="es-CO"/>
          </a:p>
        </p:txBody>
      </p:sp>
      <p:sp>
        <p:nvSpPr>
          <p:cNvPr id="10" name="Text 8">
            <a:extLst>
              <a:ext uri="{FF2B5EF4-FFF2-40B4-BE49-F238E27FC236}">
                <a16:creationId xmlns:a16="http://schemas.microsoft.com/office/drawing/2014/main" id="{CCCADAF3-B168-C9C4-435B-D87E1143880C}"/>
              </a:ext>
            </a:extLst>
          </p:cNvPr>
          <p:cNvSpPr/>
          <p:nvPr/>
        </p:nvSpPr>
        <p:spPr>
          <a:xfrm>
            <a:off x="5212080" y="2240049"/>
            <a:ext cx="3291840" cy="256032"/>
          </a:xfrm>
          <a:prstGeom prst="rect">
            <a:avLst/>
          </a:prstGeom>
          <a:noFill/>
          <a:ln/>
        </p:spPr>
        <p:txBody>
          <a:bodyPr wrap="square" lIns="0" tIns="0" rIns="0" bIns="0" rtlCol="0" anchor="ctr"/>
          <a:lstStyle/>
          <a:p>
            <a:pPr marL="0" indent="0">
              <a:buNone/>
            </a:pPr>
            <a:r>
              <a:rPr lang="en-US" sz="1300" b="1" dirty="0">
                <a:solidFill>
                  <a:srgbClr val="DC2626"/>
                </a:solidFill>
                <a:latin typeface="Arial" pitchFamily="34" charset="0"/>
                <a:ea typeface="Arial" pitchFamily="34" charset="-122"/>
                <a:cs typeface="Arial" pitchFamily="34" charset="-120"/>
              </a:rPr>
              <a:t>Findings</a:t>
            </a:r>
            <a:endParaRPr lang="en-US" sz="1300" dirty="0"/>
          </a:p>
        </p:txBody>
      </p:sp>
      <p:sp>
        <p:nvSpPr>
          <p:cNvPr id="11" name="Text 9">
            <a:extLst>
              <a:ext uri="{FF2B5EF4-FFF2-40B4-BE49-F238E27FC236}">
                <a16:creationId xmlns:a16="http://schemas.microsoft.com/office/drawing/2014/main" id="{E79F1201-5AD7-FB55-D630-9F5F59B633BF}"/>
              </a:ext>
            </a:extLst>
          </p:cNvPr>
          <p:cNvSpPr/>
          <p:nvPr/>
        </p:nvSpPr>
        <p:spPr>
          <a:xfrm>
            <a:off x="5212080" y="2541801"/>
            <a:ext cx="3291840" cy="1737360"/>
          </a:xfrm>
          <a:prstGeom prst="rect">
            <a:avLst/>
          </a:prstGeom>
          <a:noFill/>
          <a:ln/>
        </p:spPr>
        <p:txBody>
          <a:bodyPr wrap="square" lIns="0" tIns="0" rIns="0" bIns="0" rtlCol="0" anchor="ctr"/>
          <a:lstStyle/>
          <a:p>
            <a:pPr marL="0" indent="0">
              <a:lnSpc>
                <a:spcPct val="110000"/>
              </a:lnSpc>
              <a:buNone/>
            </a:pPr>
            <a:r>
              <a:rPr lang="en-US" sz="1100" b="1" dirty="0">
                <a:solidFill>
                  <a:srgbClr val="DC2626"/>
                </a:solidFill>
                <a:latin typeface="Arial" pitchFamily="34" charset="0"/>
                <a:ea typeface="Arial" pitchFamily="34" charset="-122"/>
                <a:cs typeface="Arial" pitchFamily="34" charset="-120"/>
              </a:rPr>
              <a:t>Did NOT outperform VGG19-like CNN</a:t>
            </a:r>
            <a:endParaRPr lang="en-US" sz="1100" dirty="0"/>
          </a:p>
          <a:p>
            <a:pPr marL="0" indent="0">
              <a:lnSpc>
                <a:spcPct val="110000"/>
              </a:lnSpc>
              <a:buNone/>
            </a:pPr>
            <a:endParaRPr lang="en-US" sz="110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  •  Stronger overfitting observed</a:t>
            </a:r>
            <a:endParaRPr lang="en-US" sz="110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  •  H₁ not supported</a:t>
            </a:r>
            <a:endParaRPr lang="en-US" sz="1100" dirty="0"/>
          </a:p>
          <a:p>
            <a:pPr marL="0" indent="0">
              <a:lnSpc>
                <a:spcPct val="110000"/>
              </a:lnSpc>
              <a:buNone/>
            </a:pPr>
            <a:endParaRPr lang="en-US" sz="1100" dirty="0"/>
          </a:p>
          <a:p>
            <a:pPr marL="0" indent="0">
              <a:lnSpc>
                <a:spcPct val="110000"/>
              </a:lnSpc>
              <a:buNone/>
            </a:pPr>
            <a:r>
              <a:rPr lang="en-US" sz="1100" b="1" dirty="0">
                <a:solidFill>
                  <a:srgbClr val="059669"/>
                </a:solidFill>
                <a:latin typeface="Arial" pitchFamily="34" charset="0"/>
                <a:ea typeface="Arial" pitchFamily="34" charset="-122"/>
                <a:cs typeface="Arial" pitchFamily="34" charset="-120"/>
              </a:rPr>
              <a:t>Useful for analysis</a:t>
            </a:r>
            <a:endParaRPr lang="en-US" sz="1100" dirty="0"/>
          </a:p>
          <a:p>
            <a:pPr marL="0" indent="0">
              <a:lnSpc>
                <a:spcPct val="110000"/>
              </a:lnSpc>
              <a:buNone/>
            </a:pPr>
            <a:endParaRPr lang="en-US" sz="110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  •  Visualized class confusion patterns</a:t>
            </a:r>
            <a:endParaRPr lang="en-US" sz="1100" dirty="0"/>
          </a:p>
          <a:p>
            <a:pPr marL="0" indent="0">
              <a:lnSpc>
                <a:spcPct val="110000"/>
              </a:lnSpc>
              <a:buNone/>
            </a:pPr>
            <a:r>
              <a:rPr lang="en-US" sz="1000" dirty="0">
                <a:solidFill>
                  <a:srgbClr val="6B7280"/>
                </a:solidFill>
                <a:latin typeface="Arial" pitchFamily="34" charset="0"/>
                <a:ea typeface="Arial" pitchFamily="34" charset="-122"/>
                <a:cs typeface="Arial" pitchFamily="34" charset="-120"/>
              </a:rPr>
              <a:t>  •  Confirmed fear/sadness systematically confused</a:t>
            </a:r>
            <a:endParaRPr lang="en-US" sz="1100" dirty="0"/>
          </a:p>
        </p:txBody>
      </p:sp>
      <p:sp>
        <p:nvSpPr>
          <p:cNvPr id="12" name="Shape 10">
            <a:extLst>
              <a:ext uri="{FF2B5EF4-FFF2-40B4-BE49-F238E27FC236}">
                <a16:creationId xmlns:a16="http://schemas.microsoft.com/office/drawing/2014/main" id="{83DF4EBF-6DC3-2C0C-2EEC-7BBDEA6BB175}"/>
              </a:ext>
            </a:extLst>
          </p:cNvPr>
          <p:cNvSpPr/>
          <p:nvPr/>
        </p:nvSpPr>
        <p:spPr>
          <a:xfrm>
            <a:off x="0" y="4709160"/>
            <a:ext cx="9144000" cy="434340"/>
          </a:xfrm>
          <a:prstGeom prst="rect">
            <a:avLst/>
          </a:prstGeom>
          <a:solidFill>
            <a:srgbClr val="001940"/>
          </a:solidFill>
          <a:ln/>
        </p:spPr>
        <p:txBody>
          <a:bodyPr/>
          <a:lstStyle/>
          <a:p>
            <a:endParaRPr lang="es-CO"/>
          </a:p>
        </p:txBody>
      </p:sp>
      <p:pic>
        <p:nvPicPr>
          <p:cNvPr id="13" name="Image 0" descr="/agent/turn3/workspace/polimi_logo_white.png">
            <a:extLst>
              <a:ext uri="{FF2B5EF4-FFF2-40B4-BE49-F238E27FC236}">
                <a16:creationId xmlns:a16="http://schemas.microsoft.com/office/drawing/2014/main" id="{89DB0A0D-8D86-DE18-5CD9-116B2847A9B5}"/>
              </a:ext>
            </a:extLst>
          </p:cNvPr>
          <p:cNvPicPr>
            <a:picLocks noChangeAspect="1"/>
          </p:cNvPicPr>
          <p:nvPr/>
        </p:nvPicPr>
        <p:blipFill>
          <a:blip r:embed="rId3"/>
          <a:stretch>
            <a:fillRect/>
          </a:stretch>
        </p:blipFill>
        <p:spPr>
          <a:xfrm>
            <a:off x="344167" y="4736592"/>
            <a:ext cx="1140465" cy="347472"/>
          </a:xfrm>
          <a:prstGeom prst="rect">
            <a:avLst/>
          </a:prstGeom>
        </p:spPr>
      </p:pic>
      <p:sp>
        <p:nvSpPr>
          <p:cNvPr id="14" name="Text 11">
            <a:extLst>
              <a:ext uri="{FF2B5EF4-FFF2-40B4-BE49-F238E27FC236}">
                <a16:creationId xmlns:a16="http://schemas.microsoft.com/office/drawing/2014/main" id="{592F0C1D-B6AA-B3FA-AC70-C5A199C6E3EA}"/>
              </a:ext>
            </a:extLst>
          </p:cNvPr>
          <p:cNvSpPr/>
          <p:nvPr/>
        </p:nvSpPr>
        <p:spPr>
          <a:xfrm>
            <a:off x="7772400" y="4736592"/>
            <a:ext cx="1097280" cy="347472"/>
          </a:xfrm>
          <a:prstGeom prst="rect">
            <a:avLst/>
          </a:prstGeom>
          <a:noFill/>
          <a:ln/>
        </p:spPr>
        <p:txBody>
          <a:bodyPr wrap="square" lIns="0" tIns="0" rIns="0" bIns="0" rtlCol="0" anchor="ctr"/>
          <a:lstStyle/>
          <a:p>
            <a:pPr marL="0" indent="0" algn="r">
              <a:buNone/>
            </a:pPr>
            <a:r>
              <a:rPr lang="en-US" sz="900" dirty="0">
                <a:solidFill>
                  <a:srgbClr val="FFFFFF"/>
                </a:solidFill>
                <a:latin typeface="Arial" pitchFamily="34" charset="0"/>
                <a:ea typeface="Arial" pitchFamily="34" charset="-122"/>
                <a:cs typeface="Arial" pitchFamily="34" charset="-120"/>
              </a:rPr>
              <a:t>11 / 15</a:t>
            </a:r>
            <a:endParaRPr lang="en-US" sz="900" dirty="0"/>
          </a:p>
        </p:txBody>
      </p:sp>
      <p:pic>
        <p:nvPicPr>
          <p:cNvPr id="15" name="Imagen 14">
            <a:extLst>
              <a:ext uri="{FF2B5EF4-FFF2-40B4-BE49-F238E27FC236}">
                <a16:creationId xmlns:a16="http://schemas.microsoft.com/office/drawing/2014/main" id="{12B4B358-E58E-6F67-42CC-B4AD9E1D0E73}"/>
              </a:ext>
            </a:extLst>
          </p:cNvPr>
          <p:cNvPicPr>
            <a:picLocks noChangeAspect="1"/>
          </p:cNvPicPr>
          <p:nvPr/>
        </p:nvPicPr>
        <p:blipFill>
          <a:blip r:embed="rId4"/>
          <a:stretch>
            <a:fillRect/>
          </a:stretch>
        </p:blipFill>
        <p:spPr>
          <a:xfrm>
            <a:off x="457200" y="1467752"/>
            <a:ext cx="2137534" cy="1197103"/>
          </a:xfrm>
          <a:prstGeom prst="rect">
            <a:avLst/>
          </a:prstGeom>
        </p:spPr>
      </p:pic>
      <p:pic>
        <p:nvPicPr>
          <p:cNvPr id="17" name="Imagen 16">
            <a:extLst>
              <a:ext uri="{FF2B5EF4-FFF2-40B4-BE49-F238E27FC236}">
                <a16:creationId xmlns:a16="http://schemas.microsoft.com/office/drawing/2014/main" id="{0BEDE56F-53B1-3CE8-EC75-B6B8CA8E30C5}"/>
              </a:ext>
            </a:extLst>
          </p:cNvPr>
          <p:cNvPicPr>
            <a:picLocks noChangeAspect="1"/>
          </p:cNvPicPr>
          <p:nvPr/>
        </p:nvPicPr>
        <p:blipFill>
          <a:blip r:embed="rId5"/>
          <a:stretch>
            <a:fillRect/>
          </a:stretch>
        </p:blipFill>
        <p:spPr>
          <a:xfrm>
            <a:off x="2699080" y="1467752"/>
            <a:ext cx="2026200" cy="1197103"/>
          </a:xfrm>
          <a:prstGeom prst="rect">
            <a:avLst/>
          </a:prstGeom>
        </p:spPr>
      </p:pic>
      <p:pic>
        <p:nvPicPr>
          <p:cNvPr id="19" name="Imagen 18">
            <a:extLst>
              <a:ext uri="{FF2B5EF4-FFF2-40B4-BE49-F238E27FC236}">
                <a16:creationId xmlns:a16="http://schemas.microsoft.com/office/drawing/2014/main" id="{A07C36F3-5A85-EF69-CF20-5A9F2D4C839F}"/>
              </a:ext>
            </a:extLst>
          </p:cNvPr>
          <p:cNvPicPr>
            <a:picLocks noChangeAspect="1"/>
          </p:cNvPicPr>
          <p:nvPr/>
        </p:nvPicPr>
        <p:blipFill>
          <a:blip r:embed="rId6"/>
          <a:stretch>
            <a:fillRect/>
          </a:stretch>
        </p:blipFill>
        <p:spPr>
          <a:xfrm>
            <a:off x="419144" y="2686571"/>
            <a:ext cx="2175590" cy="1900147"/>
          </a:xfrm>
          <a:prstGeom prst="rect">
            <a:avLst/>
          </a:prstGeom>
        </p:spPr>
      </p:pic>
      <p:pic>
        <p:nvPicPr>
          <p:cNvPr id="21" name="Imagen 20">
            <a:extLst>
              <a:ext uri="{FF2B5EF4-FFF2-40B4-BE49-F238E27FC236}">
                <a16:creationId xmlns:a16="http://schemas.microsoft.com/office/drawing/2014/main" id="{0B65FC75-9CFF-4EB8-5A2C-26E3E49B637A}"/>
              </a:ext>
            </a:extLst>
          </p:cNvPr>
          <p:cNvPicPr>
            <a:picLocks noChangeAspect="1"/>
          </p:cNvPicPr>
          <p:nvPr/>
        </p:nvPicPr>
        <p:blipFill>
          <a:blip r:embed="rId7"/>
          <a:stretch>
            <a:fillRect/>
          </a:stretch>
        </p:blipFill>
        <p:spPr>
          <a:xfrm>
            <a:off x="2699080" y="2686571"/>
            <a:ext cx="2101998" cy="1839478"/>
          </a:xfrm>
          <a:prstGeom prst="rect">
            <a:avLst/>
          </a:prstGeom>
        </p:spPr>
      </p:pic>
      <p:sp>
        <p:nvSpPr>
          <p:cNvPr id="22" name="Text 7">
            <a:extLst>
              <a:ext uri="{FF2B5EF4-FFF2-40B4-BE49-F238E27FC236}">
                <a16:creationId xmlns:a16="http://schemas.microsoft.com/office/drawing/2014/main" id="{3B9DA20D-918F-E4FD-4436-8537EF5918B6}"/>
              </a:ext>
            </a:extLst>
          </p:cNvPr>
          <p:cNvSpPr/>
          <p:nvPr/>
        </p:nvSpPr>
        <p:spPr>
          <a:xfrm>
            <a:off x="419144" y="1081256"/>
            <a:ext cx="2119015" cy="274320"/>
          </a:xfrm>
          <a:prstGeom prst="rect">
            <a:avLst/>
          </a:prstGeom>
          <a:noFill/>
          <a:ln/>
        </p:spPr>
        <p:txBody>
          <a:bodyPr wrap="square" lIns="0" tIns="0" rIns="0" bIns="0" rtlCol="0" anchor="ctr"/>
          <a:lstStyle/>
          <a:p>
            <a:pPr marL="0" indent="0">
              <a:buNone/>
            </a:pPr>
            <a:r>
              <a:rPr lang="en-US" sz="1200" b="1" dirty="0">
                <a:solidFill>
                  <a:srgbClr val="001940"/>
                </a:solidFill>
                <a:latin typeface="Arial" pitchFamily="34" charset="0"/>
                <a:ea typeface="Arial" pitchFamily="34" charset="-122"/>
                <a:cs typeface="Arial" pitchFamily="34" charset="-120"/>
              </a:rPr>
              <a:t>Sequential CNN</a:t>
            </a:r>
            <a:endParaRPr lang="en-US" sz="1200" dirty="0"/>
          </a:p>
        </p:txBody>
      </p:sp>
      <p:sp>
        <p:nvSpPr>
          <p:cNvPr id="23" name="Text 7">
            <a:extLst>
              <a:ext uri="{FF2B5EF4-FFF2-40B4-BE49-F238E27FC236}">
                <a16:creationId xmlns:a16="http://schemas.microsoft.com/office/drawing/2014/main" id="{A63D2D3B-BBE0-C525-CACA-5D50A9D85696}"/>
              </a:ext>
            </a:extLst>
          </p:cNvPr>
          <p:cNvSpPr/>
          <p:nvPr/>
        </p:nvSpPr>
        <p:spPr>
          <a:xfrm>
            <a:off x="2699080" y="1079961"/>
            <a:ext cx="2223361" cy="274320"/>
          </a:xfrm>
          <a:prstGeom prst="rect">
            <a:avLst/>
          </a:prstGeom>
          <a:noFill/>
          <a:ln/>
        </p:spPr>
        <p:txBody>
          <a:bodyPr wrap="square" lIns="0" tIns="0" rIns="0" bIns="0" rtlCol="0" anchor="ctr"/>
          <a:lstStyle/>
          <a:p>
            <a:pPr marL="0" indent="0">
              <a:buNone/>
            </a:pPr>
            <a:r>
              <a:rPr lang="en-US" sz="1200" b="1" dirty="0">
                <a:solidFill>
                  <a:srgbClr val="001940"/>
                </a:solidFill>
                <a:latin typeface="Arial" pitchFamily="34" charset="0"/>
                <a:ea typeface="Arial" pitchFamily="34" charset="-122"/>
                <a:cs typeface="Arial" pitchFamily="34" charset="-120"/>
              </a:rPr>
              <a:t>Pretrained VGG19</a:t>
            </a:r>
            <a:endParaRPr lang="en-US" sz="1200" dirty="0"/>
          </a:p>
        </p:txBody>
      </p:sp>
    </p:spTree>
    <p:extLst>
      <p:ext uri="{BB962C8B-B14F-4D97-AF65-F5344CB8AC3E}">
        <p14:creationId xmlns:p14="http://schemas.microsoft.com/office/powerpoint/2010/main" val="337935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buNone/>
            </a:pPr>
            <a:r>
              <a:rPr lang="en-US" sz="2800" b="1" kern="0" spc="100" dirty="0">
                <a:solidFill>
                  <a:srgbClr val="001940"/>
                </a:solidFill>
                <a:latin typeface="Manrope ExtraBold" pitchFamily="2" charset="0"/>
                <a:ea typeface="Georgia" pitchFamily="34" charset="-122"/>
                <a:cs typeface="Georgia" pitchFamily="34" charset="-120"/>
              </a:rPr>
              <a:t>RESULTS COMPARISON</a:t>
            </a:r>
            <a:endParaRPr lang="en-US" sz="2800" dirty="0">
              <a:latin typeface="Manrope ExtraBold" pitchFamily="2" charset="0"/>
            </a:endParaRPr>
          </a:p>
        </p:txBody>
      </p:sp>
      <p:graphicFrame>
        <p:nvGraphicFramePr>
          <p:cNvPr id="13" name="Table 0"/>
          <p:cNvGraphicFramePr>
            <a:graphicFrameLocks noGrp="1"/>
          </p:cNvGraphicFramePr>
          <p:nvPr>
            <p:extLst>
              <p:ext uri="{D42A27DB-BD31-4B8C-83A1-F6EECF244321}">
                <p14:modId xmlns:p14="http://schemas.microsoft.com/office/powerpoint/2010/main" val="1644383645"/>
              </p:ext>
            </p:extLst>
          </p:nvPr>
        </p:nvGraphicFramePr>
        <p:xfrm>
          <a:off x="457200" y="914400"/>
          <a:ext cx="8229600" cy="2403564"/>
        </p:xfrm>
        <a:graphic>
          <a:graphicData uri="http://schemas.openxmlformats.org/drawingml/2006/table">
            <a:tbl>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39634">
                <a:tc>
                  <a:txBody>
                    <a:bodyPr/>
                    <a:lstStyle/>
                    <a:p>
                      <a:pPr marL="0" indent="0">
                        <a:buNone/>
                      </a:pPr>
                      <a:endParaRPr lang="en-US" sz="900" dirty="0">
                        <a:latin typeface="Arial" charset="0"/>
                        <a:ea typeface="Arial" charset="0"/>
                        <a:cs typeface="Arial"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1940"/>
                    </a:solidFill>
                  </a:tcPr>
                </a:tc>
                <a:tc>
                  <a:txBody>
                    <a:bodyPr/>
                    <a:lstStyle/>
                    <a:p>
                      <a:pPr marL="0" indent="0" algn="ctr">
                        <a:buNone/>
                      </a:pPr>
                      <a:r>
                        <a:rPr lang="en-US" sz="900" b="1">
                          <a:solidFill>
                            <a:srgbClr val="FFFFFF"/>
                          </a:solidFill>
                          <a:latin typeface="Arial" pitchFamily="34" charset="0"/>
                          <a:ea typeface="Arial" pitchFamily="34" charset="-122"/>
                          <a:cs typeface="Arial" pitchFamily="34" charset="-120"/>
                        </a:rPr>
                        <a:t>SVM + PCA</a:t>
                      </a:r>
                      <a:endParaRPr lang="en-US" sz="900" dirty="0">
                        <a:latin typeface="Arial" charset="0"/>
                        <a:ea typeface="Arial" charset="0"/>
                        <a:cs typeface="Arial"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1940"/>
                    </a:solidFill>
                  </a:tcPr>
                </a:tc>
                <a:tc>
                  <a:txBody>
                    <a:bodyPr/>
                    <a:lstStyle/>
                    <a:p>
                      <a:pPr marL="0" indent="0" algn="ctr">
                        <a:buNone/>
                      </a:pPr>
                      <a:r>
                        <a:rPr lang="en-US" sz="900" b="1">
                          <a:solidFill>
                            <a:srgbClr val="FFFFFF"/>
                          </a:solidFill>
                          <a:latin typeface="Arial" pitchFamily="34" charset="0"/>
                          <a:ea typeface="Arial" pitchFamily="34" charset="-122"/>
                          <a:cs typeface="Arial" pitchFamily="34" charset="-120"/>
                        </a:rPr>
                        <a:t>VGG19-like CNN</a:t>
                      </a:r>
                      <a:endParaRPr lang="en-US" sz="900" dirty="0">
                        <a:latin typeface="Arial" charset="0"/>
                        <a:ea typeface="Arial" charset="0"/>
                        <a:cs typeface="Arial"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1940"/>
                    </a:solidFill>
                  </a:tcPr>
                </a:tc>
                <a:tc>
                  <a:txBody>
                    <a:bodyPr/>
                    <a:lstStyle/>
                    <a:p>
                      <a:pPr marL="0" indent="0" algn="ctr">
                        <a:buNone/>
                      </a:pPr>
                      <a:r>
                        <a:rPr lang="en-US" sz="900" b="1">
                          <a:solidFill>
                            <a:srgbClr val="FFFFFF"/>
                          </a:solidFill>
                          <a:latin typeface="Arial" pitchFamily="34" charset="0"/>
                          <a:ea typeface="Arial" pitchFamily="34" charset="-122"/>
                          <a:cs typeface="Arial" pitchFamily="34" charset="-120"/>
                        </a:rPr>
                        <a:t>Seq. CNN / Hyp.</a:t>
                      </a:r>
                      <a:endParaRPr lang="en-US" sz="900" dirty="0">
                        <a:latin typeface="Arial" charset="0"/>
                        <a:ea typeface="Arial" charset="0"/>
                        <a:cs typeface="Arial"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1940"/>
                    </a:solidFill>
                  </a:tcPr>
                </a:tc>
                <a:extLst>
                  <a:ext uri="{0D108BD9-81ED-4DB2-BD59-A6C34878D82A}">
                    <a16:rowId xmlns:a16="http://schemas.microsoft.com/office/drawing/2014/main" val="10000"/>
                  </a:ext>
                </a:extLst>
              </a:tr>
              <a:tr h="339634">
                <a:tc>
                  <a:txBody>
                    <a:bodyPr/>
                    <a:lstStyle/>
                    <a:p>
                      <a:pPr marL="0" indent="0" algn="l">
                        <a:buNone/>
                      </a:pPr>
                      <a:r>
                        <a:rPr lang="en-US" sz="900" b="1">
                          <a:solidFill>
                            <a:srgbClr val="001940"/>
                          </a:solidFill>
                          <a:latin typeface="Arial" pitchFamily="34" charset="0"/>
                          <a:ea typeface="Arial" pitchFamily="34" charset="-122"/>
                          <a:cs typeface="Arial" pitchFamily="34" charset="-120"/>
                        </a:rPr>
                        <a:t>Main Idea</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7FA"/>
                    </a:solidFill>
                  </a:tcPr>
                </a:tc>
                <a:tc>
                  <a:txBody>
                    <a:bodyPr/>
                    <a:lstStyle/>
                    <a:p>
                      <a:pPr marL="0" indent="0" algn="ctr">
                        <a:buNone/>
                      </a:pPr>
                      <a:r>
                        <a:rPr lang="en-US" sz="900">
                          <a:solidFill>
                            <a:srgbClr val="2D3748"/>
                          </a:solidFill>
                          <a:latin typeface="Arial" pitchFamily="34" charset="0"/>
                          <a:ea typeface="Arial" pitchFamily="34" charset="-122"/>
                          <a:cs typeface="Arial" pitchFamily="34" charset="-120"/>
                        </a:rPr>
                        <a:t>Classical ML baseline</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7FA"/>
                    </a:solidFill>
                  </a:tcPr>
                </a:tc>
                <a:tc>
                  <a:txBody>
                    <a:bodyPr/>
                    <a:lstStyle/>
                    <a:p>
                      <a:pPr marL="0" indent="0" algn="ctr">
                        <a:buNone/>
                      </a:pPr>
                      <a:r>
                        <a:rPr lang="en-US" sz="900">
                          <a:solidFill>
                            <a:srgbClr val="2D3748"/>
                          </a:solidFill>
                          <a:latin typeface="Arial" pitchFamily="34" charset="0"/>
                          <a:ea typeface="Arial" pitchFamily="34" charset="-122"/>
                          <a:cs typeface="Arial" pitchFamily="34" charset="-120"/>
                        </a:rPr>
                        <a:t>Deep spatial learning</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7FA"/>
                    </a:solidFill>
                  </a:tcPr>
                </a:tc>
                <a:tc>
                  <a:txBody>
                    <a:bodyPr/>
                    <a:lstStyle/>
                    <a:p>
                      <a:pPr marL="0" indent="0" algn="ctr">
                        <a:buNone/>
                      </a:pPr>
                      <a:r>
                        <a:rPr lang="en-US" sz="900">
                          <a:solidFill>
                            <a:srgbClr val="2D3748"/>
                          </a:solidFill>
                          <a:latin typeface="Arial" pitchFamily="34" charset="0"/>
                          <a:ea typeface="Arial" pitchFamily="34" charset="-122"/>
                          <a:cs typeface="Arial" pitchFamily="34" charset="-120"/>
                        </a:rPr>
                        <a:t>Hypothesis testing</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7FA"/>
                    </a:solidFill>
                  </a:tcPr>
                </a:tc>
                <a:extLst>
                  <a:ext uri="{0D108BD9-81ED-4DB2-BD59-A6C34878D82A}">
                    <a16:rowId xmlns:a16="http://schemas.microsoft.com/office/drawing/2014/main" val="10001"/>
                  </a:ext>
                </a:extLst>
              </a:tr>
              <a:tr h="339634">
                <a:tc>
                  <a:txBody>
                    <a:bodyPr/>
                    <a:lstStyle/>
                    <a:p>
                      <a:pPr marL="0" indent="0" algn="l">
                        <a:buNone/>
                      </a:pPr>
                      <a:r>
                        <a:rPr lang="en-US" sz="900" b="1">
                          <a:solidFill>
                            <a:srgbClr val="001940"/>
                          </a:solidFill>
                          <a:latin typeface="Arial" pitchFamily="34" charset="0"/>
                          <a:ea typeface="Arial" pitchFamily="34" charset="-122"/>
                          <a:cs typeface="Arial" pitchFamily="34" charset="-120"/>
                        </a:rPr>
                        <a:t>Input</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00">
                          <a:solidFill>
                            <a:srgbClr val="2D3748"/>
                          </a:solidFill>
                          <a:latin typeface="Arial" pitchFamily="34" charset="0"/>
                          <a:ea typeface="Arial" pitchFamily="34" charset="-122"/>
                          <a:cs typeface="Arial" pitchFamily="34" charset="-120"/>
                        </a:rPr>
                        <a:t>PCA features</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00">
                          <a:solidFill>
                            <a:srgbClr val="2D3748"/>
                          </a:solidFill>
                          <a:latin typeface="Arial" pitchFamily="34" charset="0"/>
                          <a:ea typeface="Arial" pitchFamily="34" charset="-122"/>
                          <a:cs typeface="Arial" pitchFamily="34" charset="-120"/>
                        </a:rPr>
                        <a:t>Raw 48×48 images</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00">
                          <a:solidFill>
                            <a:srgbClr val="2D3748"/>
                          </a:solidFill>
                          <a:latin typeface="Arial" pitchFamily="34" charset="0"/>
                          <a:ea typeface="Arial" pitchFamily="34" charset="-122"/>
                          <a:cs typeface="Arial" pitchFamily="34" charset="-120"/>
                        </a:rPr>
                        <a:t>Raw 48×48 images</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9634">
                <a:tc>
                  <a:txBody>
                    <a:bodyPr/>
                    <a:lstStyle/>
                    <a:p>
                      <a:pPr marL="0" indent="0" algn="l">
                        <a:buNone/>
                      </a:pPr>
                      <a:r>
                        <a:rPr lang="en-US" sz="900" b="1">
                          <a:solidFill>
                            <a:srgbClr val="001940"/>
                          </a:solidFill>
                          <a:latin typeface="Arial" pitchFamily="34" charset="0"/>
                          <a:ea typeface="Arial" pitchFamily="34" charset="-122"/>
                          <a:cs typeface="Arial" pitchFamily="34" charset="-120"/>
                        </a:rPr>
                        <a:t>Strengths</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7FA"/>
                    </a:solidFill>
                  </a:tcPr>
                </a:tc>
                <a:tc>
                  <a:txBody>
                    <a:bodyPr/>
                    <a:lstStyle/>
                    <a:p>
                      <a:pPr marL="0" indent="0" algn="ctr">
                        <a:buNone/>
                      </a:pPr>
                      <a:r>
                        <a:rPr lang="en-US" sz="900">
                          <a:solidFill>
                            <a:srgbClr val="2D3748"/>
                          </a:solidFill>
                          <a:latin typeface="Arial" pitchFamily="34" charset="0"/>
                          <a:ea typeface="Arial" pitchFamily="34" charset="-122"/>
                          <a:cs typeface="Arial" pitchFamily="34" charset="-120"/>
                        </a:rPr>
                        <a:t>Lightweight, interpretable</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7FA"/>
                    </a:solidFill>
                  </a:tcPr>
                </a:tc>
                <a:tc>
                  <a:txBody>
                    <a:bodyPr/>
                    <a:lstStyle/>
                    <a:p>
                      <a:pPr marL="0" indent="0" algn="ctr">
                        <a:buNone/>
                      </a:pPr>
                      <a:r>
                        <a:rPr lang="en-US" sz="900">
                          <a:solidFill>
                            <a:srgbClr val="2D3748"/>
                          </a:solidFill>
                          <a:latin typeface="Arial" pitchFamily="34" charset="0"/>
                          <a:ea typeface="Arial" pitchFamily="34" charset="-122"/>
                          <a:cs typeface="Arial" pitchFamily="34" charset="-120"/>
                        </a:rPr>
                        <a:t>Best accuracy &amp; generalization</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7FA"/>
                    </a:solidFill>
                  </a:tcPr>
                </a:tc>
                <a:tc>
                  <a:txBody>
                    <a:bodyPr/>
                    <a:lstStyle/>
                    <a:p>
                      <a:pPr marL="0" indent="0" algn="ctr">
                        <a:buNone/>
                      </a:pPr>
                      <a:r>
                        <a:rPr lang="en-US" sz="900">
                          <a:solidFill>
                            <a:srgbClr val="2D3748"/>
                          </a:solidFill>
                          <a:latin typeface="Arial" pitchFamily="34" charset="0"/>
                          <a:ea typeface="Arial" pitchFamily="34" charset="-122"/>
                          <a:cs typeface="Arial" pitchFamily="34" charset="-120"/>
                        </a:rPr>
                        <a:t>Class confusion analysis</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7FA"/>
                    </a:solidFill>
                  </a:tcPr>
                </a:tc>
                <a:extLst>
                  <a:ext uri="{0D108BD9-81ED-4DB2-BD59-A6C34878D82A}">
                    <a16:rowId xmlns:a16="http://schemas.microsoft.com/office/drawing/2014/main" val="10003"/>
                  </a:ext>
                </a:extLst>
              </a:tr>
              <a:tr h="339634">
                <a:tc>
                  <a:txBody>
                    <a:bodyPr/>
                    <a:lstStyle/>
                    <a:p>
                      <a:pPr marL="0" indent="0" algn="l">
                        <a:buNone/>
                      </a:pPr>
                      <a:r>
                        <a:rPr lang="en-US" sz="900" b="1">
                          <a:solidFill>
                            <a:srgbClr val="001940"/>
                          </a:solidFill>
                          <a:latin typeface="Arial" pitchFamily="34" charset="0"/>
                          <a:ea typeface="Arial" pitchFamily="34" charset="-122"/>
                          <a:cs typeface="Arial" pitchFamily="34" charset="-120"/>
                        </a:rPr>
                        <a:t>Weaknesses</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00">
                          <a:solidFill>
                            <a:srgbClr val="2D3748"/>
                          </a:solidFill>
                          <a:latin typeface="Arial" pitchFamily="34" charset="0"/>
                          <a:ea typeface="Arial" pitchFamily="34" charset="-122"/>
                          <a:cs typeface="Arial" pitchFamily="34" charset="-120"/>
                        </a:rPr>
                        <a:t>Loses spatial info</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748"/>
                          </a:solidFill>
                          <a:latin typeface="Arial" pitchFamily="34" charset="0"/>
                          <a:ea typeface="Arial" pitchFamily="34" charset="-122"/>
                          <a:cs typeface="Arial" pitchFamily="34" charset="-120"/>
                        </a:rPr>
                        <a:t>Higher compute cost and preprocessing effort</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00">
                          <a:solidFill>
                            <a:srgbClr val="2D3748"/>
                          </a:solidFill>
                          <a:latin typeface="Arial" pitchFamily="34" charset="0"/>
                          <a:ea typeface="Arial" pitchFamily="34" charset="-122"/>
                          <a:cs typeface="Arial" pitchFamily="34" charset="-120"/>
                        </a:rPr>
                        <a:t>Overfitting, less reliable</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9634">
                <a:tc>
                  <a:txBody>
                    <a:bodyPr/>
                    <a:lstStyle/>
                    <a:p>
                      <a:pPr marL="0" indent="0" algn="l">
                        <a:buNone/>
                      </a:pPr>
                      <a:r>
                        <a:rPr lang="en-US" sz="900" b="1">
                          <a:solidFill>
                            <a:srgbClr val="001940"/>
                          </a:solidFill>
                          <a:latin typeface="Arial" pitchFamily="34" charset="0"/>
                          <a:ea typeface="Arial" pitchFamily="34" charset="-122"/>
                          <a:cs typeface="Arial" pitchFamily="34" charset="-120"/>
                        </a:rPr>
                        <a:t>Best Classes</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2D3748"/>
                          </a:solidFill>
                          <a:latin typeface="Arial" pitchFamily="34" charset="0"/>
                          <a:ea typeface="Arial" pitchFamily="34" charset="-122"/>
                          <a:cs typeface="Arial" pitchFamily="34" charset="-120"/>
                        </a:rPr>
                        <a:t>Happy, Surprse, Disgust</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7FA"/>
                    </a:solidFill>
                  </a:tcPr>
                </a:tc>
                <a:tc>
                  <a:txBody>
                    <a:bodyPr/>
                    <a:lstStyle/>
                    <a:p>
                      <a:pPr marL="0" indent="0" algn="ctr">
                        <a:buNone/>
                      </a:pPr>
                      <a:r>
                        <a:rPr lang="en-US" sz="900">
                          <a:solidFill>
                            <a:srgbClr val="2D3748"/>
                          </a:solidFill>
                          <a:latin typeface="Arial" pitchFamily="34" charset="0"/>
                          <a:ea typeface="Arial" pitchFamily="34" charset="-122"/>
                          <a:cs typeface="Arial" pitchFamily="34" charset="-120"/>
                        </a:rPr>
                        <a:t>All classes improved</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7FA"/>
                    </a:solidFill>
                  </a:tcPr>
                </a:tc>
                <a:tc>
                  <a:txBody>
                    <a:bodyPr/>
                    <a:lstStyle/>
                    <a:p>
                      <a:pPr marL="0" indent="0" algn="ctr">
                        <a:buNone/>
                      </a:pPr>
                      <a:r>
                        <a:rPr lang="en-US" sz="900">
                          <a:solidFill>
                            <a:srgbClr val="2D3748"/>
                          </a:solidFill>
                          <a:latin typeface="Arial" pitchFamily="34" charset="0"/>
                          <a:ea typeface="Arial" pitchFamily="34" charset="-122"/>
                          <a:cs typeface="Arial" pitchFamily="34" charset="-120"/>
                        </a:rPr>
                        <a:t>Happy, Surprise</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7FA"/>
                    </a:solidFill>
                  </a:tcPr>
                </a:tc>
                <a:extLst>
                  <a:ext uri="{0D108BD9-81ED-4DB2-BD59-A6C34878D82A}">
                    <a16:rowId xmlns:a16="http://schemas.microsoft.com/office/drawing/2014/main" val="10005"/>
                  </a:ext>
                </a:extLst>
              </a:tr>
              <a:tr h="339634">
                <a:tc>
                  <a:txBody>
                    <a:bodyPr/>
                    <a:lstStyle/>
                    <a:p>
                      <a:pPr marL="0" indent="0" algn="l">
                        <a:buNone/>
                      </a:pPr>
                      <a:r>
                        <a:rPr lang="en-US" sz="900" b="1">
                          <a:solidFill>
                            <a:srgbClr val="001940"/>
                          </a:solidFill>
                          <a:latin typeface="Arial" pitchFamily="34" charset="0"/>
                          <a:ea typeface="Arial" pitchFamily="34" charset="-122"/>
                          <a:cs typeface="Arial" pitchFamily="34" charset="-120"/>
                        </a:rPr>
                        <a:t>Conclusion</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00" b="1">
                          <a:solidFill>
                            <a:srgbClr val="2D3748"/>
                          </a:solidFill>
                          <a:latin typeface="Arial" pitchFamily="34" charset="0"/>
                          <a:ea typeface="Arial" pitchFamily="34" charset="-122"/>
                          <a:cs typeface="Arial" pitchFamily="34" charset="-120"/>
                        </a:rPr>
                        <a:t>Reasonable baseline</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00" b="1">
                          <a:solidFill>
                            <a:srgbClr val="2D3748"/>
                          </a:solidFill>
                          <a:latin typeface="Arial" pitchFamily="34" charset="0"/>
                          <a:ea typeface="Arial" pitchFamily="34" charset="-122"/>
                          <a:cs typeface="Arial" pitchFamily="34" charset="-120"/>
                        </a:rPr>
                        <a:t>Best overall model ★</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2D3748"/>
                          </a:solidFill>
                          <a:latin typeface="Arial" pitchFamily="34" charset="0"/>
                          <a:ea typeface="Arial" pitchFamily="34" charset="-122"/>
                          <a:cs typeface="Arial" pitchFamily="34" charset="-120"/>
                        </a:rPr>
                        <a:t>Useful for analysis only</a:t>
                      </a:r>
                      <a:endParaRPr lang="en-US" sz="900" dirty="0">
                        <a:latin typeface="Arial" charset="0"/>
                        <a:ea typeface="Arial" charset="0"/>
                        <a:cs typeface="Arial"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aphicFrame>
        <p:nvGraphicFramePr>
          <p:cNvPr id="4" name="Chart 0"/>
          <p:cNvGraphicFramePr/>
          <p:nvPr>
            <p:extLst>
              <p:ext uri="{D42A27DB-BD31-4B8C-83A1-F6EECF244321}">
                <p14:modId xmlns:p14="http://schemas.microsoft.com/office/powerpoint/2010/main" val="3566750893"/>
              </p:ext>
            </p:extLst>
          </p:nvPr>
        </p:nvGraphicFramePr>
        <p:xfrm>
          <a:off x="457200" y="3429000"/>
          <a:ext cx="5029200" cy="1005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1"/>
          <p:cNvSpPr/>
          <p:nvPr/>
        </p:nvSpPr>
        <p:spPr>
          <a:xfrm>
            <a:off x="5760720" y="3429000"/>
            <a:ext cx="2926080" cy="1005840"/>
          </a:xfrm>
          <a:prstGeom prst="roundRect">
            <a:avLst>
              <a:gd name="adj" fmla="val 7273"/>
            </a:avLst>
          </a:prstGeom>
          <a:solidFill>
            <a:srgbClr val="ECFDF5"/>
          </a:solidFill>
          <a:ln/>
        </p:spPr>
        <p:txBody>
          <a:bodyPr/>
          <a:lstStyle/>
          <a:p>
            <a:endParaRPr lang="es-CO"/>
          </a:p>
        </p:txBody>
      </p:sp>
      <p:sp>
        <p:nvSpPr>
          <p:cNvPr id="6" name="Text 2"/>
          <p:cNvSpPr/>
          <p:nvPr/>
        </p:nvSpPr>
        <p:spPr>
          <a:xfrm>
            <a:off x="5943600" y="3493008"/>
            <a:ext cx="2560320" cy="868680"/>
          </a:xfrm>
          <a:prstGeom prst="rect">
            <a:avLst/>
          </a:prstGeom>
          <a:noFill/>
          <a:ln/>
        </p:spPr>
        <p:txBody>
          <a:bodyPr wrap="square" lIns="0" tIns="0" rIns="0" bIns="0" rtlCol="0" anchor="ctr"/>
          <a:lstStyle/>
          <a:p>
            <a:pPr marL="0" indent="0">
              <a:lnSpc>
                <a:spcPct val="120000"/>
              </a:lnSpc>
              <a:buNone/>
            </a:pPr>
            <a:r>
              <a:rPr lang="en-US" sz="1100" i="1" dirty="0">
                <a:solidFill>
                  <a:srgbClr val="2D3748"/>
                </a:solidFill>
                <a:latin typeface="Arial" pitchFamily="34" charset="0"/>
                <a:ea typeface="Arial" pitchFamily="34" charset="-122"/>
                <a:cs typeface="Arial" pitchFamily="34" charset="-120"/>
              </a:rPr>
              <a:t>VGG19-like CNN is the clear option — it learns spatial patterns directly from images without information loss.</a:t>
            </a:r>
            <a:endParaRPr lang="en-US" sz="1100" dirty="0"/>
          </a:p>
        </p:txBody>
      </p:sp>
      <p:sp>
        <p:nvSpPr>
          <p:cNvPr id="7" name="Shape 3"/>
          <p:cNvSpPr/>
          <p:nvPr/>
        </p:nvSpPr>
        <p:spPr>
          <a:xfrm>
            <a:off x="0" y="4709160"/>
            <a:ext cx="9144000" cy="434340"/>
          </a:xfrm>
          <a:prstGeom prst="rect">
            <a:avLst/>
          </a:prstGeom>
          <a:solidFill>
            <a:srgbClr val="001940"/>
          </a:solidFill>
          <a:ln/>
        </p:spPr>
        <p:txBody>
          <a:bodyPr/>
          <a:lstStyle/>
          <a:p>
            <a:endParaRPr lang="es-CO"/>
          </a:p>
        </p:txBody>
      </p:sp>
      <p:pic>
        <p:nvPicPr>
          <p:cNvPr id="8" name="Image 0" descr="/agent/turn3/workspace/polimi_logo_white.png"/>
          <p:cNvPicPr>
            <a:picLocks noChangeAspect="1"/>
          </p:cNvPicPr>
          <p:nvPr/>
        </p:nvPicPr>
        <p:blipFill>
          <a:blip r:embed="rId4"/>
          <a:stretch>
            <a:fillRect/>
          </a:stretch>
        </p:blipFill>
        <p:spPr>
          <a:xfrm>
            <a:off x="344167" y="4736592"/>
            <a:ext cx="1140465" cy="347472"/>
          </a:xfrm>
          <a:prstGeom prst="rect">
            <a:avLst/>
          </a:prstGeom>
        </p:spPr>
      </p:pic>
      <p:sp>
        <p:nvSpPr>
          <p:cNvPr id="9" name="Text 4"/>
          <p:cNvSpPr/>
          <p:nvPr/>
        </p:nvSpPr>
        <p:spPr>
          <a:xfrm>
            <a:off x="7772400" y="4736592"/>
            <a:ext cx="1097280" cy="347472"/>
          </a:xfrm>
          <a:prstGeom prst="rect">
            <a:avLst/>
          </a:prstGeom>
          <a:noFill/>
          <a:ln/>
        </p:spPr>
        <p:txBody>
          <a:bodyPr wrap="square" lIns="0" tIns="0" rIns="0" bIns="0" rtlCol="0" anchor="ctr"/>
          <a:lstStyle/>
          <a:p>
            <a:pPr marL="0" indent="0" algn="r">
              <a:buNone/>
            </a:pPr>
            <a:r>
              <a:rPr lang="en-US" sz="900" dirty="0">
                <a:solidFill>
                  <a:srgbClr val="FFFFFF"/>
                </a:solidFill>
                <a:latin typeface="Arial" pitchFamily="34" charset="0"/>
                <a:ea typeface="Arial" pitchFamily="34" charset="-122"/>
                <a:cs typeface="Arial" pitchFamily="34" charset="-120"/>
              </a:rPr>
              <a:t>12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buNone/>
            </a:pPr>
            <a:r>
              <a:rPr lang="en-US" sz="2800" b="1" kern="0" spc="50" dirty="0">
                <a:solidFill>
                  <a:srgbClr val="001940"/>
                </a:solidFill>
                <a:latin typeface="Manrope ExtraBold" pitchFamily="2" charset="0"/>
                <a:ea typeface="Georgia" pitchFamily="34" charset="-122"/>
                <a:cs typeface="Mangal" panose="02040503050203030202" pitchFamily="18" charset="0"/>
              </a:rPr>
              <a:t>COMPARISON WITH THE REFERENCE PAPER</a:t>
            </a:r>
            <a:endParaRPr lang="en-US" sz="2800" dirty="0">
              <a:latin typeface="Manrope ExtraBold" pitchFamily="2" charset="0"/>
              <a:cs typeface="Mangal" panose="02040503050203030202" pitchFamily="18" charset="0"/>
            </a:endParaRPr>
          </a:p>
        </p:txBody>
      </p:sp>
      <p:sp>
        <p:nvSpPr>
          <p:cNvPr id="3" name="Shape 1"/>
          <p:cNvSpPr/>
          <p:nvPr/>
        </p:nvSpPr>
        <p:spPr>
          <a:xfrm>
            <a:off x="457200" y="960120"/>
            <a:ext cx="3931920" cy="3108960"/>
          </a:xfrm>
          <a:prstGeom prst="roundRect">
            <a:avLst>
              <a:gd name="adj" fmla="val 2941"/>
            </a:avLst>
          </a:prstGeom>
          <a:solidFill>
            <a:srgbClr val="ECFDF5"/>
          </a:solidFill>
          <a:ln/>
        </p:spPr>
        <p:txBody>
          <a:bodyPr/>
          <a:lstStyle/>
          <a:p>
            <a:endParaRPr lang="es-CO"/>
          </a:p>
        </p:txBody>
      </p:sp>
      <p:sp>
        <p:nvSpPr>
          <p:cNvPr id="4" name="Text 2"/>
          <p:cNvSpPr/>
          <p:nvPr/>
        </p:nvSpPr>
        <p:spPr>
          <a:xfrm>
            <a:off x="685800" y="1051560"/>
            <a:ext cx="3474720" cy="320040"/>
          </a:xfrm>
          <a:prstGeom prst="rect">
            <a:avLst/>
          </a:prstGeom>
          <a:noFill/>
          <a:ln/>
        </p:spPr>
        <p:txBody>
          <a:bodyPr wrap="square" lIns="0" tIns="0" rIns="0" bIns="0" rtlCol="0" anchor="ctr"/>
          <a:lstStyle/>
          <a:p>
            <a:pPr marL="0" indent="0">
              <a:buNone/>
            </a:pPr>
            <a:r>
              <a:rPr lang="en-US" sz="1500" b="1" dirty="0">
                <a:solidFill>
                  <a:srgbClr val="059669"/>
                </a:solidFill>
                <a:latin typeface="Arial" pitchFamily="34" charset="0"/>
                <a:ea typeface="Arial" pitchFamily="34" charset="-122"/>
                <a:cs typeface="Arial" pitchFamily="34" charset="-120"/>
              </a:rPr>
              <a:t>Similarities</a:t>
            </a:r>
            <a:endParaRPr lang="en-US" sz="1500" dirty="0"/>
          </a:p>
        </p:txBody>
      </p:sp>
      <p:sp>
        <p:nvSpPr>
          <p:cNvPr id="5" name="Text 3"/>
          <p:cNvSpPr/>
          <p:nvPr/>
        </p:nvSpPr>
        <p:spPr>
          <a:xfrm>
            <a:off x="685800" y="1417320"/>
            <a:ext cx="3474720" cy="246888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2D3748"/>
                </a:solidFill>
                <a:latin typeface="Arial" pitchFamily="34" charset="0"/>
                <a:ea typeface="Arial" pitchFamily="34" charset="-122"/>
                <a:cs typeface="Arial" pitchFamily="34" charset="-120"/>
              </a:rPr>
              <a:t>Same general pipeline structure</a:t>
            </a:r>
            <a:endParaRPr lang="en-US" sz="1100" dirty="0"/>
          </a:p>
          <a:p>
            <a:pPr marL="342900" indent="-342900">
              <a:spcAft>
                <a:spcPts val="600"/>
              </a:spcAft>
              <a:buSzPct val="100000"/>
              <a:buChar char="•"/>
            </a:pPr>
            <a:r>
              <a:rPr lang="en-US" sz="1100" dirty="0">
                <a:solidFill>
                  <a:srgbClr val="2D3748"/>
                </a:solidFill>
                <a:latin typeface="Arial" pitchFamily="34" charset="0"/>
                <a:ea typeface="Arial" pitchFamily="34" charset="-122"/>
                <a:cs typeface="Arial" pitchFamily="34" charset="-120"/>
              </a:rPr>
              <a:t>FER-style dataset</a:t>
            </a:r>
            <a:endParaRPr lang="en-US" sz="1100" dirty="0"/>
          </a:p>
          <a:p>
            <a:pPr marL="342900" indent="-342900">
              <a:spcAft>
                <a:spcPts val="600"/>
              </a:spcAft>
              <a:buSzPct val="100000"/>
              <a:buChar char="•"/>
            </a:pPr>
            <a:r>
              <a:rPr lang="en-US" sz="1100" dirty="0">
                <a:solidFill>
                  <a:srgbClr val="2D3748"/>
                </a:solidFill>
                <a:latin typeface="Arial" pitchFamily="34" charset="0"/>
                <a:ea typeface="Arial" pitchFamily="34" charset="-122"/>
                <a:cs typeface="Arial" pitchFamily="34" charset="-120"/>
              </a:rPr>
              <a:t>Three model families tested</a:t>
            </a:r>
            <a:endParaRPr lang="en-US" sz="1100" dirty="0"/>
          </a:p>
          <a:p>
            <a:pPr marL="342900" indent="-342900">
              <a:spcAft>
                <a:spcPts val="600"/>
              </a:spcAft>
              <a:buSzPct val="100000"/>
              <a:buChar char="•"/>
            </a:pPr>
            <a:r>
              <a:rPr lang="en-US" sz="1100" dirty="0">
                <a:solidFill>
                  <a:srgbClr val="2D3748"/>
                </a:solidFill>
                <a:latin typeface="Arial" pitchFamily="34" charset="0"/>
                <a:ea typeface="Arial" pitchFamily="34" charset="-122"/>
                <a:cs typeface="Arial" pitchFamily="34" charset="-120"/>
              </a:rPr>
              <a:t>PCA, SVM, CNN/VGG approaches</a:t>
            </a:r>
            <a:endParaRPr lang="en-US" sz="1100" dirty="0"/>
          </a:p>
          <a:p>
            <a:pPr marL="342900" indent="-342900">
              <a:spcAft>
                <a:spcPts val="600"/>
              </a:spcAft>
              <a:buSzPct val="100000"/>
              <a:buChar char="•"/>
            </a:pPr>
            <a:r>
              <a:rPr lang="en-US" sz="1100" dirty="0">
                <a:solidFill>
                  <a:srgbClr val="2D3748"/>
                </a:solidFill>
                <a:latin typeface="Arial" pitchFamily="34" charset="0"/>
                <a:ea typeface="Arial" pitchFamily="34" charset="-122"/>
                <a:cs typeface="Arial" pitchFamily="34" charset="-120"/>
              </a:rPr>
              <a:t>Hypothesis-testing CNN model</a:t>
            </a:r>
            <a:endParaRPr lang="en-US" sz="1100" dirty="0"/>
          </a:p>
          <a:p>
            <a:pPr marL="342900" indent="-342900">
              <a:spcAft>
                <a:spcPts val="600"/>
              </a:spcAft>
              <a:buSzPct val="100000"/>
              <a:buChar char="•"/>
            </a:pPr>
            <a:r>
              <a:rPr lang="en-US" sz="1100" dirty="0">
                <a:solidFill>
                  <a:srgbClr val="2D3748"/>
                </a:solidFill>
                <a:latin typeface="Arial" pitchFamily="34" charset="0"/>
                <a:ea typeface="Arial" pitchFamily="34" charset="-122"/>
                <a:cs typeface="Arial" pitchFamily="34" charset="-120"/>
              </a:rPr>
              <a:t>Same core metrics</a:t>
            </a:r>
            <a:endParaRPr lang="en-US" sz="1100" dirty="0"/>
          </a:p>
          <a:p>
            <a:pPr marL="342900" indent="-342900">
              <a:spcAft>
                <a:spcPts val="600"/>
              </a:spcAft>
              <a:buSzPct val="100000"/>
              <a:buChar char="•"/>
            </a:pPr>
            <a:r>
              <a:rPr lang="en-US" sz="1100" dirty="0">
                <a:solidFill>
                  <a:srgbClr val="2D3748"/>
                </a:solidFill>
                <a:latin typeface="Arial" pitchFamily="34" charset="0"/>
                <a:ea typeface="Arial" pitchFamily="34" charset="-122"/>
                <a:cs typeface="Arial" pitchFamily="34" charset="-120"/>
              </a:rPr>
              <a:t>Same conclusion: CNNs &gt; PCA+SVM</a:t>
            </a:r>
            <a:endParaRPr lang="en-US" sz="1100" dirty="0"/>
          </a:p>
        </p:txBody>
      </p:sp>
      <p:sp>
        <p:nvSpPr>
          <p:cNvPr id="6" name="Shape 4"/>
          <p:cNvSpPr/>
          <p:nvPr/>
        </p:nvSpPr>
        <p:spPr>
          <a:xfrm>
            <a:off x="4754880" y="960120"/>
            <a:ext cx="3931920" cy="3108960"/>
          </a:xfrm>
          <a:prstGeom prst="roundRect">
            <a:avLst>
              <a:gd name="adj" fmla="val 2941"/>
            </a:avLst>
          </a:prstGeom>
          <a:solidFill>
            <a:srgbClr val="FEF2F2"/>
          </a:solidFill>
          <a:ln/>
        </p:spPr>
        <p:txBody>
          <a:bodyPr/>
          <a:lstStyle/>
          <a:p>
            <a:endParaRPr lang="es-CO"/>
          </a:p>
        </p:txBody>
      </p:sp>
      <p:sp>
        <p:nvSpPr>
          <p:cNvPr id="7" name="Text 5"/>
          <p:cNvSpPr/>
          <p:nvPr/>
        </p:nvSpPr>
        <p:spPr>
          <a:xfrm>
            <a:off x="4983480" y="1051560"/>
            <a:ext cx="3474720" cy="320040"/>
          </a:xfrm>
          <a:prstGeom prst="rect">
            <a:avLst/>
          </a:prstGeom>
          <a:noFill/>
          <a:ln/>
        </p:spPr>
        <p:txBody>
          <a:bodyPr wrap="square" lIns="0" tIns="0" rIns="0" bIns="0" rtlCol="0" anchor="ctr"/>
          <a:lstStyle/>
          <a:p>
            <a:pPr marL="0" indent="0">
              <a:buNone/>
            </a:pPr>
            <a:r>
              <a:rPr lang="en-US" sz="1500" b="1" dirty="0">
                <a:solidFill>
                  <a:srgbClr val="DC2626"/>
                </a:solidFill>
                <a:latin typeface="Arial" pitchFamily="34" charset="0"/>
                <a:ea typeface="Arial" pitchFamily="34" charset="-122"/>
                <a:cs typeface="Arial" pitchFamily="34" charset="-120"/>
              </a:rPr>
              <a:t>Differences (Our Implementation)</a:t>
            </a:r>
            <a:endParaRPr lang="en-US" sz="1500" dirty="0"/>
          </a:p>
        </p:txBody>
      </p:sp>
      <p:sp>
        <p:nvSpPr>
          <p:cNvPr id="8" name="Text 6"/>
          <p:cNvSpPr/>
          <p:nvPr/>
        </p:nvSpPr>
        <p:spPr>
          <a:xfrm>
            <a:off x="4983480" y="1417320"/>
            <a:ext cx="3474720" cy="246888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2D3748"/>
                </a:solidFill>
                <a:latin typeface="Arial" pitchFamily="34" charset="0"/>
                <a:ea typeface="Arial" pitchFamily="34" charset="-122"/>
                <a:cs typeface="Arial" pitchFamily="34" charset="-120"/>
              </a:rPr>
              <a:t>More explicit data cleaning strategy</a:t>
            </a:r>
            <a:endParaRPr lang="en-US" sz="1100" dirty="0"/>
          </a:p>
          <a:p>
            <a:pPr marL="342900" indent="-342900">
              <a:spcAft>
                <a:spcPts val="600"/>
              </a:spcAft>
              <a:buSzPct val="100000"/>
              <a:buChar char="•"/>
            </a:pPr>
            <a:r>
              <a:rPr lang="en-US" sz="1100" dirty="0">
                <a:solidFill>
                  <a:srgbClr val="2D3748"/>
                </a:solidFill>
                <a:latin typeface="Arial" pitchFamily="34" charset="0"/>
                <a:ea typeface="Arial" pitchFamily="34" charset="-122"/>
                <a:cs typeface="Arial" pitchFamily="34" charset="-120"/>
              </a:rPr>
              <a:t>Clear train / validation / test split</a:t>
            </a:r>
            <a:endParaRPr lang="en-US" sz="1100" dirty="0"/>
          </a:p>
          <a:p>
            <a:pPr marL="342900" indent="-342900">
              <a:spcAft>
                <a:spcPts val="600"/>
              </a:spcAft>
              <a:buSzPct val="100000"/>
              <a:buChar char="•"/>
            </a:pPr>
            <a:r>
              <a:rPr lang="en-US" sz="1100" dirty="0">
                <a:solidFill>
                  <a:srgbClr val="2D3748"/>
                </a:solidFill>
                <a:latin typeface="Arial" pitchFamily="34" charset="0"/>
                <a:ea typeface="Arial" pitchFamily="34" charset="-122"/>
                <a:cs typeface="Arial" pitchFamily="34" charset="-120"/>
              </a:rPr>
              <a:t>Systematic hyperparameter tuning</a:t>
            </a:r>
            <a:endParaRPr lang="en-US" sz="1100" dirty="0"/>
          </a:p>
          <a:p>
            <a:pPr marL="342900" indent="-342900">
              <a:spcAft>
                <a:spcPts val="600"/>
              </a:spcAft>
              <a:buSzPct val="100000"/>
              <a:buChar char="•"/>
            </a:pPr>
            <a:r>
              <a:rPr lang="en-US" sz="1100" dirty="0">
                <a:solidFill>
                  <a:srgbClr val="2D3748"/>
                </a:solidFill>
                <a:latin typeface="Arial" pitchFamily="34" charset="0"/>
                <a:ea typeface="Arial" pitchFamily="34" charset="-122"/>
                <a:cs typeface="Arial" pitchFamily="34" charset="-120"/>
              </a:rPr>
              <a:t>VGG19-like CNN built from scratch</a:t>
            </a:r>
          </a:p>
          <a:p>
            <a:pPr marL="342900" indent="-342900">
              <a:spcAft>
                <a:spcPts val="600"/>
              </a:spcAft>
              <a:buSzPct val="100000"/>
              <a:buChar char="•"/>
            </a:pPr>
            <a:r>
              <a:rPr lang="en-US" sz="1100" dirty="0">
                <a:solidFill>
                  <a:srgbClr val="2D3748"/>
                </a:solidFill>
                <a:latin typeface="Arial" pitchFamily="34" charset="0"/>
                <a:ea typeface="Arial" pitchFamily="34" charset="-122"/>
                <a:cs typeface="Arial" pitchFamily="34" charset="-120"/>
              </a:rPr>
              <a:t>Detailed augmentation experiments</a:t>
            </a:r>
            <a:endParaRPr lang="en-US" sz="1100" dirty="0"/>
          </a:p>
          <a:p>
            <a:pPr marL="342900" indent="-342900">
              <a:spcAft>
                <a:spcPts val="600"/>
              </a:spcAft>
              <a:buSzPct val="100000"/>
              <a:buChar char="•"/>
            </a:pPr>
            <a:r>
              <a:rPr lang="en-US" sz="1100" dirty="0">
                <a:solidFill>
                  <a:srgbClr val="2D3748"/>
                </a:solidFill>
                <a:latin typeface="Arial" pitchFamily="34" charset="0"/>
                <a:ea typeface="Arial" pitchFamily="34" charset="-122"/>
                <a:cs typeface="Arial" pitchFamily="34" charset="-120"/>
              </a:rPr>
              <a:t>Clearer and more robust Hypothesis testing</a:t>
            </a:r>
            <a:endParaRPr lang="en-US" sz="1100" dirty="0"/>
          </a:p>
        </p:txBody>
      </p:sp>
      <p:sp>
        <p:nvSpPr>
          <p:cNvPr id="11" name="Shape 9"/>
          <p:cNvSpPr/>
          <p:nvPr/>
        </p:nvSpPr>
        <p:spPr>
          <a:xfrm>
            <a:off x="0" y="4709160"/>
            <a:ext cx="9144000" cy="434340"/>
          </a:xfrm>
          <a:prstGeom prst="rect">
            <a:avLst/>
          </a:prstGeom>
          <a:solidFill>
            <a:srgbClr val="001940"/>
          </a:solidFill>
          <a:ln/>
        </p:spPr>
        <p:txBody>
          <a:bodyPr/>
          <a:lstStyle/>
          <a:p>
            <a:endParaRPr lang="es-CO"/>
          </a:p>
        </p:txBody>
      </p:sp>
      <p:pic>
        <p:nvPicPr>
          <p:cNvPr id="12" name="Image 0" descr="/agent/turn3/workspace/polimi_logo_white.png"/>
          <p:cNvPicPr>
            <a:picLocks noChangeAspect="1"/>
          </p:cNvPicPr>
          <p:nvPr/>
        </p:nvPicPr>
        <p:blipFill>
          <a:blip r:embed="rId3"/>
          <a:stretch>
            <a:fillRect/>
          </a:stretch>
        </p:blipFill>
        <p:spPr>
          <a:xfrm>
            <a:off x="344167" y="4736592"/>
            <a:ext cx="1140465" cy="347472"/>
          </a:xfrm>
          <a:prstGeom prst="rect">
            <a:avLst/>
          </a:prstGeom>
        </p:spPr>
      </p:pic>
      <p:sp>
        <p:nvSpPr>
          <p:cNvPr id="13" name="Text 10"/>
          <p:cNvSpPr/>
          <p:nvPr/>
        </p:nvSpPr>
        <p:spPr>
          <a:xfrm>
            <a:off x="7772400" y="4736592"/>
            <a:ext cx="1097280" cy="347472"/>
          </a:xfrm>
          <a:prstGeom prst="rect">
            <a:avLst/>
          </a:prstGeom>
          <a:noFill/>
          <a:ln/>
        </p:spPr>
        <p:txBody>
          <a:bodyPr wrap="square" lIns="0" tIns="0" rIns="0" bIns="0" rtlCol="0" anchor="ctr"/>
          <a:lstStyle/>
          <a:p>
            <a:pPr marL="0" indent="0" algn="r">
              <a:buNone/>
            </a:pPr>
            <a:r>
              <a:rPr lang="en-US" sz="900" dirty="0">
                <a:solidFill>
                  <a:srgbClr val="FFFFFF"/>
                </a:solidFill>
                <a:latin typeface="Arial" pitchFamily="34" charset="0"/>
                <a:ea typeface="Arial" pitchFamily="34" charset="-122"/>
                <a:cs typeface="Arial" pitchFamily="34" charset="-120"/>
              </a:rPr>
              <a:t>13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buNone/>
            </a:pPr>
            <a:r>
              <a:rPr lang="en-US" sz="2800" b="1" kern="0" spc="100" dirty="0">
                <a:solidFill>
                  <a:srgbClr val="001940"/>
                </a:solidFill>
                <a:latin typeface="Manrope ExtraBold" pitchFamily="2" charset="0"/>
                <a:ea typeface="Georgia" pitchFamily="34" charset="-122"/>
                <a:cs typeface="Georgia" pitchFamily="34" charset="-120"/>
              </a:rPr>
              <a:t>LIMITATIONS</a:t>
            </a:r>
            <a:endParaRPr lang="en-US" sz="2800" dirty="0">
              <a:latin typeface="Manrope ExtraBold" pitchFamily="2" charset="0"/>
            </a:endParaRPr>
          </a:p>
        </p:txBody>
      </p:sp>
      <p:sp>
        <p:nvSpPr>
          <p:cNvPr id="3" name="Shape 1"/>
          <p:cNvSpPr/>
          <p:nvPr/>
        </p:nvSpPr>
        <p:spPr>
          <a:xfrm>
            <a:off x="457200" y="960120"/>
            <a:ext cx="4114800" cy="1005840"/>
          </a:xfrm>
          <a:prstGeom prst="roundRect">
            <a:avLst>
              <a:gd name="adj" fmla="val 7273"/>
            </a:avLst>
          </a:prstGeom>
          <a:solidFill>
            <a:srgbClr val="FEF2F2"/>
          </a:solidFill>
          <a:ln/>
        </p:spPr>
        <p:txBody>
          <a:bodyPr/>
          <a:lstStyle/>
          <a:p>
            <a:endParaRPr lang="es-CO"/>
          </a:p>
        </p:txBody>
      </p:sp>
      <p:sp>
        <p:nvSpPr>
          <p:cNvPr id="4" name="Shape 2"/>
          <p:cNvSpPr/>
          <p:nvPr/>
        </p:nvSpPr>
        <p:spPr>
          <a:xfrm>
            <a:off x="594360" y="1188720"/>
            <a:ext cx="457200" cy="457200"/>
          </a:xfrm>
          <a:prstGeom prst="ellipse">
            <a:avLst/>
          </a:prstGeom>
          <a:solidFill>
            <a:srgbClr val="001940"/>
          </a:solidFill>
          <a:ln/>
        </p:spPr>
        <p:txBody>
          <a:bodyPr/>
          <a:lstStyle/>
          <a:p>
            <a:endParaRPr lang="es-CO"/>
          </a:p>
        </p:txBody>
      </p:sp>
      <p:sp>
        <p:nvSpPr>
          <p:cNvPr id="5" name="Text 3"/>
          <p:cNvSpPr/>
          <p:nvPr/>
        </p:nvSpPr>
        <p:spPr>
          <a:xfrm>
            <a:off x="594360" y="11887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p:nvPr/>
        </p:nvSpPr>
        <p:spPr>
          <a:xfrm>
            <a:off x="1188720" y="1069848"/>
            <a:ext cx="3108960" cy="292608"/>
          </a:xfrm>
          <a:prstGeom prst="rect">
            <a:avLst/>
          </a:prstGeom>
          <a:noFill/>
          <a:ln/>
        </p:spPr>
        <p:txBody>
          <a:bodyPr wrap="square" lIns="0" tIns="0" rIns="0" bIns="0" rtlCol="0" anchor="ctr"/>
          <a:lstStyle/>
          <a:p>
            <a:pPr marL="0" indent="0">
              <a:buNone/>
            </a:pPr>
            <a:r>
              <a:rPr lang="en-US" sz="1300" b="1" dirty="0">
                <a:solidFill>
                  <a:srgbClr val="001940"/>
                </a:solidFill>
                <a:latin typeface="Arial" pitchFamily="34" charset="0"/>
                <a:ea typeface="Arial" pitchFamily="34" charset="-122"/>
                <a:cs typeface="Arial" pitchFamily="34" charset="-120"/>
              </a:rPr>
              <a:t>Dataset Noise</a:t>
            </a:r>
            <a:endParaRPr lang="en-US" sz="1300" dirty="0"/>
          </a:p>
        </p:txBody>
      </p:sp>
      <p:sp>
        <p:nvSpPr>
          <p:cNvPr id="7" name="Text 5"/>
          <p:cNvSpPr/>
          <p:nvPr/>
        </p:nvSpPr>
        <p:spPr>
          <a:xfrm>
            <a:off x="1188720" y="1399032"/>
            <a:ext cx="3108960" cy="457200"/>
          </a:xfrm>
          <a:prstGeom prst="rect">
            <a:avLst/>
          </a:prstGeom>
          <a:noFill/>
          <a:ln/>
        </p:spPr>
        <p:txBody>
          <a:bodyPr wrap="square" lIns="0" tIns="0" rIns="0" bIns="0" rtlCol="0" anchor="ctr"/>
          <a:lstStyle/>
          <a:p>
            <a:pPr marL="0" indent="0">
              <a:lnSpc>
                <a:spcPct val="115000"/>
              </a:lnSpc>
              <a:buNone/>
            </a:pPr>
            <a:r>
              <a:rPr lang="en-US" sz="1050" dirty="0">
                <a:solidFill>
                  <a:srgbClr val="6B7280"/>
                </a:solidFill>
                <a:latin typeface="Arial" pitchFamily="34" charset="0"/>
                <a:ea typeface="Arial" pitchFamily="34" charset="-122"/>
                <a:cs typeface="Arial" pitchFamily="34" charset="-120"/>
              </a:rPr>
              <a:t>Mislabeled and ambiguous samples remain even after cleaning</a:t>
            </a:r>
            <a:endParaRPr lang="en-US" sz="1050" dirty="0"/>
          </a:p>
        </p:txBody>
      </p:sp>
      <p:sp>
        <p:nvSpPr>
          <p:cNvPr id="8" name="Shape 6"/>
          <p:cNvSpPr/>
          <p:nvPr/>
        </p:nvSpPr>
        <p:spPr>
          <a:xfrm>
            <a:off x="4800600" y="960120"/>
            <a:ext cx="4114800" cy="1005840"/>
          </a:xfrm>
          <a:prstGeom prst="roundRect">
            <a:avLst>
              <a:gd name="adj" fmla="val 7273"/>
            </a:avLst>
          </a:prstGeom>
          <a:solidFill>
            <a:srgbClr val="FEF9F3"/>
          </a:solidFill>
          <a:ln/>
        </p:spPr>
        <p:txBody>
          <a:bodyPr/>
          <a:lstStyle/>
          <a:p>
            <a:endParaRPr lang="es-CO"/>
          </a:p>
        </p:txBody>
      </p:sp>
      <p:sp>
        <p:nvSpPr>
          <p:cNvPr id="9" name="Shape 7"/>
          <p:cNvSpPr/>
          <p:nvPr/>
        </p:nvSpPr>
        <p:spPr>
          <a:xfrm>
            <a:off x="4937760" y="1188720"/>
            <a:ext cx="457200" cy="457200"/>
          </a:xfrm>
          <a:prstGeom prst="ellipse">
            <a:avLst/>
          </a:prstGeom>
          <a:solidFill>
            <a:srgbClr val="001940"/>
          </a:solidFill>
          <a:ln/>
        </p:spPr>
        <p:txBody>
          <a:bodyPr/>
          <a:lstStyle/>
          <a:p>
            <a:endParaRPr lang="es-CO"/>
          </a:p>
        </p:txBody>
      </p:sp>
      <p:sp>
        <p:nvSpPr>
          <p:cNvPr id="10" name="Text 8"/>
          <p:cNvSpPr/>
          <p:nvPr/>
        </p:nvSpPr>
        <p:spPr>
          <a:xfrm>
            <a:off x="4937760" y="11887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1" name="Text 9"/>
          <p:cNvSpPr/>
          <p:nvPr/>
        </p:nvSpPr>
        <p:spPr>
          <a:xfrm>
            <a:off x="5532120" y="1069848"/>
            <a:ext cx="3108960" cy="292608"/>
          </a:xfrm>
          <a:prstGeom prst="rect">
            <a:avLst/>
          </a:prstGeom>
          <a:noFill/>
          <a:ln/>
        </p:spPr>
        <p:txBody>
          <a:bodyPr wrap="square" lIns="0" tIns="0" rIns="0" bIns="0" rtlCol="0" anchor="ctr"/>
          <a:lstStyle/>
          <a:p>
            <a:pPr marL="0" indent="0">
              <a:buNone/>
            </a:pPr>
            <a:r>
              <a:rPr lang="en-US" sz="1300" b="1" dirty="0">
                <a:solidFill>
                  <a:srgbClr val="001940"/>
                </a:solidFill>
                <a:latin typeface="Arial" pitchFamily="34" charset="0"/>
                <a:ea typeface="Arial" pitchFamily="34" charset="-122"/>
                <a:cs typeface="Arial" pitchFamily="34" charset="-120"/>
              </a:rPr>
              <a:t>Class Imbalance</a:t>
            </a:r>
            <a:endParaRPr lang="en-US" sz="1300" dirty="0"/>
          </a:p>
        </p:txBody>
      </p:sp>
      <p:sp>
        <p:nvSpPr>
          <p:cNvPr id="12" name="Text 10"/>
          <p:cNvSpPr/>
          <p:nvPr/>
        </p:nvSpPr>
        <p:spPr>
          <a:xfrm>
            <a:off x="5532120" y="1399032"/>
            <a:ext cx="3108960" cy="457200"/>
          </a:xfrm>
          <a:prstGeom prst="rect">
            <a:avLst/>
          </a:prstGeom>
          <a:noFill/>
          <a:ln/>
        </p:spPr>
        <p:txBody>
          <a:bodyPr wrap="square" lIns="0" tIns="0" rIns="0" bIns="0" rtlCol="0" anchor="ctr"/>
          <a:lstStyle/>
          <a:p>
            <a:pPr marL="0" indent="0">
              <a:lnSpc>
                <a:spcPct val="115000"/>
              </a:lnSpc>
              <a:buNone/>
            </a:pPr>
            <a:r>
              <a:rPr lang="en-US" sz="1050" dirty="0">
                <a:solidFill>
                  <a:srgbClr val="6B7280"/>
                </a:solidFill>
                <a:latin typeface="Arial" pitchFamily="34" charset="0"/>
                <a:ea typeface="Arial" pitchFamily="34" charset="-122"/>
                <a:cs typeface="Arial" pitchFamily="34" charset="-120"/>
              </a:rPr>
              <a:t>Disgust has only 547 samples, biasing model training</a:t>
            </a:r>
            <a:endParaRPr lang="en-US" sz="1050" dirty="0"/>
          </a:p>
        </p:txBody>
      </p:sp>
      <p:sp>
        <p:nvSpPr>
          <p:cNvPr id="13" name="Shape 11"/>
          <p:cNvSpPr/>
          <p:nvPr/>
        </p:nvSpPr>
        <p:spPr>
          <a:xfrm>
            <a:off x="457200" y="2194560"/>
            <a:ext cx="4114800" cy="1005840"/>
          </a:xfrm>
          <a:prstGeom prst="roundRect">
            <a:avLst>
              <a:gd name="adj" fmla="val 7273"/>
            </a:avLst>
          </a:prstGeom>
          <a:solidFill>
            <a:srgbClr val="FEF2F2"/>
          </a:solidFill>
          <a:ln/>
        </p:spPr>
        <p:txBody>
          <a:bodyPr/>
          <a:lstStyle/>
          <a:p>
            <a:endParaRPr lang="es-CO"/>
          </a:p>
        </p:txBody>
      </p:sp>
      <p:sp>
        <p:nvSpPr>
          <p:cNvPr id="14" name="Shape 12"/>
          <p:cNvSpPr/>
          <p:nvPr/>
        </p:nvSpPr>
        <p:spPr>
          <a:xfrm>
            <a:off x="594360" y="2423160"/>
            <a:ext cx="457200" cy="457200"/>
          </a:xfrm>
          <a:prstGeom prst="ellipse">
            <a:avLst/>
          </a:prstGeom>
          <a:solidFill>
            <a:srgbClr val="001940"/>
          </a:solidFill>
          <a:ln/>
        </p:spPr>
        <p:txBody>
          <a:bodyPr/>
          <a:lstStyle/>
          <a:p>
            <a:endParaRPr lang="es-CO"/>
          </a:p>
        </p:txBody>
      </p:sp>
      <p:sp>
        <p:nvSpPr>
          <p:cNvPr id="15" name="Text 13"/>
          <p:cNvSpPr/>
          <p:nvPr/>
        </p:nvSpPr>
        <p:spPr>
          <a:xfrm>
            <a:off x="594360" y="2423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4"/>
          <p:cNvSpPr/>
          <p:nvPr/>
        </p:nvSpPr>
        <p:spPr>
          <a:xfrm>
            <a:off x="1188720" y="2304288"/>
            <a:ext cx="3108960" cy="292608"/>
          </a:xfrm>
          <a:prstGeom prst="rect">
            <a:avLst/>
          </a:prstGeom>
          <a:noFill/>
          <a:ln/>
        </p:spPr>
        <p:txBody>
          <a:bodyPr wrap="square" lIns="0" tIns="0" rIns="0" bIns="0" rtlCol="0" anchor="ctr"/>
          <a:lstStyle/>
          <a:p>
            <a:pPr marL="0" indent="0">
              <a:buNone/>
            </a:pPr>
            <a:r>
              <a:rPr lang="en-US" sz="1300" b="1" dirty="0">
                <a:solidFill>
                  <a:srgbClr val="001940"/>
                </a:solidFill>
                <a:latin typeface="Arial" pitchFamily="34" charset="0"/>
                <a:ea typeface="Arial" pitchFamily="34" charset="-122"/>
                <a:cs typeface="Arial" pitchFamily="34" charset="-120"/>
              </a:rPr>
              <a:t>Expression Ambiguity</a:t>
            </a:r>
            <a:endParaRPr lang="en-US" sz="1300" dirty="0"/>
          </a:p>
        </p:txBody>
      </p:sp>
      <p:sp>
        <p:nvSpPr>
          <p:cNvPr id="17" name="Text 15"/>
          <p:cNvSpPr/>
          <p:nvPr/>
        </p:nvSpPr>
        <p:spPr>
          <a:xfrm>
            <a:off x="1188720" y="2633472"/>
            <a:ext cx="3108960" cy="457200"/>
          </a:xfrm>
          <a:prstGeom prst="rect">
            <a:avLst/>
          </a:prstGeom>
          <a:noFill/>
          <a:ln/>
        </p:spPr>
        <p:txBody>
          <a:bodyPr wrap="square" lIns="0" tIns="0" rIns="0" bIns="0" rtlCol="0" anchor="ctr"/>
          <a:lstStyle/>
          <a:p>
            <a:pPr marL="0" indent="0">
              <a:lnSpc>
                <a:spcPct val="115000"/>
              </a:lnSpc>
              <a:buNone/>
            </a:pPr>
            <a:r>
              <a:rPr lang="en-US" sz="1050" dirty="0">
                <a:solidFill>
                  <a:srgbClr val="6B7280"/>
                </a:solidFill>
                <a:latin typeface="Arial" pitchFamily="34" charset="0"/>
                <a:ea typeface="Arial" pitchFamily="34" charset="-122"/>
                <a:cs typeface="Arial" pitchFamily="34" charset="-120"/>
              </a:rPr>
              <a:t>Fear/sadness/anger/disgust share similar facial features</a:t>
            </a:r>
            <a:endParaRPr lang="en-US" sz="1050" dirty="0"/>
          </a:p>
        </p:txBody>
      </p:sp>
      <p:sp>
        <p:nvSpPr>
          <p:cNvPr id="18" name="Shape 16"/>
          <p:cNvSpPr/>
          <p:nvPr/>
        </p:nvSpPr>
        <p:spPr>
          <a:xfrm>
            <a:off x="4800600" y="2194560"/>
            <a:ext cx="4114800" cy="1005840"/>
          </a:xfrm>
          <a:prstGeom prst="roundRect">
            <a:avLst>
              <a:gd name="adj" fmla="val 7273"/>
            </a:avLst>
          </a:prstGeom>
          <a:solidFill>
            <a:srgbClr val="FEF9F3"/>
          </a:solidFill>
          <a:ln/>
        </p:spPr>
        <p:txBody>
          <a:bodyPr/>
          <a:lstStyle/>
          <a:p>
            <a:endParaRPr lang="es-CO"/>
          </a:p>
        </p:txBody>
      </p:sp>
      <p:sp>
        <p:nvSpPr>
          <p:cNvPr id="19" name="Shape 17"/>
          <p:cNvSpPr/>
          <p:nvPr/>
        </p:nvSpPr>
        <p:spPr>
          <a:xfrm>
            <a:off x="4937760" y="2423160"/>
            <a:ext cx="457200" cy="457200"/>
          </a:xfrm>
          <a:prstGeom prst="ellipse">
            <a:avLst/>
          </a:prstGeom>
          <a:solidFill>
            <a:srgbClr val="001940"/>
          </a:solidFill>
          <a:ln/>
        </p:spPr>
        <p:txBody>
          <a:bodyPr/>
          <a:lstStyle/>
          <a:p>
            <a:endParaRPr lang="es-CO"/>
          </a:p>
        </p:txBody>
      </p:sp>
      <p:sp>
        <p:nvSpPr>
          <p:cNvPr id="20" name="Text 18"/>
          <p:cNvSpPr/>
          <p:nvPr/>
        </p:nvSpPr>
        <p:spPr>
          <a:xfrm>
            <a:off x="4937760" y="2423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1" name="Text 19"/>
          <p:cNvSpPr/>
          <p:nvPr/>
        </p:nvSpPr>
        <p:spPr>
          <a:xfrm>
            <a:off x="5532120" y="2304288"/>
            <a:ext cx="3108960" cy="292608"/>
          </a:xfrm>
          <a:prstGeom prst="rect">
            <a:avLst/>
          </a:prstGeom>
          <a:noFill/>
          <a:ln/>
        </p:spPr>
        <p:txBody>
          <a:bodyPr wrap="square" lIns="0" tIns="0" rIns="0" bIns="0" rtlCol="0" anchor="ctr"/>
          <a:lstStyle/>
          <a:p>
            <a:pPr marL="0" indent="0">
              <a:buNone/>
            </a:pPr>
            <a:r>
              <a:rPr lang="en-US" sz="1300" b="1" dirty="0">
                <a:solidFill>
                  <a:srgbClr val="001940"/>
                </a:solidFill>
                <a:latin typeface="Arial" pitchFamily="34" charset="0"/>
                <a:ea typeface="Arial" pitchFamily="34" charset="-122"/>
                <a:cs typeface="Arial" pitchFamily="34" charset="-120"/>
              </a:rPr>
              <a:t>Compute Limits</a:t>
            </a:r>
            <a:endParaRPr lang="en-US" sz="1300" dirty="0"/>
          </a:p>
        </p:txBody>
      </p:sp>
      <p:sp>
        <p:nvSpPr>
          <p:cNvPr id="22" name="Text 20"/>
          <p:cNvSpPr/>
          <p:nvPr/>
        </p:nvSpPr>
        <p:spPr>
          <a:xfrm>
            <a:off x="5532120" y="2633472"/>
            <a:ext cx="3108960" cy="457200"/>
          </a:xfrm>
          <a:prstGeom prst="rect">
            <a:avLst/>
          </a:prstGeom>
          <a:noFill/>
          <a:ln/>
        </p:spPr>
        <p:txBody>
          <a:bodyPr wrap="square" lIns="0" tIns="0" rIns="0" bIns="0" rtlCol="0" anchor="ctr"/>
          <a:lstStyle/>
          <a:p>
            <a:pPr marL="0" indent="0">
              <a:lnSpc>
                <a:spcPct val="115000"/>
              </a:lnSpc>
              <a:buNone/>
            </a:pPr>
            <a:r>
              <a:rPr lang="en-US" sz="1050" dirty="0">
                <a:solidFill>
                  <a:srgbClr val="6B7280"/>
                </a:solidFill>
                <a:latin typeface="Arial" pitchFamily="34" charset="0"/>
                <a:ea typeface="Arial" pitchFamily="34" charset="-122"/>
                <a:cs typeface="Arial" pitchFamily="34" charset="-120"/>
              </a:rPr>
              <a:t>Full cross-validation and exhaustive CNN tuning not feasible</a:t>
            </a:r>
            <a:endParaRPr lang="en-US" sz="1050" dirty="0"/>
          </a:p>
        </p:txBody>
      </p:sp>
      <p:sp>
        <p:nvSpPr>
          <p:cNvPr id="23" name="Shape 21"/>
          <p:cNvSpPr/>
          <p:nvPr/>
        </p:nvSpPr>
        <p:spPr>
          <a:xfrm>
            <a:off x="457200" y="3429000"/>
            <a:ext cx="4114800" cy="1005840"/>
          </a:xfrm>
          <a:prstGeom prst="roundRect">
            <a:avLst>
              <a:gd name="adj" fmla="val 7273"/>
            </a:avLst>
          </a:prstGeom>
          <a:solidFill>
            <a:srgbClr val="FEF2F2"/>
          </a:solidFill>
          <a:ln/>
        </p:spPr>
        <p:txBody>
          <a:bodyPr/>
          <a:lstStyle/>
          <a:p>
            <a:endParaRPr lang="es-CO"/>
          </a:p>
        </p:txBody>
      </p:sp>
      <p:sp>
        <p:nvSpPr>
          <p:cNvPr id="24" name="Shape 22"/>
          <p:cNvSpPr/>
          <p:nvPr/>
        </p:nvSpPr>
        <p:spPr>
          <a:xfrm>
            <a:off x="594360" y="3657600"/>
            <a:ext cx="457200" cy="457200"/>
          </a:xfrm>
          <a:prstGeom prst="ellipse">
            <a:avLst/>
          </a:prstGeom>
          <a:solidFill>
            <a:srgbClr val="001940"/>
          </a:solidFill>
          <a:ln/>
        </p:spPr>
        <p:txBody>
          <a:bodyPr/>
          <a:lstStyle/>
          <a:p>
            <a:endParaRPr lang="es-CO"/>
          </a:p>
        </p:txBody>
      </p:sp>
      <p:sp>
        <p:nvSpPr>
          <p:cNvPr id="25" name="Text 23"/>
          <p:cNvSpPr/>
          <p:nvPr/>
        </p:nvSpPr>
        <p:spPr>
          <a:xfrm>
            <a:off x="594360" y="36576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6" name="Text 24"/>
          <p:cNvSpPr/>
          <p:nvPr/>
        </p:nvSpPr>
        <p:spPr>
          <a:xfrm>
            <a:off x="1188720" y="3538728"/>
            <a:ext cx="3108960" cy="292608"/>
          </a:xfrm>
          <a:prstGeom prst="rect">
            <a:avLst/>
          </a:prstGeom>
          <a:noFill/>
          <a:ln/>
        </p:spPr>
        <p:txBody>
          <a:bodyPr wrap="square" lIns="0" tIns="0" rIns="0" bIns="0" rtlCol="0" anchor="ctr"/>
          <a:lstStyle/>
          <a:p>
            <a:pPr marL="0" indent="0">
              <a:buNone/>
            </a:pPr>
            <a:r>
              <a:rPr lang="en-US" sz="1300" b="1" dirty="0">
                <a:solidFill>
                  <a:srgbClr val="001940"/>
                </a:solidFill>
                <a:latin typeface="Arial" pitchFamily="34" charset="0"/>
                <a:ea typeface="Arial" pitchFamily="34" charset="-122"/>
                <a:cs typeface="Arial" pitchFamily="34" charset="-120"/>
              </a:rPr>
              <a:t>Emotion ≠ Expression</a:t>
            </a:r>
            <a:endParaRPr lang="en-US" sz="1300" dirty="0"/>
          </a:p>
        </p:txBody>
      </p:sp>
      <p:sp>
        <p:nvSpPr>
          <p:cNvPr id="27" name="Text 25"/>
          <p:cNvSpPr/>
          <p:nvPr/>
        </p:nvSpPr>
        <p:spPr>
          <a:xfrm>
            <a:off x="1188720" y="3867912"/>
            <a:ext cx="3108960" cy="457200"/>
          </a:xfrm>
          <a:prstGeom prst="rect">
            <a:avLst/>
          </a:prstGeom>
          <a:noFill/>
          <a:ln/>
        </p:spPr>
        <p:txBody>
          <a:bodyPr wrap="square" lIns="0" tIns="0" rIns="0" bIns="0" rtlCol="0" anchor="ctr"/>
          <a:lstStyle/>
          <a:p>
            <a:pPr marL="0" indent="0">
              <a:lnSpc>
                <a:spcPct val="115000"/>
              </a:lnSpc>
              <a:buNone/>
            </a:pPr>
            <a:r>
              <a:rPr lang="en-US" sz="1050" dirty="0">
                <a:solidFill>
                  <a:srgbClr val="6B7280"/>
                </a:solidFill>
                <a:latin typeface="Arial" pitchFamily="34" charset="0"/>
                <a:ea typeface="Arial" pitchFamily="34" charset="-122"/>
                <a:cs typeface="Arial" pitchFamily="34" charset="-120"/>
              </a:rPr>
              <a:t>Facial expressions don't always represent internal emotions</a:t>
            </a:r>
            <a:endParaRPr lang="en-US" sz="1050" dirty="0"/>
          </a:p>
        </p:txBody>
      </p:sp>
      <p:sp>
        <p:nvSpPr>
          <p:cNvPr id="28" name="Shape 26"/>
          <p:cNvSpPr/>
          <p:nvPr/>
        </p:nvSpPr>
        <p:spPr>
          <a:xfrm>
            <a:off x="4800600" y="3429000"/>
            <a:ext cx="4114800" cy="1005840"/>
          </a:xfrm>
          <a:prstGeom prst="roundRect">
            <a:avLst>
              <a:gd name="adj" fmla="val 7273"/>
            </a:avLst>
          </a:prstGeom>
          <a:solidFill>
            <a:srgbClr val="FEF9F3"/>
          </a:solidFill>
          <a:ln/>
        </p:spPr>
        <p:txBody>
          <a:bodyPr/>
          <a:lstStyle/>
          <a:p>
            <a:endParaRPr lang="es-CO"/>
          </a:p>
        </p:txBody>
      </p:sp>
      <p:sp>
        <p:nvSpPr>
          <p:cNvPr id="29" name="Shape 27"/>
          <p:cNvSpPr/>
          <p:nvPr/>
        </p:nvSpPr>
        <p:spPr>
          <a:xfrm>
            <a:off x="4937760" y="3657600"/>
            <a:ext cx="457200" cy="457200"/>
          </a:xfrm>
          <a:prstGeom prst="ellipse">
            <a:avLst/>
          </a:prstGeom>
          <a:solidFill>
            <a:srgbClr val="001940"/>
          </a:solidFill>
          <a:ln/>
        </p:spPr>
        <p:txBody>
          <a:bodyPr/>
          <a:lstStyle/>
          <a:p>
            <a:endParaRPr lang="es-CO"/>
          </a:p>
        </p:txBody>
      </p:sp>
      <p:sp>
        <p:nvSpPr>
          <p:cNvPr id="30" name="Text 28"/>
          <p:cNvSpPr/>
          <p:nvPr/>
        </p:nvSpPr>
        <p:spPr>
          <a:xfrm>
            <a:off x="4937760" y="36576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31" name="Text 29"/>
          <p:cNvSpPr/>
          <p:nvPr/>
        </p:nvSpPr>
        <p:spPr>
          <a:xfrm>
            <a:off x="5532120" y="3538728"/>
            <a:ext cx="3108960" cy="292608"/>
          </a:xfrm>
          <a:prstGeom prst="rect">
            <a:avLst/>
          </a:prstGeom>
          <a:noFill/>
          <a:ln/>
        </p:spPr>
        <p:txBody>
          <a:bodyPr wrap="square" lIns="0" tIns="0" rIns="0" bIns="0" rtlCol="0" anchor="ctr"/>
          <a:lstStyle/>
          <a:p>
            <a:pPr marL="0" indent="0">
              <a:buNone/>
            </a:pPr>
            <a:r>
              <a:rPr lang="en-US" sz="1300" b="1" dirty="0">
                <a:solidFill>
                  <a:srgbClr val="001940"/>
                </a:solidFill>
                <a:latin typeface="Arial" pitchFamily="34" charset="0"/>
                <a:ea typeface="Arial" pitchFamily="34" charset="-122"/>
                <a:cs typeface="Arial" pitchFamily="34" charset="-120"/>
              </a:rPr>
              <a:t>Generalization Gap</a:t>
            </a:r>
            <a:endParaRPr lang="en-US" sz="1300" dirty="0"/>
          </a:p>
        </p:txBody>
      </p:sp>
      <p:sp>
        <p:nvSpPr>
          <p:cNvPr id="32" name="Text 30"/>
          <p:cNvSpPr/>
          <p:nvPr/>
        </p:nvSpPr>
        <p:spPr>
          <a:xfrm>
            <a:off x="5532120" y="3867912"/>
            <a:ext cx="3108960" cy="457200"/>
          </a:xfrm>
          <a:prstGeom prst="rect">
            <a:avLst/>
          </a:prstGeom>
          <a:noFill/>
          <a:ln/>
        </p:spPr>
        <p:txBody>
          <a:bodyPr wrap="square" lIns="0" tIns="0" rIns="0" bIns="0" rtlCol="0" anchor="ctr"/>
          <a:lstStyle/>
          <a:p>
            <a:pPr marL="0" indent="0">
              <a:lnSpc>
                <a:spcPct val="115000"/>
              </a:lnSpc>
              <a:buNone/>
            </a:pPr>
            <a:r>
              <a:rPr lang="en-US" sz="1050" dirty="0">
                <a:solidFill>
                  <a:srgbClr val="6B7280"/>
                </a:solidFill>
                <a:latin typeface="Arial" pitchFamily="34" charset="0"/>
                <a:ea typeface="Arial" pitchFamily="34" charset="-122"/>
                <a:cs typeface="Arial" pitchFamily="34" charset="-120"/>
              </a:rPr>
              <a:t>Models trained on posed data may fail on real-world scenarios</a:t>
            </a:r>
            <a:endParaRPr lang="en-US" sz="1050" dirty="0"/>
          </a:p>
        </p:txBody>
      </p:sp>
      <p:sp>
        <p:nvSpPr>
          <p:cNvPr id="33" name="Shape 31"/>
          <p:cNvSpPr/>
          <p:nvPr/>
        </p:nvSpPr>
        <p:spPr>
          <a:xfrm>
            <a:off x="0" y="4709160"/>
            <a:ext cx="9144000" cy="434340"/>
          </a:xfrm>
          <a:prstGeom prst="rect">
            <a:avLst/>
          </a:prstGeom>
          <a:solidFill>
            <a:srgbClr val="001940"/>
          </a:solidFill>
          <a:ln/>
        </p:spPr>
        <p:txBody>
          <a:bodyPr/>
          <a:lstStyle/>
          <a:p>
            <a:endParaRPr lang="es-CO"/>
          </a:p>
        </p:txBody>
      </p:sp>
      <p:pic>
        <p:nvPicPr>
          <p:cNvPr id="34" name="Image 0" descr="/agent/turn3/workspace/polimi_logo_white.png"/>
          <p:cNvPicPr>
            <a:picLocks noChangeAspect="1"/>
          </p:cNvPicPr>
          <p:nvPr/>
        </p:nvPicPr>
        <p:blipFill>
          <a:blip r:embed="rId3"/>
          <a:stretch>
            <a:fillRect/>
          </a:stretch>
        </p:blipFill>
        <p:spPr>
          <a:xfrm>
            <a:off x="344167" y="4736592"/>
            <a:ext cx="1140465" cy="347472"/>
          </a:xfrm>
          <a:prstGeom prst="rect">
            <a:avLst/>
          </a:prstGeom>
        </p:spPr>
      </p:pic>
      <p:sp>
        <p:nvSpPr>
          <p:cNvPr id="35" name="Text 32"/>
          <p:cNvSpPr/>
          <p:nvPr/>
        </p:nvSpPr>
        <p:spPr>
          <a:xfrm>
            <a:off x="7772400" y="4736592"/>
            <a:ext cx="1097280" cy="347472"/>
          </a:xfrm>
          <a:prstGeom prst="rect">
            <a:avLst/>
          </a:prstGeom>
          <a:noFill/>
          <a:ln/>
        </p:spPr>
        <p:txBody>
          <a:bodyPr wrap="square" lIns="0" tIns="0" rIns="0" bIns="0" rtlCol="0" anchor="ctr"/>
          <a:lstStyle/>
          <a:p>
            <a:pPr marL="0" indent="0" algn="r">
              <a:buNone/>
            </a:pPr>
            <a:r>
              <a:rPr lang="en-US" sz="900" dirty="0">
                <a:solidFill>
                  <a:srgbClr val="FFFFFF"/>
                </a:solidFill>
                <a:latin typeface="Arial" pitchFamily="34" charset="0"/>
                <a:ea typeface="Arial" pitchFamily="34" charset="-122"/>
                <a:cs typeface="Arial" pitchFamily="34" charset="-120"/>
              </a:rPr>
              <a:t>14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001940"/>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buNone/>
            </a:pPr>
            <a:r>
              <a:rPr lang="en-US" sz="2800" b="1" kern="0" spc="200" dirty="0">
                <a:solidFill>
                  <a:srgbClr val="FFFFFF"/>
                </a:solidFill>
                <a:latin typeface="Manrope ExtraBold" pitchFamily="2" charset="0"/>
                <a:ea typeface="Georgia" pitchFamily="34" charset="-122"/>
                <a:cs typeface="Georgia" pitchFamily="34" charset="-120"/>
              </a:rPr>
              <a:t>CONCLUSIONS</a:t>
            </a:r>
            <a:endParaRPr lang="en-US" sz="2800" dirty="0">
              <a:latin typeface="Manrope ExtraBold" pitchFamily="2" charset="0"/>
            </a:endParaRPr>
          </a:p>
        </p:txBody>
      </p:sp>
      <p:sp>
        <p:nvSpPr>
          <p:cNvPr id="3" name="Shape 1"/>
          <p:cNvSpPr/>
          <p:nvPr/>
        </p:nvSpPr>
        <p:spPr>
          <a:xfrm>
            <a:off x="548640" y="1239012"/>
            <a:ext cx="347472" cy="347472"/>
          </a:xfrm>
          <a:prstGeom prst="ellipse">
            <a:avLst/>
          </a:prstGeom>
          <a:solidFill>
            <a:srgbClr val="5BA3E6"/>
          </a:solidFill>
          <a:ln/>
        </p:spPr>
        <p:txBody>
          <a:bodyPr/>
          <a:lstStyle/>
          <a:p>
            <a:endParaRPr lang="es-CO"/>
          </a:p>
        </p:txBody>
      </p:sp>
      <p:sp>
        <p:nvSpPr>
          <p:cNvPr id="4" name="Text 2"/>
          <p:cNvSpPr/>
          <p:nvPr/>
        </p:nvSpPr>
        <p:spPr>
          <a:xfrm>
            <a:off x="548640" y="1239012"/>
            <a:ext cx="347472" cy="347472"/>
          </a:xfrm>
          <a:prstGeom prst="rect">
            <a:avLst/>
          </a:prstGeom>
          <a:noFill/>
          <a:ln/>
        </p:spPr>
        <p:txBody>
          <a:bodyPr wrap="square" lIns="0" tIns="0" rIns="0" bIns="0" rtlCol="0" anchor="ctr"/>
          <a:lstStyle/>
          <a:p>
            <a:pPr marL="0" indent="0" algn="ctr">
              <a:buNone/>
            </a:pPr>
            <a:r>
              <a:rPr lang="en-US" sz="1400" b="1" dirty="0">
                <a:solidFill>
                  <a:srgbClr val="001940"/>
                </a:solidFill>
                <a:latin typeface="Arial" pitchFamily="34" charset="0"/>
                <a:ea typeface="Arial" pitchFamily="34" charset="-122"/>
                <a:cs typeface="Arial" pitchFamily="34" charset="-120"/>
              </a:rPr>
              <a:t>1</a:t>
            </a:r>
            <a:endParaRPr lang="en-US" sz="1400" dirty="0"/>
          </a:p>
        </p:txBody>
      </p:sp>
      <p:sp>
        <p:nvSpPr>
          <p:cNvPr id="5" name="Text 3"/>
          <p:cNvSpPr/>
          <p:nvPr/>
        </p:nvSpPr>
        <p:spPr>
          <a:xfrm>
            <a:off x="1051560" y="1220724"/>
            <a:ext cx="7635240" cy="384048"/>
          </a:xfrm>
          <a:prstGeom prst="rect">
            <a:avLst/>
          </a:prstGeom>
          <a:noFill/>
          <a:ln/>
        </p:spPr>
        <p:txBody>
          <a:bodyPr wrap="square" lIns="0" tIns="0" rIns="0" bIns="0" rtlCol="0" anchor="ctr"/>
          <a:lstStyle/>
          <a:p>
            <a:pPr marL="0" indent="0">
              <a:buNone/>
            </a:pPr>
            <a:r>
              <a:rPr lang="en-US" sz="1250" dirty="0">
                <a:solidFill>
                  <a:srgbClr val="FFFFFF"/>
                </a:solidFill>
                <a:latin typeface="Arial" pitchFamily="34" charset="0"/>
                <a:ea typeface="Arial" pitchFamily="34" charset="-122"/>
                <a:cs typeface="Arial" pitchFamily="34" charset="-120"/>
              </a:rPr>
              <a:t>Cleaning &amp; preprocessing are essential — FER-2013 contains noisy, misleading samples</a:t>
            </a:r>
            <a:endParaRPr lang="en-US" sz="1250" dirty="0"/>
          </a:p>
        </p:txBody>
      </p:sp>
      <p:sp>
        <p:nvSpPr>
          <p:cNvPr id="6" name="Shape 4"/>
          <p:cNvSpPr/>
          <p:nvPr/>
        </p:nvSpPr>
        <p:spPr>
          <a:xfrm>
            <a:off x="548640" y="1741932"/>
            <a:ext cx="347472" cy="347472"/>
          </a:xfrm>
          <a:prstGeom prst="ellipse">
            <a:avLst/>
          </a:prstGeom>
          <a:solidFill>
            <a:srgbClr val="5BA3E6"/>
          </a:solidFill>
          <a:ln/>
        </p:spPr>
        <p:txBody>
          <a:bodyPr/>
          <a:lstStyle/>
          <a:p>
            <a:endParaRPr lang="es-CO"/>
          </a:p>
        </p:txBody>
      </p:sp>
      <p:sp>
        <p:nvSpPr>
          <p:cNvPr id="7" name="Text 5"/>
          <p:cNvSpPr/>
          <p:nvPr/>
        </p:nvSpPr>
        <p:spPr>
          <a:xfrm>
            <a:off x="548640" y="1741932"/>
            <a:ext cx="347472" cy="347472"/>
          </a:xfrm>
          <a:prstGeom prst="rect">
            <a:avLst/>
          </a:prstGeom>
          <a:noFill/>
          <a:ln/>
        </p:spPr>
        <p:txBody>
          <a:bodyPr wrap="square" lIns="0" tIns="0" rIns="0" bIns="0" rtlCol="0" anchor="ctr"/>
          <a:lstStyle/>
          <a:p>
            <a:pPr marL="0" indent="0" algn="ctr">
              <a:buNone/>
            </a:pPr>
            <a:r>
              <a:rPr lang="en-US" sz="1400" b="1" dirty="0">
                <a:solidFill>
                  <a:srgbClr val="001940"/>
                </a:solidFill>
                <a:latin typeface="Arial" pitchFamily="34" charset="0"/>
                <a:ea typeface="Arial" pitchFamily="34" charset="-122"/>
                <a:cs typeface="Arial" pitchFamily="34" charset="-120"/>
              </a:rPr>
              <a:t>2</a:t>
            </a:r>
            <a:endParaRPr lang="en-US" sz="1400" dirty="0"/>
          </a:p>
        </p:txBody>
      </p:sp>
      <p:sp>
        <p:nvSpPr>
          <p:cNvPr id="8" name="Text 6"/>
          <p:cNvSpPr/>
          <p:nvPr/>
        </p:nvSpPr>
        <p:spPr>
          <a:xfrm>
            <a:off x="1051560" y="1723644"/>
            <a:ext cx="7635240" cy="384048"/>
          </a:xfrm>
          <a:prstGeom prst="rect">
            <a:avLst/>
          </a:prstGeom>
          <a:noFill/>
          <a:ln/>
        </p:spPr>
        <p:txBody>
          <a:bodyPr wrap="square" lIns="0" tIns="0" rIns="0" bIns="0" rtlCol="0" anchor="ctr"/>
          <a:lstStyle/>
          <a:p>
            <a:pPr marL="0" indent="0">
              <a:buNone/>
            </a:pPr>
            <a:r>
              <a:rPr lang="en-US" sz="1250" dirty="0">
                <a:solidFill>
                  <a:srgbClr val="FFFFFF"/>
                </a:solidFill>
                <a:latin typeface="Arial" pitchFamily="34" charset="0"/>
                <a:ea typeface="Arial" pitchFamily="34" charset="-122"/>
                <a:cs typeface="Arial" pitchFamily="34" charset="-120"/>
              </a:rPr>
              <a:t>PCA is useful for visualization and SVM input but loses spatial information</a:t>
            </a:r>
            <a:endParaRPr lang="en-US" sz="1250" dirty="0"/>
          </a:p>
        </p:txBody>
      </p:sp>
      <p:sp>
        <p:nvSpPr>
          <p:cNvPr id="9" name="Shape 7"/>
          <p:cNvSpPr/>
          <p:nvPr/>
        </p:nvSpPr>
        <p:spPr>
          <a:xfrm>
            <a:off x="548640" y="2244852"/>
            <a:ext cx="347472" cy="347472"/>
          </a:xfrm>
          <a:prstGeom prst="ellipse">
            <a:avLst/>
          </a:prstGeom>
          <a:solidFill>
            <a:srgbClr val="5BA3E6"/>
          </a:solidFill>
          <a:ln/>
        </p:spPr>
        <p:txBody>
          <a:bodyPr/>
          <a:lstStyle/>
          <a:p>
            <a:endParaRPr lang="es-CO"/>
          </a:p>
        </p:txBody>
      </p:sp>
      <p:sp>
        <p:nvSpPr>
          <p:cNvPr id="10" name="Text 8"/>
          <p:cNvSpPr/>
          <p:nvPr/>
        </p:nvSpPr>
        <p:spPr>
          <a:xfrm>
            <a:off x="548640" y="2244852"/>
            <a:ext cx="347472" cy="347472"/>
          </a:xfrm>
          <a:prstGeom prst="rect">
            <a:avLst/>
          </a:prstGeom>
          <a:noFill/>
          <a:ln/>
        </p:spPr>
        <p:txBody>
          <a:bodyPr wrap="square" lIns="0" tIns="0" rIns="0" bIns="0" rtlCol="0" anchor="ctr"/>
          <a:lstStyle/>
          <a:p>
            <a:pPr marL="0" indent="0" algn="ctr">
              <a:buNone/>
            </a:pPr>
            <a:r>
              <a:rPr lang="en-US" sz="1400" b="1" dirty="0">
                <a:solidFill>
                  <a:srgbClr val="001940"/>
                </a:solidFill>
                <a:latin typeface="Arial" pitchFamily="34" charset="0"/>
                <a:ea typeface="Arial" pitchFamily="34" charset="-122"/>
                <a:cs typeface="Arial" pitchFamily="34" charset="-120"/>
              </a:rPr>
              <a:t>3</a:t>
            </a:r>
            <a:endParaRPr lang="en-US" sz="1400" dirty="0"/>
          </a:p>
        </p:txBody>
      </p:sp>
      <p:sp>
        <p:nvSpPr>
          <p:cNvPr id="11" name="Text 9"/>
          <p:cNvSpPr/>
          <p:nvPr/>
        </p:nvSpPr>
        <p:spPr>
          <a:xfrm>
            <a:off x="1051560" y="2226564"/>
            <a:ext cx="7635240" cy="384048"/>
          </a:xfrm>
          <a:prstGeom prst="rect">
            <a:avLst/>
          </a:prstGeom>
          <a:noFill/>
          <a:ln/>
        </p:spPr>
        <p:txBody>
          <a:bodyPr wrap="square" lIns="0" tIns="0" rIns="0" bIns="0" rtlCol="0" anchor="ctr"/>
          <a:lstStyle/>
          <a:p>
            <a:pPr marL="0" indent="0">
              <a:buNone/>
            </a:pPr>
            <a:r>
              <a:rPr lang="en-US" sz="1250" dirty="0">
                <a:solidFill>
                  <a:srgbClr val="FFFFFF"/>
                </a:solidFill>
                <a:latin typeface="Arial" pitchFamily="34" charset="0"/>
                <a:ea typeface="Arial" pitchFamily="34" charset="-122"/>
                <a:cs typeface="Arial" pitchFamily="34" charset="-120"/>
              </a:rPr>
              <a:t>SVM provides a reasonable baseline but has limited generalization</a:t>
            </a:r>
            <a:endParaRPr lang="en-US" sz="1250" dirty="0"/>
          </a:p>
        </p:txBody>
      </p:sp>
      <p:sp>
        <p:nvSpPr>
          <p:cNvPr id="12" name="Shape 10"/>
          <p:cNvSpPr/>
          <p:nvPr/>
        </p:nvSpPr>
        <p:spPr>
          <a:xfrm>
            <a:off x="548640" y="2747772"/>
            <a:ext cx="347472" cy="347472"/>
          </a:xfrm>
          <a:prstGeom prst="ellipse">
            <a:avLst/>
          </a:prstGeom>
          <a:solidFill>
            <a:srgbClr val="5BA3E6"/>
          </a:solidFill>
          <a:ln/>
        </p:spPr>
        <p:txBody>
          <a:bodyPr/>
          <a:lstStyle/>
          <a:p>
            <a:endParaRPr lang="es-CO"/>
          </a:p>
        </p:txBody>
      </p:sp>
      <p:sp>
        <p:nvSpPr>
          <p:cNvPr id="13" name="Text 11"/>
          <p:cNvSpPr/>
          <p:nvPr/>
        </p:nvSpPr>
        <p:spPr>
          <a:xfrm>
            <a:off x="548640" y="2747772"/>
            <a:ext cx="347472" cy="347472"/>
          </a:xfrm>
          <a:prstGeom prst="rect">
            <a:avLst/>
          </a:prstGeom>
          <a:noFill/>
          <a:ln/>
        </p:spPr>
        <p:txBody>
          <a:bodyPr wrap="square" lIns="0" tIns="0" rIns="0" bIns="0" rtlCol="0" anchor="ctr"/>
          <a:lstStyle/>
          <a:p>
            <a:pPr marL="0" indent="0" algn="ctr">
              <a:buNone/>
            </a:pPr>
            <a:r>
              <a:rPr lang="en-US" sz="1400" b="1" dirty="0">
                <a:solidFill>
                  <a:srgbClr val="001940"/>
                </a:solidFill>
                <a:latin typeface="Arial" pitchFamily="34" charset="0"/>
                <a:ea typeface="Arial" pitchFamily="34" charset="-122"/>
                <a:cs typeface="Arial" pitchFamily="34" charset="-120"/>
              </a:rPr>
              <a:t>4</a:t>
            </a:r>
            <a:endParaRPr lang="en-US" sz="1400" dirty="0"/>
          </a:p>
        </p:txBody>
      </p:sp>
      <p:sp>
        <p:nvSpPr>
          <p:cNvPr id="14" name="Text 12"/>
          <p:cNvSpPr/>
          <p:nvPr/>
        </p:nvSpPr>
        <p:spPr>
          <a:xfrm>
            <a:off x="1051560" y="2729484"/>
            <a:ext cx="7635240" cy="384048"/>
          </a:xfrm>
          <a:prstGeom prst="rect">
            <a:avLst/>
          </a:prstGeom>
          <a:noFill/>
          <a:ln/>
        </p:spPr>
        <p:txBody>
          <a:bodyPr wrap="square" lIns="0" tIns="0" rIns="0" bIns="0" rtlCol="0" anchor="ctr"/>
          <a:lstStyle/>
          <a:p>
            <a:pPr marL="0" indent="0">
              <a:buNone/>
            </a:pPr>
            <a:r>
              <a:rPr lang="en-US" sz="1250" dirty="0">
                <a:solidFill>
                  <a:srgbClr val="FFFFFF"/>
                </a:solidFill>
                <a:latin typeface="Arial" pitchFamily="34" charset="0"/>
                <a:ea typeface="Arial" pitchFamily="34" charset="-122"/>
                <a:cs typeface="Arial" pitchFamily="34" charset="-120"/>
              </a:rPr>
              <a:t>VGG19-like CNN is the best model — learns hierarchical spatial features</a:t>
            </a:r>
            <a:endParaRPr lang="en-US" sz="1250" dirty="0"/>
          </a:p>
        </p:txBody>
      </p:sp>
      <p:sp>
        <p:nvSpPr>
          <p:cNvPr id="15" name="Shape 13"/>
          <p:cNvSpPr/>
          <p:nvPr/>
        </p:nvSpPr>
        <p:spPr>
          <a:xfrm>
            <a:off x="548640" y="3250692"/>
            <a:ext cx="347472" cy="347472"/>
          </a:xfrm>
          <a:prstGeom prst="ellipse">
            <a:avLst/>
          </a:prstGeom>
          <a:solidFill>
            <a:srgbClr val="5BA3E6"/>
          </a:solidFill>
          <a:ln/>
        </p:spPr>
        <p:txBody>
          <a:bodyPr/>
          <a:lstStyle/>
          <a:p>
            <a:endParaRPr lang="es-CO"/>
          </a:p>
        </p:txBody>
      </p:sp>
      <p:sp>
        <p:nvSpPr>
          <p:cNvPr id="16" name="Text 14"/>
          <p:cNvSpPr/>
          <p:nvPr/>
        </p:nvSpPr>
        <p:spPr>
          <a:xfrm>
            <a:off x="548640" y="3250692"/>
            <a:ext cx="347472" cy="347472"/>
          </a:xfrm>
          <a:prstGeom prst="rect">
            <a:avLst/>
          </a:prstGeom>
          <a:noFill/>
          <a:ln/>
        </p:spPr>
        <p:txBody>
          <a:bodyPr wrap="square" lIns="0" tIns="0" rIns="0" bIns="0" rtlCol="0" anchor="ctr"/>
          <a:lstStyle/>
          <a:p>
            <a:pPr marL="0" indent="0" algn="ctr">
              <a:buNone/>
            </a:pPr>
            <a:r>
              <a:rPr lang="en-US" sz="1400" b="1" dirty="0">
                <a:solidFill>
                  <a:srgbClr val="001940"/>
                </a:solidFill>
                <a:latin typeface="Arial" pitchFamily="34" charset="0"/>
                <a:ea typeface="Arial" pitchFamily="34" charset="-122"/>
                <a:cs typeface="Arial" pitchFamily="34" charset="-120"/>
              </a:rPr>
              <a:t>5</a:t>
            </a:r>
            <a:endParaRPr lang="en-US" sz="1400" dirty="0"/>
          </a:p>
        </p:txBody>
      </p:sp>
      <p:sp>
        <p:nvSpPr>
          <p:cNvPr id="17" name="Text 15"/>
          <p:cNvSpPr/>
          <p:nvPr/>
        </p:nvSpPr>
        <p:spPr>
          <a:xfrm>
            <a:off x="1051560" y="3232404"/>
            <a:ext cx="7635240" cy="384048"/>
          </a:xfrm>
          <a:prstGeom prst="rect">
            <a:avLst/>
          </a:prstGeom>
          <a:noFill/>
          <a:ln/>
        </p:spPr>
        <p:txBody>
          <a:bodyPr wrap="square" lIns="0" tIns="0" rIns="0" bIns="0" rtlCol="0" anchor="ctr"/>
          <a:lstStyle/>
          <a:p>
            <a:pPr marL="0" indent="0">
              <a:buNone/>
            </a:pPr>
            <a:r>
              <a:rPr lang="en-US" sz="1250" dirty="0">
                <a:solidFill>
                  <a:srgbClr val="FFFFFF"/>
                </a:solidFill>
                <a:latin typeface="Arial" pitchFamily="34" charset="0"/>
                <a:ea typeface="Arial" pitchFamily="34" charset="-122"/>
                <a:cs typeface="Arial" pitchFamily="34" charset="-120"/>
              </a:rPr>
              <a:t>Hypothesis-testing CNN helped analyze class confusion but didn't outperform VGG19</a:t>
            </a:r>
            <a:endParaRPr lang="en-US" sz="1250" dirty="0"/>
          </a:p>
        </p:txBody>
      </p:sp>
      <p:sp>
        <p:nvSpPr>
          <p:cNvPr id="19" name="Text 17"/>
          <p:cNvSpPr/>
          <p:nvPr/>
        </p:nvSpPr>
        <p:spPr>
          <a:xfrm>
            <a:off x="548640" y="3538728"/>
            <a:ext cx="347472" cy="347472"/>
          </a:xfrm>
          <a:prstGeom prst="rect">
            <a:avLst/>
          </a:prstGeom>
          <a:noFill/>
          <a:ln/>
        </p:spPr>
        <p:txBody>
          <a:bodyPr wrap="square" lIns="0" tIns="0" rIns="0" bIns="0" rtlCol="0" anchor="ctr"/>
          <a:lstStyle/>
          <a:p>
            <a:pPr marL="0" indent="0" algn="ctr">
              <a:buNone/>
            </a:pPr>
            <a:endParaRPr lang="en-US" sz="1400" dirty="0"/>
          </a:p>
        </p:txBody>
      </p:sp>
      <p:sp>
        <p:nvSpPr>
          <p:cNvPr id="21" name="Shape 19"/>
          <p:cNvSpPr/>
          <p:nvPr/>
        </p:nvSpPr>
        <p:spPr>
          <a:xfrm>
            <a:off x="457200" y="4114800"/>
            <a:ext cx="8229600" cy="594360"/>
          </a:xfrm>
          <a:prstGeom prst="roundRect">
            <a:avLst>
              <a:gd name="adj" fmla="val 12308"/>
            </a:avLst>
          </a:prstGeom>
          <a:solidFill>
            <a:srgbClr val="5BA3E6"/>
          </a:solidFill>
          <a:ln/>
        </p:spPr>
        <p:txBody>
          <a:bodyPr/>
          <a:lstStyle/>
          <a:p>
            <a:endParaRPr lang="es-CO"/>
          </a:p>
        </p:txBody>
      </p:sp>
      <p:sp>
        <p:nvSpPr>
          <p:cNvPr id="22" name="Text 20"/>
          <p:cNvSpPr/>
          <p:nvPr/>
        </p:nvSpPr>
        <p:spPr>
          <a:xfrm>
            <a:off x="640080" y="4133088"/>
            <a:ext cx="7863840" cy="548640"/>
          </a:xfrm>
          <a:prstGeom prst="rect">
            <a:avLst/>
          </a:prstGeom>
          <a:noFill/>
          <a:ln/>
        </p:spPr>
        <p:txBody>
          <a:bodyPr wrap="square" lIns="0" tIns="0" rIns="0" bIns="0" rtlCol="0" anchor="ctr"/>
          <a:lstStyle/>
          <a:p>
            <a:pPr marL="0" indent="0" algn="ctr">
              <a:buNone/>
            </a:pPr>
            <a:r>
              <a:rPr lang="en-US" sz="1050" b="1" i="1" dirty="0">
                <a:solidFill>
                  <a:srgbClr val="001940"/>
                </a:solidFill>
                <a:latin typeface="Arial" pitchFamily="34" charset="0"/>
                <a:ea typeface="Arial" pitchFamily="34" charset="-122"/>
                <a:cs typeface="Arial" pitchFamily="34" charset="-120"/>
              </a:rPr>
              <a:t>"Facial expression recognition benefits more from convolutional spatial feature learning than from PCA-based shallow classification, but dataset quality and emotional ambiguity remain the main bottlenecks."</a:t>
            </a:r>
            <a:endParaRPr lang="en-US" sz="1050" dirty="0"/>
          </a:p>
        </p:txBody>
      </p:sp>
      <p:pic>
        <p:nvPicPr>
          <p:cNvPr id="23" name="Image 0" descr="/agent/turn3/workspace/polimi_logo_white.png"/>
          <p:cNvPicPr>
            <a:picLocks noChangeAspect="1"/>
          </p:cNvPicPr>
          <p:nvPr/>
        </p:nvPicPr>
        <p:blipFill>
          <a:blip r:embed="rId3"/>
          <a:stretch>
            <a:fillRect/>
          </a:stretch>
        </p:blipFill>
        <p:spPr>
          <a:xfrm>
            <a:off x="3971755" y="4754880"/>
            <a:ext cx="1200490" cy="3657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FCB32E0-A232-42E9-9C1A-E6004C909EC3}">
  <we:reference id="WA200010001" version="1.0.0.1" store="Omex" storeType="OMEX"/>
  <we:alternateReferences>
    <we:reference id="WA200010001" version="1.0.0.1" store="WA200010001" storeType="OMEX"/>
  </we:alternateReferences>
  <we:properties>
    <we:property name="claude.fileId" value="&quot;56c0f6c3-afd7-4dbb-a128-68cee621b595&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8E42E9C5B788134DBBAB2D2912618E73" ma:contentTypeVersion="2" ma:contentTypeDescription="Creare un nuovo documento." ma:contentTypeScope="" ma:versionID="01122018d87c41ce3421fd9d83fc8707">
  <xsd:schema xmlns:xsd="http://www.w3.org/2001/XMLSchema" xmlns:xs="http://www.w3.org/2001/XMLSchema" xmlns:p="http://schemas.microsoft.com/office/2006/metadata/properties" xmlns:ns2="85e108ab-7fab-42ba-b331-ebe2aa9bc9db" targetNamespace="http://schemas.microsoft.com/office/2006/metadata/properties" ma:root="true" ma:fieldsID="10ab7608c1c41d9bbba2fe64808a945a" ns2:_="">
    <xsd:import namespace="85e108ab-7fab-42ba-b331-ebe2aa9bc9db"/>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e108ab-7fab-42ba-b331-ebe2aa9bc9d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2DA161D-490F-46E4-9697-12DC5D066B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e108ab-7fab-42ba-b331-ebe2aa9bc9d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02E781D-9533-4AD7-BAC3-2D54573F3E23}">
  <ds:schemaRefs>
    <ds:schemaRef ds:uri="http://schemas.microsoft.com/sharepoint/v3/contenttype/forms"/>
  </ds:schemaRefs>
</ds:datastoreItem>
</file>

<file path=customXml/itemProps3.xml><?xml version="1.0" encoding="utf-8"?>
<ds:datastoreItem xmlns:ds="http://schemas.openxmlformats.org/officeDocument/2006/customXml" ds:itemID="{E41F85C1-291A-4FB2-A1EF-79B3ACE8BC52}">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1315</TotalTime>
  <Words>2031</Words>
  <Application>Microsoft Office PowerPoint</Application>
  <PresentationFormat>Presentación en pantalla (16:9)</PresentationFormat>
  <Paragraphs>360</Paragraphs>
  <Slides>16</Slides>
  <Notes>16</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16</vt:i4>
      </vt:variant>
    </vt:vector>
  </HeadingPairs>
  <TitlesOfParts>
    <vt:vector size="23" baseType="lpstr">
      <vt:lpstr>Arial</vt:lpstr>
      <vt:lpstr>Consolas</vt:lpstr>
      <vt:lpstr>Georgia</vt:lpstr>
      <vt:lpstr>Manrope</vt:lpstr>
      <vt:lpstr>Manrope ExtraBold</vt:lpstr>
      <vt:lpstr>Manrope Medium</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Talha</dc:creator>
  <cp:lastModifiedBy>Sebastian Sarmiento</cp:lastModifiedBy>
  <cp:revision>181</cp:revision>
  <dcterms:created xsi:type="dcterms:W3CDTF">2017-06-08T09:33:15Z</dcterms:created>
  <dcterms:modified xsi:type="dcterms:W3CDTF">2026-05-25T17:06:56Z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0x0101008E42E9C5B788134DBBAB2D2912618E73</vt:lpwstr>
  </property>
</Properties>
</file>